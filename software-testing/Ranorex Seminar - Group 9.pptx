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uli Bold" charset="1" panose="00000800000000000000"/>
      <p:regular r:id="rId17"/>
    </p:embeddedFont>
    <p:embeddedFont>
      <p:font typeface="Rokkitt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7932985" y="7783860"/>
            <a:ext cx="441424" cy="441424"/>
            <a:chOff x="0" y="0"/>
            <a:chExt cx="588565" cy="588565"/>
          </a:xfrm>
        </p:grpSpPr>
        <p:sp>
          <p:nvSpPr>
            <p:cNvPr name="Freeform 5" id="5"/>
            <p:cNvSpPr/>
            <p:nvPr/>
          </p:nvSpPr>
          <p:spPr>
            <a:xfrm flipH="false" flipV="false" rot="0">
              <a:off x="0" y="0"/>
              <a:ext cx="588518" cy="588518"/>
            </a:xfrm>
            <a:custGeom>
              <a:avLst/>
              <a:gdLst/>
              <a:ahLst/>
              <a:cxnLst/>
              <a:rect r="r" b="b" t="t" l="l"/>
              <a:pathLst>
                <a:path h="588518" w="588518">
                  <a:moveTo>
                    <a:pt x="0" y="294259"/>
                  </a:moveTo>
                  <a:cubicBezTo>
                    <a:pt x="0" y="131699"/>
                    <a:pt x="131699" y="0"/>
                    <a:pt x="294259" y="0"/>
                  </a:cubicBezTo>
                  <a:cubicBezTo>
                    <a:pt x="296164" y="0"/>
                    <a:pt x="298069" y="889"/>
                    <a:pt x="299212" y="2413"/>
                  </a:cubicBezTo>
                  <a:lnTo>
                    <a:pt x="294259" y="6350"/>
                  </a:lnTo>
                  <a:lnTo>
                    <a:pt x="294259" y="0"/>
                  </a:lnTo>
                  <a:lnTo>
                    <a:pt x="294259" y="6350"/>
                  </a:lnTo>
                  <a:lnTo>
                    <a:pt x="294259" y="0"/>
                  </a:lnTo>
                  <a:cubicBezTo>
                    <a:pt x="456819" y="0"/>
                    <a:pt x="588518" y="131699"/>
                    <a:pt x="588518" y="294259"/>
                  </a:cubicBezTo>
                  <a:cubicBezTo>
                    <a:pt x="588518" y="296672"/>
                    <a:pt x="587121" y="298831"/>
                    <a:pt x="584962" y="299974"/>
                  </a:cubicBezTo>
                  <a:lnTo>
                    <a:pt x="582168" y="294259"/>
                  </a:lnTo>
                  <a:lnTo>
                    <a:pt x="588518" y="294259"/>
                  </a:lnTo>
                  <a:cubicBezTo>
                    <a:pt x="588518" y="456819"/>
                    <a:pt x="456819" y="588518"/>
                    <a:pt x="294259" y="588518"/>
                  </a:cubicBezTo>
                  <a:lnTo>
                    <a:pt x="294259" y="582168"/>
                  </a:lnTo>
                  <a:lnTo>
                    <a:pt x="294259" y="575818"/>
                  </a:lnTo>
                  <a:lnTo>
                    <a:pt x="294259" y="582168"/>
                  </a:lnTo>
                  <a:lnTo>
                    <a:pt x="294259" y="588518"/>
                  </a:lnTo>
                  <a:cubicBezTo>
                    <a:pt x="131699" y="588518"/>
                    <a:pt x="0" y="456819"/>
                    <a:pt x="0" y="294259"/>
                  </a:cubicBezTo>
                  <a:lnTo>
                    <a:pt x="6350" y="294259"/>
                  </a:lnTo>
                  <a:lnTo>
                    <a:pt x="0" y="294259"/>
                  </a:lnTo>
                  <a:moveTo>
                    <a:pt x="12700" y="294259"/>
                  </a:moveTo>
                  <a:lnTo>
                    <a:pt x="6350" y="294259"/>
                  </a:lnTo>
                  <a:lnTo>
                    <a:pt x="12700" y="294259"/>
                  </a:lnTo>
                  <a:cubicBezTo>
                    <a:pt x="12700" y="449834"/>
                    <a:pt x="138811" y="575818"/>
                    <a:pt x="294259" y="575818"/>
                  </a:cubicBezTo>
                  <a:cubicBezTo>
                    <a:pt x="297815" y="575818"/>
                    <a:pt x="300609" y="578612"/>
                    <a:pt x="300609" y="582168"/>
                  </a:cubicBezTo>
                  <a:cubicBezTo>
                    <a:pt x="300609" y="585724"/>
                    <a:pt x="297815" y="588518"/>
                    <a:pt x="294259" y="588518"/>
                  </a:cubicBezTo>
                  <a:cubicBezTo>
                    <a:pt x="290703" y="588518"/>
                    <a:pt x="287909" y="585724"/>
                    <a:pt x="287909" y="582168"/>
                  </a:cubicBezTo>
                  <a:cubicBezTo>
                    <a:pt x="287909" y="578612"/>
                    <a:pt x="290703" y="575818"/>
                    <a:pt x="294259" y="575818"/>
                  </a:cubicBezTo>
                  <a:cubicBezTo>
                    <a:pt x="449834" y="575818"/>
                    <a:pt x="575818" y="449707"/>
                    <a:pt x="575818" y="294259"/>
                  </a:cubicBezTo>
                  <a:cubicBezTo>
                    <a:pt x="575818" y="291846"/>
                    <a:pt x="577215" y="289687"/>
                    <a:pt x="579374" y="288544"/>
                  </a:cubicBezTo>
                  <a:lnTo>
                    <a:pt x="582168" y="294259"/>
                  </a:lnTo>
                  <a:lnTo>
                    <a:pt x="575818" y="294259"/>
                  </a:lnTo>
                  <a:cubicBezTo>
                    <a:pt x="575818" y="138811"/>
                    <a:pt x="449834" y="12700"/>
                    <a:pt x="294259" y="12700"/>
                  </a:cubicBezTo>
                  <a:cubicBezTo>
                    <a:pt x="292354" y="12700"/>
                    <a:pt x="290449" y="11811"/>
                    <a:pt x="289306" y="10287"/>
                  </a:cubicBezTo>
                  <a:lnTo>
                    <a:pt x="294259" y="6350"/>
                  </a:lnTo>
                  <a:lnTo>
                    <a:pt x="294259" y="12700"/>
                  </a:lnTo>
                  <a:cubicBezTo>
                    <a:pt x="138811" y="12700"/>
                    <a:pt x="12700" y="138811"/>
                    <a:pt x="12700" y="294259"/>
                  </a:cubicBezTo>
                  <a:close/>
                </a:path>
              </a:pathLst>
            </a:custGeom>
            <a:solidFill>
              <a:srgbClr val="38383C"/>
            </a:solidFill>
          </p:spPr>
        </p:sp>
      </p:grpSp>
      <p:grpSp>
        <p:nvGrpSpPr>
          <p:cNvPr name="Group 6" id="6"/>
          <p:cNvGrpSpPr/>
          <p:nvPr/>
        </p:nvGrpSpPr>
        <p:grpSpPr>
          <a:xfrm rot="-1746560">
            <a:off x="1170142" y="4260145"/>
            <a:ext cx="21955462" cy="11382259"/>
            <a:chOff x="0" y="0"/>
            <a:chExt cx="5782509" cy="2997797"/>
          </a:xfrm>
        </p:grpSpPr>
        <p:sp>
          <p:nvSpPr>
            <p:cNvPr name="Freeform 7" id="7"/>
            <p:cNvSpPr/>
            <p:nvPr/>
          </p:nvSpPr>
          <p:spPr>
            <a:xfrm flipH="false" flipV="false" rot="0">
              <a:off x="0" y="0"/>
              <a:ext cx="5782509" cy="2997796"/>
            </a:xfrm>
            <a:custGeom>
              <a:avLst/>
              <a:gdLst/>
              <a:ahLst/>
              <a:cxnLst/>
              <a:rect r="r" b="b" t="t" l="l"/>
              <a:pathLst>
                <a:path h="2997796" w="5782509">
                  <a:moveTo>
                    <a:pt x="0" y="0"/>
                  </a:moveTo>
                  <a:lnTo>
                    <a:pt x="5782509" y="0"/>
                  </a:lnTo>
                  <a:lnTo>
                    <a:pt x="5782509" y="2997796"/>
                  </a:lnTo>
                  <a:lnTo>
                    <a:pt x="0" y="2997796"/>
                  </a:lnTo>
                  <a:close/>
                </a:path>
              </a:pathLst>
            </a:custGeom>
            <a:solidFill>
              <a:srgbClr val="011227">
                <a:alpha val="60784"/>
              </a:srgbClr>
            </a:solidFill>
          </p:spPr>
        </p:sp>
        <p:sp>
          <p:nvSpPr>
            <p:cNvPr name="TextBox 8" id="8"/>
            <p:cNvSpPr txBox="true"/>
            <p:nvPr/>
          </p:nvSpPr>
          <p:spPr>
            <a:xfrm>
              <a:off x="0" y="-9525"/>
              <a:ext cx="5782509" cy="3007322"/>
            </a:xfrm>
            <a:prstGeom prst="rect">
              <a:avLst/>
            </a:prstGeom>
          </p:spPr>
          <p:txBody>
            <a:bodyPr anchor="ctr" rtlCol="false" tIns="50800" lIns="50800" bIns="50800" rIns="50800"/>
            <a:lstStyle/>
            <a:p>
              <a:pPr algn="ctr">
                <a:lnSpc>
                  <a:spcPts val="2312"/>
                </a:lnSpc>
              </a:pPr>
            </a:p>
          </p:txBody>
        </p:sp>
      </p:grpSp>
      <p:sp>
        <p:nvSpPr>
          <p:cNvPr name="TextBox 9" id="9"/>
          <p:cNvSpPr txBox="true"/>
          <p:nvPr/>
        </p:nvSpPr>
        <p:spPr>
          <a:xfrm rot="0">
            <a:off x="7735287" y="337676"/>
            <a:ext cx="7574482" cy="3536575"/>
          </a:xfrm>
          <a:prstGeom prst="rect">
            <a:avLst/>
          </a:prstGeom>
        </p:spPr>
        <p:txBody>
          <a:bodyPr anchor="t" rtlCol="false" tIns="0" lIns="0" bIns="0" rIns="0">
            <a:spAutoFit/>
          </a:bodyPr>
          <a:lstStyle/>
          <a:p>
            <a:pPr algn="l" marL="0" indent="0" lvl="0">
              <a:lnSpc>
                <a:spcPts val="9352"/>
              </a:lnSpc>
              <a:spcBef>
                <a:spcPct val="0"/>
              </a:spcBef>
            </a:pPr>
            <a:r>
              <a:rPr lang="en-US" b="true" sz="7499" spc="944" strike="noStrike" u="none">
                <a:solidFill>
                  <a:srgbClr val="F5F0F0"/>
                </a:solidFill>
                <a:latin typeface="Muli Bold"/>
                <a:ea typeface="Muli Bold"/>
                <a:cs typeface="Muli Bold"/>
                <a:sym typeface="Muli Bold"/>
              </a:rPr>
              <a:t>Ranorex Testing Tool Seminar</a:t>
            </a:r>
          </a:p>
        </p:txBody>
      </p:sp>
      <p:sp>
        <p:nvSpPr>
          <p:cNvPr name="TextBox 10" id="10"/>
          <p:cNvSpPr txBox="true"/>
          <p:nvPr/>
        </p:nvSpPr>
        <p:spPr>
          <a:xfrm rot="0">
            <a:off x="7735287" y="5868620"/>
            <a:ext cx="9924952" cy="2135951"/>
          </a:xfrm>
          <a:prstGeom prst="rect">
            <a:avLst/>
          </a:prstGeom>
        </p:spPr>
        <p:txBody>
          <a:bodyPr anchor="t" rtlCol="false" tIns="0" lIns="0" bIns="0" rIns="0">
            <a:spAutoFit/>
          </a:bodyPr>
          <a:lstStyle/>
          <a:p>
            <a:pPr algn="l">
              <a:lnSpc>
                <a:spcPts val="5756"/>
              </a:lnSpc>
            </a:pPr>
            <a:r>
              <a:rPr lang="en-US" b="true" sz="3624" spc="246">
                <a:solidFill>
                  <a:srgbClr val="E2E6E9"/>
                </a:solidFill>
                <a:latin typeface="Rokkitt Bold"/>
                <a:ea typeface="Rokkitt Bold"/>
                <a:cs typeface="Rokkitt Bold"/>
                <a:sym typeface="Rokkitt Bold"/>
              </a:rPr>
              <a:t>SE194279 - Vo Minh Toan</a:t>
            </a:r>
          </a:p>
          <a:p>
            <a:pPr algn="l">
              <a:lnSpc>
                <a:spcPts val="5756"/>
              </a:lnSpc>
            </a:pPr>
            <a:r>
              <a:rPr lang="en-US" b="true" sz="3624" spc="246">
                <a:solidFill>
                  <a:srgbClr val="E2E6E9"/>
                </a:solidFill>
                <a:latin typeface="Rokkitt Bold"/>
                <a:ea typeface="Rokkitt Bold"/>
                <a:cs typeface="Rokkitt Bold"/>
                <a:sym typeface="Rokkitt Bold"/>
              </a:rPr>
              <a:t>SE171988 - Phan Ba Tien</a:t>
            </a:r>
          </a:p>
          <a:p>
            <a:pPr algn="l">
              <a:lnSpc>
                <a:spcPts val="5756"/>
              </a:lnSpc>
            </a:pPr>
            <a:r>
              <a:rPr lang="en-US" b="true" sz="3624" spc="246">
                <a:solidFill>
                  <a:srgbClr val="E2E6E9"/>
                </a:solidFill>
                <a:latin typeface="Rokkitt Bold"/>
                <a:ea typeface="Rokkitt Bold"/>
                <a:cs typeface="Rokkitt Bold"/>
                <a:sym typeface="Rokkitt Bold"/>
              </a:rPr>
              <a:t>SE171742 - Nguyen Tang Minh Thong</a:t>
            </a:r>
          </a:p>
        </p:txBody>
      </p:sp>
      <p:sp>
        <p:nvSpPr>
          <p:cNvPr name="TextBox 11" id="11"/>
          <p:cNvSpPr txBox="true"/>
          <p:nvPr/>
        </p:nvSpPr>
        <p:spPr>
          <a:xfrm rot="0">
            <a:off x="7735287" y="4378601"/>
            <a:ext cx="8242202" cy="1109494"/>
          </a:xfrm>
          <a:prstGeom prst="rect">
            <a:avLst/>
          </a:prstGeom>
        </p:spPr>
        <p:txBody>
          <a:bodyPr anchor="t" rtlCol="false" tIns="0" lIns="0" bIns="0" rIns="0">
            <a:spAutoFit/>
          </a:bodyPr>
          <a:lstStyle/>
          <a:p>
            <a:pPr algn="l">
              <a:lnSpc>
                <a:spcPts val="8978"/>
              </a:lnSpc>
            </a:pPr>
            <a:r>
              <a:rPr lang="en-US" sz="7200">
                <a:solidFill>
                  <a:srgbClr val="F5F0F0"/>
                </a:solidFill>
                <a:latin typeface="Muli Bold"/>
                <a:ea typeface="Muli Bold"/>
                <a:cs typeface="Muli Bold"/>
                <a:sym typeface="Muli Bold"/>
              </a:rPr>
              <a:t>Group 9 - SE1834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90196"/>
              </a:srgbClr>
            </a:solidFill>
          </p:spPr>
        </p:sp>
      </p:grpSp>
      <p:grpSp>
        <p:nvGrpSpPr>
          <p:cNvPr name="Group 6" id="6"/>
          <p:cNvGrpSpPr>
            <a:grpSpLocks noChangeAspect="true"/>
          </p:cNvGrpSpPr>
          <p:nvPr/>
        </p:nvGrpSpPr>
        <p:grpSpPr>
          <a:xfrm rot="0">
            <a:off x="0" y="0"/>
            <a:ext cx="6858000" cy="10288786"/>
            <a:chOff x="0" y="0"/>
            <a:chExt cx="9144000" cy="13718382"/>
          </a:xfrm>
        </p:grpSpPr>
        <p:sp>
          <p:nvSpPr>
            <p:cNvPr name="Freeform 7" id="7" descr="preencoded.png"/>
            <p:cNvSpPr/>
            <p:nvPr/>
          </p:nvSpPr>
          <p:spPr>
            <a:xfrm flipH="false" flipV="false" rot="0">
              <a:off x="0" y="0"/>
              <a:ext cx="9144000" cy="13718412"/>
            </a:xfrm>
            <a:custGeom>
              <a:avLst/>
              <a:gdLst/>
              <a:ahLst/>
              <a:cxnLst/>
              <a:rect r="r" b="b" t="t" l="l"/>
              <a:pathLst>
                <a:path h="13718412" w="9144000">
                  <a:moveTo>
                    <a:pt x="0" y="0"/>
                  </a:moveTo>
                  <a:lnTo>
                    <a:pt x="9144000" y="0"/>
                  </a:lnTo>
                  <a:lnTo>
                    <a:pt x="9144000" y="13718412"/>
                  </a:lnTo>
                  <a:lnTo>
                    <a:pt x="0" y="13718412"/>
                  </a:lnTo>
                  <a:lnTo>
                    <a:pt x="0" y="0"/>
                  </a:lnTo>
                  <a:close/>
                </a:path>
              </a:pathLst>
            </a:custGeom>
            <a:blipFill>
              <a:blip r:embed="rId4"/>
              <a:stretch>
                <a:fillRect l="-8" t="0" r="-8" b="0"/>
              </a:stretch>
            </a:blipFill>
          </p:spPr>
        </p:sp>
      </p:grpSp>
      <p:sp>
        <p:nvSpPr>
          <p:cNvPr name="TextBox 8" id="8"/>
          <p:cNvSpPr txBox="true"/>
          <p:nvPr/>
        </p:nvSpPr>
        <p:spPr>
          <a:xfrm rot="0">
            <a:off x="7557753" y="238585"/>
            <a:ext cx="8814048" cy="574675"/>
          </a:xfrm>
          <a:prstGeom prst="rect">
            <a:avLst/>
          </a:prstGeom>
        </p:spPr>
        <p:txBody>
          <a:bodyPr anchor="t" rtlCol="false" tIns="0" lIns="0" bIns="0" rIns="0">
            <a:spAutoFit/>
          </a:bodyPr>
          <a:lstStyle/>
          <a:p>
            <a:pPr algn="l">
              <a:lnSpc>
                <a:spcPts val="4625"/>
              </a:lnSpc>
            </a:pPr>
            <a:r>
              <a:rPr lang="en-US" sz="3687">
                <a:solidFill>
                  <a:srgbClr val="F5F0F0"/>
                </a:solidFill>
                <a:latin typeface="Muli Bold"/>
                <a:ea typeface="Muli Bold"/>
                <a:cs typeface="Muli Bold"/>
                <a:sym typeface="Muli Bold"/>
              </a:rPr>
              <a:t>Ranorex: Key Features and Capabilities</a:t>
            </a:r>
          </a:p>
        </p:txBody>
      </p:sp>
      <p:grpSp>
        <p:nvGrpSpPr>
          <p:cNvPr name="Group 9" id="9"/>
          <p:cNvGrpSpPr>
            <a:grpSpLocks noChangeAspect="true"/>
          </p:cNvGrpSpPr>
          <p:nvPr/>
        </p:nvGrpSpPr>
        <p:grpSpPr>
          <a:xfrm rot="0">
            <a:off x="7557753" y="1137506"/>
            <a:ext cx="475655" cy="475655"/>
            <a:chOff x="0" y="0"/>
            <a:chExt cx="634207" cy="634207"/>
          </a:xfrm>
        </p:grpSpPr>
        <p:sp>
          <p:nvSpPr>
            <p:cNvPr name="Freeform 10" id="10" descr="preencoded.png"/>
            <p:cNvSpPr/>
            <p:nvPr/>
          </p:nvSpPr>
          <p:spPr>
            <a:xfrm flipH="false" flipV="false" rot="0">
              <a:off x="0" y="0"/>
              <a:ext cx="634238" cy="634238"/>
            </a:xfrm>
            <a:custGeom>
              <a:avLst/>
              <a:gdLst/>
              <a:ahLst/>
              <a:cxnLst/>
              <a:rect r="r" b="b" t="t" l="l"/>
              <a:pathLst>
                <a:path h="634238" w="634238">
                  <a:moveTo>
                    <a:pt x="0" y="0"/>
                  </a:moveTo>
                  <a:lnTo>
                    <a:pt x="634238" y="0"/>
                  </a:lnTo>
                  <a:lnTo>
                    <a:pt x="634238" y="634238"/>
                  </a:lnTo>
                  <a:lnTo>
                    <a:pt x="0" y="634238"/>
                  </a:lnTo>
                  <a:lnTo>
                    <a:pt x="0" y="0"/>
                  </a:lnTo>
                  <a:close/>
                </a:path>
              </a:pathLst>
            </a:custGeom>
            <a:blipFill>
              <a:blip r:embed="rId5"/>
              <a:stretch>
                <a:fillRect l="0" t="0" r="4" b="4"/>
              </a:stretch>
            </a:blipFill>
          </p:spPr>
        </p:sp>
      </p:grpSp>
      <p:sp>
        <p:nvSpPr>
          <p:cNvPr name="TextBox 11" id="11"/>
          <p:cNvSpPr txBox="true"/>
          <p:nvPr/>
        </p:nvSpPr>
        <p:spPr>
          <a:xfrm rot="0">
            <a:off x="7557753" y="1831939"/>
            <a:ext cx="3838268" cy="350159"/>
          </a:xfrm>
          <a:prstGeom prst="rect">
            <a:avLst/>
          </a:prstGeom>
        </p:spPr>
        <p:txBody>
          <a:bodyPr anchor="t" rtlCol="false" tIns="0" lIns="0" bIns="0" rIns="0">
            <a:spAutoFit/>
          </a:bodyPr>
          <a:lstStyle/>
          <a:p>
            <a:pPr algn="l">
              <a:lnSpc>
                <a:spcPts val="2822"/>
              </a:lnSpc>
            </a:pPr>
            <a:r>
              <a:rPr lang="en-US" sz="2212">
                <a:solidFill>
                  <a:srgbClr val="E2E6E9"/>
                </a:solidFill>
                <a:latin typeface="Muli Bold"/>
                <a:ea typeface="Muli Bold"/>
                <a:cs typeface="Muli Bold"/>
                <a:sym typeface="Muli Bold"/>
              </a:rPr>
              <a:t>Cross-Platform Support</a:t>
            </a:r>
          </a:p>
        </p:txBody>
      </p:sp>
      <p:sp>
        <p:nvSpPr>
          <p:cNvPr name="TextBox 12" id="12"/>
          <p:cNvSpPr txBox="true"/>
          <p:nvPr/>
        </p:nvSpPr>
        <p:spPr>
          <a:xfrm rot="0">
            <a:off x="7557753" y="2176625"/>
            <a:ext cx="10398623" cy="806920"/>
          </a:xfrm>
          <a:prstGeom prst="rect">
            <a:avLst/>
          </a:prstGeom>
        </p:spPr>
        <p:txBody>
          <a:bodyPr anchor="t" rtlCol="false" tIns="0" lIns="0" bIns="0" rIns="0">
            <a:spAutoFit/>
          </a:bodyPr>
          <a:lstStyle/>
          <a:p>
            <a:pPr algn="l">
              <a:lnSpc>
                <a:spcPts val="3366"/>
              </a:lnSpc>
            </a:pPr>
            <a:r>
              <a:rPr lang="en-US" sz="2037">
                <a:solidFill>
                  <a:srgbClr val="E2E6E9"/>
                </a:solidFill>
                <a:latin typeface="Muli Bold"/>
                <a:ea typeface="Muli Bold"/>
                <a:cs typeface="Muli Bold"/>
                <a:sym typeface="Muli Bold"/>
              </a:rPr>
              <a:t>Test Windows, web (cross-browser), and mobile (Android, iOS) applications with a single license. Integrates with Selenium WebDriver for extended web testing.</a:t>
            </a:r>
          </a:p>
        </p:txBody>
      </p:sp>
      <p:grpSp>
        <p:nvGrpSpPr>
          <p:cNvPr name="Group 13" id="13"/>
          <p:cNvGrpSpPr>
            <a:grpSpLocks noChangeAspect="true"/>
          </p:cNvGrpSpPr>
          <p:nvPr/>
        </p:nvGrpSpPr>
        <p:grpSpPr>
          <a:xfrm rot="0">
            <a:off x="7557753" y="3347009"/>
            <a:ext cx="475655" cy="475655"/>
            <a:chOff x="0" y="0"/>
            <a:chExt cx="634207" cy="634207"/>
          </a:xfrm>
        </p:grpSpPr>
        <p:sp>
          <p:nvSpPr>
            <p:cNvPr name="Freeform 14" id="14" descr="preencoded.png"/>
            <p:cNvSpPr/>
            <p:nvPr/>
          </p:nvSpPr>
          <p:spPr>
            <a:xfrm flipH="false" flipV="false" rot="0">
              <a:off x="0" y="0"/>
              <a:ext cx="634238" cy="634238"/>
            </a:xfrm>
            <a:custGeom>
              <a:avLst/>
              <a:gdLst/>
              <a:ahLst/>
              <a:cxnLst/>
              <a:rect r="r" b="b" t="t" l="l"/>
              <a:pathLst>
                <a:path h="634238" w="634238">
                  <a:moveTo>
                    <a:pt x="0" y="0"/>
                  </a:moveTo>
                  <a:lnTo>
                    <a:pt x="634238" y="0"/>
                  </a:lnTo>
                  <a:lnTo>
                    <a:pt x="634238" y="634238"/>
                  </a:lnTo>
                  <a:lnTo>
                    <a:pt x="0" y="634238"/>
                  </a:lnTo>
                  <a:lnTo>
                    <a:pt x="0" y="0"/>
                  </a:lnTo>
                  <a:close/>
                </a:path>
              </a:pathLst>
            </a:custGeom>
            <a:blipFill>
              <a:blip r:embed="rId6"/>
              <a:stretch>
                <a:fillRect l="0" t="0" r="4" b="4"/>
              </a:stretch>
            </a:blipFill>
          </p:spPr>
        </p:sp>
      </p:grpSp>
      <p:sp>
        <p:nvSpPr>
          <p:cNvPr name="TextBox 15" id="15"/>
          <p:cNvSpPr txBox="true"/>
          <p:nvPr/>
        </p:nvSpPr>
        <p:spPr>
          <a:xfrm rot="0">
            <a:off x="7557753" y="4041441"/>
            <a:ext cx="3593718" cy="350159"/>
          </a:xfrm>
          <a:prstGeom prst="rect">
            <a:avLst/>
          </a:prstGeom>
        </p:spPr>
        <p:txBody>
          <a:bodyPr anchor="t" rtlCol="false" tIns="0" lIns="0" bIns="0" rIns="0">
            <a:spAutoFit/>
          </a:bodyPr>
          <a:lstStyle/>
          <a:p>
            <a:pPr algn="l">
              <a:lnSpc>
                <a:spcPts val="2822"/>
              </a:lnSpc>
            </a:pPr>
            <a:r>
              <a:rPr lang="en-US" sz="2212">
                <a:solidFill>
                  <a:srgbClr val="E2E6E9"/>
                </a:solidFill>
                <a:latin typeface="Muli Bold"/>
                <a:ea typeface="Muli Bold"/>
                <a:cs typeface="Muli Bold"/>
                <a:sym typeface="Muli Bold"/>
              </a:rPr>
              <a:t>Record and Playback</a:t>
            </a:r>
          </a:p>
        </p:txBody>
      </p:sp>
      <p:sp>
        <p:nvSpPr>
          <p:cNvPr name="TextBox 16" id="16"/>
          <p:cNvSpPr txBox="true"/>
          <p:nvPr/>
        </p:nvSpPr>
        <p:spPr>
          <a:xfrm rot="0">
            <a:off x="7557753" y="4386127"/>
            <a:ext cx="10398623" cy="1226020"/>
          </a:xfrm>
          <a:prstGeom prst="rect">
            <a:avLst/>
          </a:prstGeom>
        </p:spPr>
        <p:txBody>
          <a:bodyPr anchor="t" rtlCol="false" tIns="0" lIns="0" bIns="0" rIns="0">
            <a:spAutoFit/>
          </a:bodyPr>
          <a:lstStyle/>
          <a:p>
            <a:pPr algn="l">
              <a:lnSpc>
                <a:spcPts val="3366"/>
              </a:lnSpc>
            </a:pPr>
            <a:r>
              <a:rPr lang="en-US" sz="2037">
                <a:solidFill>
                  <a:srgbClr val="E2E6E9"/>
                </a:solidFill>
                <a:latin typeface="Muli Bold"/>
                <a:ea typeface="Muli Bold"/>
                <a:cs typeface="Muli Bold"/>
                <a:sym typeface="Muli Bold"/>
              </a:rPr>
              <a:t>Capture user actions to generate test steps automatically. Edit scripts visually or convert to C# code for fine-tuning, supporting both record/playback and manual scripting.</a:t>
            </a:r>
          </a:p>
        </p:txBody>
      </p:sp>
      <p:grpSp>
        <p:nvGrpSpPr>
          <p:cNvPr name="Group 17" id="17"/>
          <p:cNvGrpSpPr>
            <a:grpSpLocks noChangeAspect="true"/>
          </p:cNvGrpSpPr>
          <p:nvPr/>
        </p:nvGrpSpPr>
        <p:grpSpPr>
          <a:xfrm rot="0">
            <a:off x="7557753" y="5703243"/>
            <a:ext cx="475655" cy="475655"/>
            <a:chOff x="0" y="0"/>
            <a:chExt cx="634207" cy="634207"/>
          </a:xfrm>
        </p:grpSpPr>
        <p:sp>
          <p:nvSpPr>
            <p:cNvPr name="Freeform 18" id="18" descr="preencoded.png"/>
            <p:cNvSpPr/>
            <p:nvPr/>
          </p:nvSpPr>
          <p:spPr>
            <a:xfrm flipH="false" flipV="false" rot="0">
              <a:off x="0" y="0"/>
              <a:ext cx="634238" cy="634238"/>
            </a:xfrm>
            <a:custGeom>
              <a:avLst/>
              <a:gdLst/>
              <a:ahLst/>
              <a:cxnLst/>
              <a:rect r="r" b="b" t="t" l="l"/>
              <a:pathLst>
                <a:path h="634238" w="634238">
                  <a:moveTo>
                    <a:pt x="0" y="0"/>
                  </a:moveTo>
                  <a:lnTo>
                    <a:pt x="634238" y="0"/>
                  </a:lnTo>
                  <a:lnTo>
                    <a:pt x="634238" y="634238"/>
                  </a:lnTo>
                  <a:lnTo>
                    <a:pt x="0" y="634238"/>
                  </a:lnTo>
                  <a:lnTo>
                    <a:pt x="0" y="0"/>
                  </a:lnTo>
                  <a:close/>
                </a:path>
              </a:pathLst>
            </a:custGeom>
            <a:blipFill>
              <a:blip r:embed="rId7"/>
              <a:stretch>
                <a:fillRect l="0" t="0" r="4" b="4"/>
              </a:stretch>
            </a:blipFill>
          </p:spPr>
        </p:sp>
      </p:grpSp>
      <p:sp>
        <p:nvSpPr>
          <p:cNvPr name="TextBox 19" id="19"/>
          <p:cNvSpPr txBox="true"/>
          <p:nvPr/>
        </p:nvSpPr>
        <p:spPr>
          <a:xfrm rot="0">
            <a:off x="7557753" y="6250944"/>
            <a:ext cx="3593718" cy="350159"/>
          </a:xfrm>
          <a:prstGeom prst="rect">
            <a:avLst/>
          </a:prstGeom>
        </p:spPr>
        <p:txBody>
          <a:bodyPr anchor="t" rtlCol="false" tIns="0" lIns="0" bIns="0" rIns="0">
            <a:spAutoFit/>
          </a:bodyPr>
          <a:lstStyle/>
          <a:p>
            <a:pPr algn="l">
              <a:lnSpc>
                <a:spcPts val="2822"/>
              </a:lnSpc>
            </a:pPr>
            <a:r>
              <a:rPr lang="en-US" sz="2212">
                <a:solidFill>
                  <a:srgbClr val="E2E6E9"/>
                </a:solidFill>
                <a:latin typeface="Muli Bold"/>
                <a:ea typeface="Muli Bold"/>
                <a:cs typeface="Muli Bold"/>
                <a:sym typeface="Muli Bold"/>
              </a:rPr>
              <a:t>GUI Object Recognition</a:t>
            </a:r>
          </a:p>
        </p:txBody>
      </p:sp>
      <p:sp>
        <p:nvSpPr>
          <p:cNvPr name="TextBox 20" id="20"/>
          <p:cNvSpPr txBox="true"/>
          <p:nvPr/>
        </p:nvSpPr>
        <p:spPr>
          <a:xfrm rot="0">
            <a:off x="7557753" y="6595629"/>
            <a:ext cx="10398623" cy="1226020"/>
          </a:xfrm>
          <a:prstGeom prst="rect">
            <a:avLst/>
          </a:prstGeom>
        </p:spPr>
        <p:txBody>
          <a:bodyPr anchor="t" rtlCol="false" tIns="0" lIns="0" bIns="0" rIns="0">
            <a:spAutoFit/>
          </a:bodyPr>
          <a:lstStyle/>
          <a:p>
            <a:pPr algn="l">
              <a:lnSpc>
                <a:spcPts val="3366"/>
              </a:lnSpc>
            </a:pPr>
            <a:r>
              <a:rPr lang="en-US" sz="2037">
                <a:solidFill>
                  <a:srgbClr val="E2E6E9"/>
                </a:solidFill>
                <a:latin typeface="Muli Bold"/>
                <a:ea typeface="Muli Bold"/>
                <a:cs typeface="Muli Bold"/>
                <a:sym typeface="Muli Bold"/>
              </a:rPr>
              <a:t>Intelligent engine (Ranorex XPath) identifies UI elements even with dynamic changes. Ranorex Spy helps view UI object trees and attributes, ensuring stable and precise identification.</a:t>
            </a:r>
          </a:p>
        </p:txBody>
      </p:sp>
      <p:grpSp>
        <p:nvGrpSpPr>
          <p:cNvPr name="Group 21" id="21"/>
          <p:cNvGrpSpPr>
            <a:grpSpLocks noChangeAspect="true"/>
          </p:cNvGrpSpPr>
          <p:nvPr/>
        </p:nvGrpSpPr>
        <p:grpSpPr>
          <a:xfrm rot="0">
            <a:off x="7557753" y="7897849"/>
            <a:ext cx="475655" cy="475655"/>
            <a:chOff x="0" y="0"/>
            <a:chExt cx="634207" cy="634207"/>
          </a:xfrm>
        </p:grpSpPr>
        <p:sp>
          <p:nvSpPr>
            <p:cNvPr name="Freeform 22" id="22" descr="preencoded.png"/>
            <p:cNvSpPr/>
            <p:nvPr/>
          </p:nvSpPr>
          <p:spPr>
            <a:xfrm flipH="false" flipV="false" rot="0">
              <a:off x="0" y="0"/>
              <a:ext cx="634238" cy="634238"/>
            </a:xfrm>
            <a:custGeom>
              <a:avLst/>
              <a:gdLst/>
              <a:ahLst/>
              <a:cxnLst/>
              <a:rect r="r" b="b" t="t" l="l"/>
              <a:pathLst>
                <a:path h="634238" w="634238">
                  <a:moveTo>
                    <a:pt x="0" y="0"/>
                  </a:moveTo>
                  <a:lnTo>
                    <a:pt x="634238" y="0"/>
                  </a:lnTo>
                  <a:lnTo>
                    <a:pt x="634238" y="634238"/>
                  </a:lnTo>
                  <a:lnTo>
                    <a:pt x="0" y="634238"/>
                  </a:lnTo>
                  <a:lnTo>
                    <a:pt x="0" y="0"/>
                  </a:lnTo>
                  <a:close/>
                </a:path>
              </a:pathLst>
            </a:custGeom>
            <a:blipFill>
              <a:blip r:embed="rId8"/>
              <a:stretch>
                <a:fillRect l="0" t="0" r="4" b="4"/>
              </a:stretch>
            </a:blipFill>
          </p:spPr>
        </p:sp>
      </p:grpSp>
      <p:sp>
        <p:nvSpPr>
          <p:cNvPr name="TextBox 23" id="23"/>
          <p:cNvSpPr txBox="true"/>
          <p:nvPr/>
        </p:nvSpPr>
        <p:spPr>
          <a:xfrm rot="0">
            <a:off x="7557753" y="8460446"/>
            <a:ext cx="3838268" cy="350159"/>
          </a:xfrm>
          <a:prstGeom prst="rect">
            <a:avLst/>
          </a:prstGeom>
        </p:spPr>
        <p:txBody>
          <a:bodyPr anchor="t" rtlCol="false" tIns="0" lIns="0" bIns="0" rIns="0">
            <a:spAutoFit/>
          </a:bodyPr>
          <a:lstStyle/>
          <a:p>
            <a:pPr algn="l">
              <a:lnSpc>
                <a:spcPts val="2822"/>
              </a:lnSpc>
            </a:pPr>
            <a:r>
              <a:rPr lang="en-US" sz="2212">
                <a:solidFill>
                  <a:srgbClr val="E2E6E9"/>
                </a:solidFill>
                <a:latin typeface="Muli Bold"/>
                <a:ea typeface="Muli Bold"/>
                <a:cs typeface="Muli Bold"/>
                <a:sym typeface="Muli Bold"/>
              </a:rPr>
              <a:t>Detailed Test Reporting</a:t>
            </a:r>
          </a:p>
        </p:txBody>
      </p:sp>
      <p:sp>
        <p:nvSpPr>
          <p:cNvPr name="TextBox 24" id="24"/>
          <p:cNvSpPr txBox="true"/>
          <p:nvPr/>
        </p:nvSpPr>
        <p:spPr>
          <a:xfrm rot="0">
            <a:off x="7557753" y="8805131"/>
            <a:ext cx="10398623" cy="1226020"/>
          </a:xfrm>
          <a:prstGeom prst="rect">
            <a:avLst/>
          </a:prstGeom>
        </p:spPr>
        <p:txBody>
          <a:bodyPr anchor="t" rtlCol="false" tIns="0" lIns="0" bIns="0" rIns="0">
            <a:spAutoFit/>
          </a:bodyPr>
          <a:lstStyle/>
          <a:p>
            <a:pPr algn="l">
              <a:lnSpc>
                <a:spcPts val="3366"/>
              </a:lnSpc>
            </a:pPr>
            <a:r>
              <a:rPr lang="en-US" sz="2037">
                <a:solidFill>
                  <a:srgbClr val="E2E6E9"/>
                </a:solidFill>
                <a:latin typeface="Muli Bold"/>
                <a:ea typeface="Muli Bold"/>
                <a:cs typeface="Muli Bold"/>
                <a:sym typeface="Muli Bold"/>
              </a:rPr>
              <a:t>Automatic HTML/PDF/JUnit XML reports with pass/fail results, screenshots, and session videos for debugging. Integrates with Jira and TestRail for seamless defect management.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905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90196"/>
              </a:srgbClr>
            </a:solidFill>
          </p:spPr>
        </p:sp>
      </p:grpSp>
      <p:sp>
        <p:nvSpPr>
          <p:cNvPr name="TextBox 6" id="6"/>
          <p:cNvSpPr txBox="true"/>
          <p:nvPr/>
        </p:nvSpPr>
        <p:spPr>
          <a:xfrm rot="0">
            <a:off x="1028700" y="879921"/>
            <a:ext cx="12443520" cy="1663700"/>
          </a:xfrm>
          <a:prstGeom prst="rect">
            <a:avLst/>
          </a:prstGeom>
        </p:spPr>
        <p:txBody>
          <a:bodyPr anchor="t" rtlCol="false" tIns="0" lIns="0" bIns="0" rIns="0">
            <a:spAutoFit/>
          </a:bodyPr>
          <a:lstStyle/>
          <a:p>
            <a:pPr algn="l">
              <a:lnSpc>
                <a:spcPts val="6625"/>
              </a:lnSpc>
            </a:pPr>
            <a:r>
              <a:rPr lang="en-US" sz="5312">
                <a:solidFill>
                  <a:srgbClr val="F5F0F0"/>
                </a:solidFill>
                <a:latin typeface="Muli Bold"/>
                <a:ea typeface="Muli Bold"/>
                <a:cs typeface="Muli Bold"/>
                <a:sym typeface="Muli Bold"/>
              </a:rPr>
              <a:t>Web Application Testing with Ranorex</a:t>
            </a:r>
          </a:p>
        </p:txBody>
      </p:sp>
      <p:sp>
        <p:nvSpPr>
          <p:cNvPr name="TextBox 7" id="7"/>
          <p:cNvSpPr txBox="true"/>
          <p:nvPr/>
        </p:nvSpPr>
        <p:spPr>
          <a:xfrm rot="0">
            <a:off x="1079747" y="2641252"/>
            <a:ext cx="7734895" cy="2066925"/>
          </a:xfrm>
          <a:prstGeom prst="rect">
            <a:avLst/>
          </a:prstGeom>
        </p:spPr>
        <p:txBody>
          <a:bodyPr anchor="t" rtlCol="false" tIns="0" lIns="0" bIns="0" rIns="0">
            <a:spAutoFit/>
          </a:bodyPr>
          <a:lstStyle/>
          <a:p>
            <a:pPr algn="l">
              <a:lnSpc>
                <a:spcPts val="3374"/>
              </a:lnSpc>
            </a:pPr>
            <a:r>
              <a:rPr lang="en-US" sz="2125">
                <a:solidFill>
                  <a:srgbClr val="E2E6E9"/>
                </a:solidFill>
                <a:latin typeface="Muli Bold"/>
                <a:ea typeface="Muli Bold"/>
                <a:cs typeface="Muli Bold"/>
                <a:sym typeface="Muli Bold"/>
              </a:rPr>
              <a:t>Ranorex Studio supports automated web testing across popular browsers like Chrome, Firefox, and Edge. Browser plugins enable seamless detection and interaction with page DOM, making web test creation similar to desktop applications.</a:t>
            </a:r>
          </a:p>
        </p:txBody>
      </p:sp>
      <p:sp>
        <p:nvSpPr>
          <p:cNvPr name="TextBox 8" id="8"/>
          <p:cNvSpPr txBox="true"/>
          <p:nvPr/>
        </p:nvSpPr>
        <p:spPr>
          <a:xfrm rot="0">
            <a:off x="1079747" y="5043636"/>
            <a:ext cx="7734895" cy="2066925"/>
          </a:xfrm>
          <a:prstGeom prst="rect">
            <a:avLst/>
          </a:prstGeom>
        </p:spPr>
        <p:txBody>
          <a:bodyPr anchor="t" rtlCol="false" tIns="0" lIns="0" bIns="0" rIns="0">
            <a:spAutoFit/>
          </a:bodyPr>
          <a:lstStyle/>
          <a:p>
            <a:pPr algn="l">
              <a:lnSpc>
                <a:spcPts val="3374"/>
              </a:lnSpc>
            </a:pPr>
            <a:r>
              <a:rPr lang="en-US" sz="2125">
                <a:solidFill>
                  <a:srgbClr val="E2E6E9"/>
                </a:solidFill>
                <a:latin typeface="Muli Bold"/>
                <a:ea typeface="Muli Bold"/>
                <a:cs typeface="Muli Bold"/>
                <a:sym typeface="Muli Bold"/>
              </a:rPr>
              <a:t>The process involves launching the browser via Ranorex, interacting with the web page using the Ranorex Recorder, and replaying scripts across different browsers. Ranorex also integrates with Selenium WebDriver for extended environments.</a:t>
            </a:r>
          </a:p>
        </p:txBody>
      </p:sp>
      <p:sp>
        <p:nvSpPr>
          <p:cNvPr name="TextBox 9" id="9"/>
          <p:cNvSpPr txBox="true"/>
          <p:nvPr/>
        </p:nvSpPr>
        <p:spPr>
          <a:xfrm rot="0">
            <a:off x="1079747" y="7446020"/>
            <a:ext cx="7734895" cy="1228725"/>
          </a:xfrm>
          <a:prstGeom prst="rect">
            <a:avLst/>
          </a:prstGeom>
        </p:spPr>
        <p:txBody>
          <a:bodyPr anchor="t" rtlCol="false" tIns="0" lIns="0" bIns="0" rIns="0">
            <a:spAutoFit/>
          </a:bodyPr>
          <a:lstStyle/>
          <a:p>
            <a:pPr algn="l">
              <a:lnSpc>
                <a:spcPts val="3374"/>
              </a:lnSpc>
            </a:pPr>
            <a:r>
              <a:rPr lang="en-US" sz="2125">
                <a:solidFill>
                  <a:srgbClr val="E2E6E9"/>
                </a:solidFill>
                <a:latin typeface="Muli Bold"/>
                <a:ea typeface="Muli Bold"/>
                <a:cs typeface="Muli Bold"/>
                <a:sym typeface="Muli Bold"/>
              </a:rPr>
              <a:t>Ranorex Spy is crucial for refining scripts and identifying unique element properties, ensuring test stability even with UI changes.</a:t>
            </a:r>
          </a:p>
        </p:txBody>
      </p:sp>
      <p:grpSp>
        <p:nvGrpSpPr>
          <p:cNvPr name="Group 10" id="10"/>
          <p:cNvGrpSpPr>
            <a:grpSpLocks noChangeAspect="true"/>
          </p:cNvGrpSpPr>
          <p:nvPr/>
        </p:nvGrpSpPr>
        <p:grpSpPr>
          <a:xfrm rot="0">
            <a:off x="9482881" y="2778175"/>
            <a:ext cx="7734895" cy="5292179"/>
            <a:chOff x="0" y="0"/>
            <a:chExt cx="10313193" cy="7056238"/>
          </a:xfrm>
        </p:grpSpPr>
        <p:sp>
          <p:nvSpPr>
            <p:cNvPr name="Freeform 11" id="11" descr="preencoded.png"/>
            <p:cNvSpPr/>
            <p:nvPr/>
          </p:nvSpPr>
          <p:spPr>
            <a:xfrm flipH="false" flipV="false" rot="0">
              <a:off x="0" y="0"/>
              <a:ext cx="10313162" cy="7056247"/>
            </a:xfrm>
            <a:custGeom>
              <a:avLst/>
              <a:gdLst/>
              <a:ahLst/>
              <a:cxnLst/>
              <a:rect r="r" b="b" t="t" l="l"/>
              <a:pathLst>
                <a:path h="7056247" w="10313162">
                  <a:moveTo>
                    <a:pt x="0" y="0"/>
                  </a:moveTo>
                  <a:lnTo>
                    <a:pt x="10313162" y="0"/>
                  </a:lnTo>
                  <a:lnTo>
                    <a:pt x="10313162" y="7056247"/>
                  </a:lnTo>
                  <a:lnTo>
                    <a:pt x="0" y="7056247"/>
                  </a:lnTo>
                  <a:lnTo>
                    <a:pt x="0" y="0"/>
                  </a:lnTo>
                  <a:close/>
                </a:path>
              </a:pathLst>
            </a:custGeom>
            <a:blipFill>
              <a:blip r:embed="rId4"/>
              <a:stretch>
                <a:fillRect l="0" t="-39" r="0" b="-38"/>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90196"/>
              </a:srgbClr>
            </a:solidFill>
          </p:spPr>
        </p:sp>
      </p:grpSp>
      <p:sp>
        <p:nvSpPr>
          <p:cNvPr name="TextBox 6" id="6"/>
          <p:cNvSpPr txBox="true"/>
          <p:nvPr/>
        </p:nvSpPr>
        <p:spPr>
          <a:xfrm rot="0">
            <a:off x="1079747" y="785366"/>
            <a:ext cx="16517083" cy="1663700"/>
          </a:xfrm>
          <a:prstGeom prst="rect">
            <a:avLst/>
          </a:prstGeom>
        </p:spPr>
        <p:txBody>
          <a:bodyPr anchor="t" rtlCol="false" tIns="0" lIns="0" bIns="0" rIns="0">
            <a:spAutoFit/>
          </a:bodyPr>
          <a:lstStyle/>
          <a:p>
            <a:pPr algn="l">
              <a:lnSpc>
                <a:spcPts val="6625"/>
              </a:lnSpc>
            </a:pPr>
            <a:r>
              <a:rPr lang="en-US" sz="5312">
                <a:solidFill>
                  <a:srgbClr val="F5F0F0"/>
                </a:solidFill>
                <a:latin typeface="Muli Bold"/>
                <a:ea typeface="Muli Bold"/>
                <a:cs typeface="Muli Bold"/>
                <a:sym typeface="Muli Bold"/>
              </a:rPr>
              <a:t>Desktop Application Testing (Windows) with Ranorex</a:t>
            </a:r>
          </a:p>
        </p:txBody>
      </p:sp>
      <p:grpSp>
        <p:nvGrpSpPr>
          <p:cNvPr name="Group 7" id="7"/>
          <p:cNvGrpSpPr>
            <a:grpSpLocks noChangeAspect="true"/>
          </p:cNvGrpSpPr>
          <p:nvPr/>
        </p:nvGrpSpPr>
        <p:grpSpPr>
          <a:xfrm rot="0">
            <a:off x="1079748" y="3384017"/>
            <a:ext cx="7734895" cy="5292179"/>
            <a:chOff x="0" y="0"/>
            <a:chExt cx="10313193" cy="7056238"/>
          </a:xfrm>
        </p:grpSpPr>
        <p:sp>
          <p:nvSpPr>
            <p:cNvPr name="Freeform 8" id="8" descr="preencoded.png"/>
            <p:cNvSpPr/>
            <p:nvPr/>
          </p:nvSpPr>
          <p:spPr>
            <a:xfrm flipH="false" flipV="false" rot="0">
              <a:off x="0" y="0"/>
              <a:ext cx="10313162" cy="7056247"/>
            </a:xfrm>
            <a:custGeom>
              <a:avLst/>
              <a:gdLst/>
              <a:ahLst/>
              <a:cxnLst/>
              <a:rect r="r" b="b" t="t" l="l"/>
              <a:pathLst>
                <a:path h="7056247" w="10313162">
                  <a:moveTo>
                    <a:pt x="0" y="0"/>
                  </a:moveTo>
                  <a:lnTo>
                    <a:pt x="10313162" y="0"/>
                  </a:lnTo>
                  <a:lnTo>
                    <a:pt x="10313162" y="7056247"/>
                  </a:lnTo>
                  <a:lnTo>
                    <a:pt x="0" y="7056247"/>
                  </a:lnTo>
                  <a:lnTo>
                    <a:pt x="0" y="0"/>
                  </a:lnTo>
                  <a:close/>
                </a:path>
              </a:pathLst>
            </a:custGeom>
            <a:blipFill>
              <a:blip r:embed="rId4"/>
              <a:stretch>
                <a:fillRect l="0" t="-39" r="0" b="-38"/>
              </a:stretch>
            </a:blipFill>
          </p:spPr>
        </p:sp>
      </p:grpSp>
      <p:sp>
        <p:nvSpPr>
          <p:cNvPr name="TextBox 9" id="9"/>
          <p:cNvSpPr txBox="true"/>
          <p:nvPr/>
        </p:nvSpPr>
        <p:spPr>
          <a:xfrm rot="0">
            <a:off x="9482881" y="3053506"/>
            <a:ext cx="7776419" cy="2214394"/>
          </a:xfrm>
          <a:prstGeom prst="rect">
            <a:avLst/>
          </a:prstGeom>
        </p:spPr>
        <p:txBody>
          <a:bodyPr anchor="t" rtlCol="false" tIns="0" lIns="0" bIns="0" rIns="0">
            <a:spAutoFit/>
          </a:bodyPr>
          <a:lstStyle/>
          <a:p>
            <a:pPr algn="l">
              <a:lnSpc>
                <a:spcPts val="3533"/>
              </a:lnSpc>
            </a:pPr>
            <a:r>
              <a:rPr lang="en-US" sz="2225">
                <a:solidFill>
                  <a:srgbClr val="E2E6E9"/>
                </a:solidFill>
                <a:latin typeface="Muli Bold"/>
                <a:ea typeface="Muli Bold"/>
                <a:cs typeface="Muli Bold"/>
                <a:sym typeface="Muli Bold"/>
              </a:rPr>
              <a:t>Ranorex offers robust support for automated testing of Windows desktop applications, handling various UI technologies like WinForms, WPF, and Qt. It accurately recognizes controls using attributes such as Automation ID and Name.</a:t>
            </a:r>
          </a:p>
        </p:txBody>
      </p:sp>
      <p:sp>
        <p:nvSpPr>
          <p:cNvPr name="TextBox 10" id="10"/>
          <p:cNvSpPr txBox="true"/>
          <p:nvPr/>
        </p:nvSpPr>
        <p:spPr>
          <a:xfrm rot="0">
            <a:off x="9482881" y="5455890"/>
            <a:ext cx="7940031" cy="1766719"/>
          </a:xfrm>
          <a:prstGeom prst="rect">
            <a:avLst/>
          </a:prstGeom>
        </p:spPr>
        <p:txBody>
          <a:bodyPr anchor="t" rtlCol="false" tIns="0" lIns="0" bIns="0" rIns="0">
            <a:spAutoFit/>
          </a:bodyPr>
          <a:lstStyle/>
          <a:p>
            <a:pPr algn="l">
              <a:lnSpc>
                <a:spcPts val="3533"/>
              </a:lnSpc>
            </a:pPr>
            <a:r>
              <a:rPr lang="en-US" sz="2225">
                <a:solidFill>
                  <a:srgbClr val="E2E6E9"/>
                </a:solidFill>
                <a:latin typeface="Muli Bold"/>
                <a:ea typeface="Muli Bold"/>
                <a:cs typeface="Muli Bold"/>
                <a:sym typeface="Muli Bold"/>
              </a:rPr>
              <a:t>The typical process includes starting the application, identifying UI elements with Ranorex Spy, and creating test scripts using the Recorder or Action Table. Scripts can simulate all UI interactions, from clicks to drag-and-drop.</a:t>
            </a:r>
          </a:p>
        </p:txBody>
      </p:sp>
      <p:sp>
        <p:nvSpPr>
          <p:cNvPr name="TextBox 11" id="11"/>
          <p:cNvSpPr txBox="true"/>
          <p:nvPr/>
        </p:nvSpPr>
        <p:spPr>
          <a:xfrm rot="0">
            <a:off x="9473356" y="7542609"/>
            <a:ext cx="7949556" cy="1766719"/>
          </a:xfrm>
          <a:prstGeom prst="rect">
            <a:avLst/>
          </a:prstGeom>
        </p:spPr>
        <p:txBody>
          <a:bodyPr anchor="t" rtlCol="false" tIns="0" lIns="0" bIns="0" rIns="0">
            <a:spAutoFit/>
          </a:bodyPr>
          <a:lstStyle/>
          <a:p>
            <a:pPr algn="l">
              <a:lnSpc>
                <a:spcPts val="3533"/>
              </a:lnSpc>
            </a:pPr>
            <a:r>
              <a:rPr lang="en-US" sz="2225">
                <a:solidFill>
                  <a:srgbClr val="E2E6E9"/>
                </a:solidFill>
                <a:latin typeface="Muli Bold"/>
                <a:ea typeface="Muli Bold"/>
                <a:cs typeface="Muli Bold"/>
                <a:sym typeface="Muli Bold"/>
              </a:rPr>
              <a:t>Tests are executed with validation commands to check application state, ensuring accurate results. Ranorex's strength lies in its precise recognition and flexible interaction with diverse desktop UI components.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90196"/>
              </a:srgbClr>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39670" y="1047304"/>
            <a:ext cx="9466659" cy="1514475"/>
          </a:xfrm>
          <a:prstGeom prst="rect">
            <a:avLst/>
          </a:prstGeom>
        </p:spPr>
        <p:txBody>
          <a:bodyPr anchor="t" rtlCol="false" tIns="0" lIns="0" bIns="0" rIns="0">
            <a:spAutoFit/>
          </a:bodyPr>
          <a:lstStyle/>
          <a:p>
            <a:pPr algn="l">
              <a:lnSpc>
                <a:spcPts val="6000"/>
              </a:lnSpc>
            </a:pPr>
            <a:r>
              <a:rPr lang="en-US" sz="4812">
                <a:solidFill>
                  <a:srgbClr val="F5F0F0"/>
                </a:solidFill>
                <a:latin typeface="Muli Bold"/>
                <a:ea typeface="Muli Bold"/>
                <a:cs typeface="Muli Bold"/>
                <a:sym typeface="Muli Bold"/>
              </a:rPr>
              <a:t>Mobile Application Testing (Android/iOS) with Ranorex</a:t>
            </a:r>
          </a:p>
        </p:txBody>
      </p:sp>
      <p:grpSp>
        <p:nvGrpSpPr>
          <p:cNvPr name="Group 9" id="9"/>
          <p:cNvGrpSpPr/>
          <p:nvPr/>
        </p:nvGrpSpPr>
        <p:grpSpPr>
          <a:xfrm rot="0">
            <a:off x="7834908" y="2963466"/>
            <a:ext cx="4620071" cy="3798243"/>
            <a:chOff x="0" y="0"/>
            <a:chExt cx="6160095" cy="5064323"/>
          </a:xfrm>
        </p:grpSpPr>
        <p:sp>
          <p:nvSpPr>
            <p:cNvPr name="Freeform 10" id="10"/>
            <p:cNvSpPr/>
            <p:nvPr/>
          </p:nvSpPr>
          <p:spPr>
            <a:xfrm flipH="false" flipV="false" rot="0">
              <a:off x="6350" y="6350"/>
              <a:ext cx="6147435" cy="5051679"/>
            </a:xfrm>
            <a:custGeom>
              <a:avLst/>
              <a:gdLst/>
              <a:ahLst/>
              <a:cxnLst/>
              <a:rect r="r" b="b" t="t" l="l"/>
              <a:pathLst>
                <a:path h="5051679" w="6147435">
                  <a:moveTo>
                    <a:pt x="0" y="137414"/>
                  </a:moveTo>
                  <a:cubicBezTo>
                    <a:pt x="0" y="61595"/>
                    <a:pt x="61595" y="0"/>
                    <a:pt x="137541" y="0"/>
                  </a:cubicBezTo>
                  <a:lnTo>
                    <a:pt x="6009894" y="0"/>
                  </a:lnTo>
                  <a:cubicBezTo>
                    <a:pt x="6085840" y="0"/>
                    <a:pt x="6147435" y="61595"/>
                    <a:pt x="6147435" y="137414"/>
                  </a:cubicBezTo>
                  <a:lnTo>
                    <a:pt x="6147435" y="4914138"/>
                  </a:lnTo>
                  <a:cubicBezTo>
                    <a:pt x="6147435" y="4990084"/>
                    <a:pt x="6085840" y="5051552"/>
                    <a:pt x="6009894" y="5051552"/>
                  </a:cubicBezTo>
                  <a:lnTo>
                    <a:pt x="137541" y="5051552"/>
                  </a:lnTo>
                  <a:cubicBezTo>
                    <a:pt x="61595" y="5051679"/>
                    <a:pt x="0" y="4990084"/>
                    <a:pt x="0" y="4914138"/>
                  </a:cubicBezTo>
                  <a:close/>
                </a:path>
              </a:pathLst>
            </a:custGeom>
            <a:solidFill>
              <a:srgbClr val="003180"/>
            </a:solidFill>
          </p:spPr>
        </p:sp>
        <p:sp>
          <p:nvSpPr>
            <p:cNvPr name="Freeform 11" id="11"/>
            <p:cNvSpPr/>
            <p:nvPr/>
          </p:nvSpPr>
          <p:spPr>
            <a:xfrm flipH="false" flipV="false" rot="0">
              <a:off x="0" y="0"/>
              <a:ext cx="6160135" cy="5064379"/>
            </a:xfrm>
            <a:custGeom>
              <a:avLst/>
              <a:gdLst/>
              <a:ahLst/>
              <a:cxnLst/>
              <a:rect r="r" b="b" t="t" l="l"/>
              <a:pathLst>
                <a:path h="5064379" w="6160135">
                  <a:moveTo>
                    <a:pt x="0" y="143764"/>
                  </a:moveTo>
                  <a:cubicBezTo>
                    <a:pt x="0" y="64389"/>
                    <a:pt x="64389" y="0"/>
                    <a:pt x="143891" y="0"/>
                  </a:cubicBezTo>
                  <a:lnTo>
                    <a:pt x="6016244" y="0"/>
                  </a:lnTo>
                  <a:lnTo>
                    <a:pt x="6016244" y="6350"/>
                  </a:lnTo>
                  <a:lnTo>
                    <a:pt x="6016244" y="0"/>
                  </a:lnTo>
                  <a:cubicBezTo>
                    <a:pt x="6095746" y="0"/>
                    <a:pt x="6160135" y="64389"/>
                    <a:pt x="6160135" y="143764"/>
                  </a:cubicBezTo>
                  <a:lnTo>
                    <a:pt x="6153785" y="143764"/>
                  </a:lnTo>
                  <a:lnTo>
                    <a:pt x="6160135" y="143764"/>
                  </a:lnTo>
                  <a:lnTo>
                    <a:pt x="6160135" y="4920488"/>
                  </a:lnTo>
                  <a:lnTo>
                    <a:pt x="6153785" y="4920488"/>
                  </a:lnTo>
                  <a:lnTo>
                    <a:pt x="6160135" y="4920488"/>
                  </a:lnTo>
                  <a:cubicBezTo>
                    <a:pt x="6160135" y="4999863"/>
                    <a:pt x="6095746" y="5064252"/>
                    <a:pt x="6016244" y="5064252"/>
                  </a:cubicBezTo>
                  <a:lnTo>
                    <a:pt x="6016244" y="5057902"/>
                  </a:lnTo>
                  <a:lnTo>
                    <a:pt x="6016244" y="5064252"/>
                  </a:lnTo>
                  <a:lnTo>
                    <a:pt x="143891" y="5064252"/>
                  </a:lnTo>
                  <a:lnTo>
                    <a:pt x="143891" y="5057902"/>
                  </a:lnTo>
                  <a:lnTo>
                    <a:pt x="143891" y="5064252"/>
                  </a:lnTo>
                  <a:cubicBezTo>
                    <a:pt x="64389" y="5064379"/>
                    <a:pt x="0" y="4999990"/>
                    <a:pt x="0" y="4920488"/>
                  </a:cubicBezTo>
                  <a:lnTo>
                    <a:pt x="0" y="143764"/>
                  </a:lnTo>
                  <a:lnTo>
                    <a:pt x="6350" y="143764"/>
                  </a:lnTo>
                  <a:lnTo>
                    <a:pt x="0" y="143764"/>
                  </a:lnTo>
                  <a:moveTo>
                    <a:pt x="12700" y="143764"/>
                  </a:moveTo>
                  <a:lnTo>
                    <a:pt x="12700" y="4920488"/>
                  </a:lnTo>
                  <a:lnTo>
                    <a:pt x="6350" y="4920488"/>
                  </a:lnTo>
                  <a:lnTo>
                    <a:pt x="12700" y="4920488"/>
                  </a:lnTo>
                  <a:cubicBezTo>
                    <a:pt x="12700" y="4992878"/>
                    <a:pt x="71374" y="5051552"/>
                    <a:pt x="143891" y="5051552"/>
                  </a:cubicBezTo>
                  <a:lnTo>
                    <a:pt x="6016244" y="5051552"/>
                  </a:lnTo>
                  <a:cubicBezTo>
                    <a:pt x="6088634" y="5051552"/>
                    <a:pt x="6147435" y="4992878"/>
                    <a:pt x="6147435" y="4920488"/>
                  </a:cubicBezTo>
                  <a:lnTo>
                    <a:pt x="6147435" y="143764"/>
                  </a:lnTo>
                  <a:cubicBezTo>
                    <a:pt x="6147435" y="71374"/>
                    <a:pt x="6088761" y="12700"/>
                    <a:pt x="6016244" y="12700"/>
                  </a:cubicBezTo>
                  <a:lnTo>
                    <a:pt x="143891" y="12700"/>
                  </a:lnTo>
                  <a:lnTo>
                    <a:pt x="143891" y="6350"/>
                  </a:lnTo>
                  <a:lnTo>
                    <a:pt x="143891" y="12700"/>
                  </a:lnTo>
                  <a:cubicBezTo>
                    <a:pt x="71374" y="12700"/>
                    <a:pt x="12700" y="71374"/>
                    <a:pt x="12700" y="143764"/>
                  </a:cubicBezTo>
                  <a:close/>
                </a:path>
              </a:pathLst>
            </a:custGeom>
            <a:solidFill>
              <a:srgbClr val="194A99"/>
            </a:solidFill>
          </p:spPr>
        </p:sp>
      </p:grpSp>
      <p:sp>
        <p:nvSpPr>
          <p:cNvPr name="TextBox 12" id="12"/>
          <p:cNvSpPr txBox="true"/>
          <p:nvPr/>
        </p:nvSpPr>
        <p:spPr>
          <a:xfrm rot="0">
            <a:off x="8094612" y="3194596"/>
            <a:ext cx="3067794" cy="390525"/>
          </a:xfrm>
          <a:prstGeom prst="rect">
            <a:avLst/>
          </a:prstGeom>
        </p:spPr>
        <p:txBody>
          <a:bodyPr anchor="t" rtlCol="false" tIns="0" lIns="0" bIns="0" rIns="0">
            <a:spAutoFit/>
          </a:bodyPr>
          <a:lstStyle/>
          <a:p>
            <a:pPr algn="l">
              <a:lnSpc>
                <a:spcPts val="3000"/>
              </a:lnSpc>
            </a:pPr>
            <a:r>
              <a:rPr lang="en-US" sz="2375">
                <a:solidFill>
                  <a:srgbClr val="E2E6E9"/>
                </a:solidFill>
                <a:latin typeface="Muli Bold"/>
                <a:ea typeface="Muli Bold"/>
                <a:cs typeface="Muli Bold"/>
                <a:sym typeface="Muli Bold"/>
              </a:rPr>
              <a:t>Instrumentation</a:t>
            </a:r>
          </a:p>
        </p:txBody>
      </p:sp>
      <p:sp>
        <p:nvSpPr>
          <p:cNvPr name="TextBox 13" id="13"/>
          <p:cNvSpPr txBox="true"/>
          <p:nvPr/>
        </p:nvSpPr>
        <p:spPr>
          <a:xfrm rot="0">
            <a:off x="8094612" y="3668017"/>
            <a:ext cx="4100661" cy="2649537"/>
          </a:xfrm>
          <a:prstGeom prst="rect">
            <a:avLst/>
          </a:prstGeom>
        </p:spPr>
        <p:txBody>
          <a:bodyPr anchor="t" rtlCol="false" tIns="0" lIns="0" bIns="0" rIns="0">
            <a:spAutoFit/>
          </a:bodyPr>
          <a:lstStyle/>
          <a:p>
            <a:pPr algn="l">
              <a:lnSpc>
                <a:spcPts val="3062"/>
              </a:lnSpc>
            </a:pPr>
            <a:r>
              <a:rPr lang="en-US" sz="1874">
                <a:solidFill>
                  <a:srgbClr val="E2E6E9"/>
                </a:solidFill>
                <a:latin typeface="Muli Bold"/>
                <a:ea typeface="Muli Bold"/>
                <a:cs typeface="Muli Bold"/>
                <a:sym typeface="Muli Bold"/>
              </a:rPr>
              <a:t>The mobile app must be instrumented by injecting the Ranorex automation library. For Android, use the Instrumentation Wizard; for iOS, source code or IPA with a developer certificate is needed.</a:t>
            </a:r>
          </a:p>
        </p:txBody>
      </p:sp>
      <p:grpSp>
        <p:nvGrpSpPr>
          <p:cNvPr name="Group 14" id="14"/>
          <p:cNvGrpSpPr/>
          <p:nvPr/>
        </p:nvGrpSpPr>
        <p:grpSpPr>
          <a:xfrm rot="0">
            <a:off x="12690872" y="2963466"/>
            <a:ext cx="4620220" cy="3798243"/>
            <a:chOff x="0" y="0"/>
            <a:chExt cx="6160293" cy="5064323"/>
          </a:xfrm>
        </p:grpSpPr>
        <p:sp>
          <p:nvSpPr>
            <p:cNvPr name="Freeform 15" id="15"/>
            <p:cNvSpPr/>
            <p:nvPr/>
          </p:nvSpPr>
          <p:spPr>
            <a:xfrm flipH="false" flipV="false" rot="0">
              <a:off x="6350" y="6350"/>
              <a:ext cx="6147562" cy="5051679"/>
            </a:xfrm>
            <a:custGeom>
              <a:avLst/>
              <a:gdLst/>
              <a:ahLst/>
              <a:cxnLst/>
              <a:rect r="r" b="b" t="t" l="l"/>
              <a:pathLst>
                <a:path h="5051679" w="6147562">
                  <a:moveTo>
                    <a:pt x="0" y="137414"/>
                  </a:moveTo>
                  <a:cubicBezTo>
                    <a:pt x="0" y="61595"/>
                    <a:pt x="61595" y="0"/>
                    <a:pt x="137541" y="0"/>
                  </a:cubicBezTo>
                  <a:lnTo>
                    <a:pt x="6010021" y="0"/>
                  </a:lnTo>
                  <a:cubicBezTo>
                    <a:pt x="6085967" y="0"/>
                    <a:pt x="6147562" y="61595"/>
                    <a:pt x="6147562" y="137414"/>
                  </a:cubicBezTo>
                  <a:lnTo>
                    <a:pt x="6147562" y="4914138"/>
                  </a:lnTo>
                  <a:cubicBezTo>
                    <a:pt x="6147562" y="4990084"/>
                    <a:pt x="6085967" y="5051552"/>
                    <a:pt x="6010021" y="5051552"/>
                  </a:cubicBezTo>
                  <a:lnTo>
                    <a:pt x="137541" y="5051552"/>
                  </a:lnTo>
                  <a:cubicBezTo>
                    <a:pt x="61595" y="5051679"/>
                    <a:pt x="0" y="4990084"/>
                    <a:pt x="0" y="4914138"/>
                  </a:cubicBezTo>
                  <a:close/>
                </a:path>
              </a:pathLst>
            </a:custGeom>
            <a:solidFill>
              <a:srgbClr val="003180"/>
            </a:solidFill>
          </p:spPr>
        </p:sp>
        <p:sp>
          <p:nvSpPr>
            <p:cNvPr name="Freeform 16" id="16"/>
            <p:cNvSpPr/>
            <p:nvPr/>
          </p:nvSpPr>
          <p:spPr>
            <a:xfrm flipH="false" flipV="false" rot="0">
              <a:off x="0" y="0"/>
              <a:ext cx="6160262" cy="5064379"/>
            </a:xfrm>
            <a:custGeom>
              <a:avLst/>
              <a:gdLst/>
              <a:ahLst/>
              <a:cxnLst/>
              <a:rect r="r" b="b" t="t" l="l"/>
              <a:pathLst>
                <a:path h="5064379" w="6160262">
                  <a:moveTo>
                    <a:pt x="0" y="143764"/>
                  </a:moveTo>
                  <a:cubicBezTo>
                    <a:pt x="0" y="64389"/>
                    <a:pt x="64389" y="0"/>
                    <a:pt x="143891" y="0"/>
                  </a:cubicBezTo>
                  <a:lnTo>
                    <a:pt x="6016371" y="0"/>
                  </a:lnTo>
                  <a:lnTo>
                    <a:pt x="6016371" y="6350"/>
                  </a:lnTo>
                  <a:lnTo>
                    <a:pt x="6016371" y="0"/>
                  </a:lnTo>
                  <a:cubicBezTo>
                    <a:pt x="6095873" y="0"/>
                    <a:pt x="6160262" y="64389"/>
                    <a:pt x="6160262" y="143764"/>
                  </a:cubicBezTo>
                  <a:lnTo>
                    <a:pt x="6153912" y="143764"/>
                  </a:lnTo>
                  <a:lnTo>
                    <a:pt x="6160262" y="143764"/>
                  </a:lnTo>
                  <a:lnTo>
                    <a:pt x="6160262" y="4920488"/>
                  </a:lnTo>
                  <a:lnTo>
                    <a:pt x="6153912" y="4920488"/>
                  </a:lnTo>
                  <a:lnTo>
                    <a:pt x="6160262" y="4920488"/>
                  </a:lnTo>
                  <a:cubicBezTo>
                    <a:pt x="6160262" y="4999863"/>
                    <a:pt x="6095873" y="5064252"/>
                    <a:pt x="6016371" y="5064252"/>
                  </a:cubicBezTo>
                  <a:lnTo>
                    <a:pt x="6016371" y="5057902"/>
                  </a:lnTo>
                  <a:lnTo>
                    <a:pt x="6016371" y="5064252"/>
                  </a:lnTo>
                  <a:lnTo>
                    <a:pt x="143891" y="5064252"/>
                  </a:lnTo>
                  <a:lnTo>
                    <a:pt x="143891" y="5057902"/>
                  </a:lnTo>
                  <a:lnTo>
                    <a:pt x="143891" y="5064252"/>
                  </a:lnTo>
                  <a:cubicBezTo>
                    <a:pt x="64389" y="5064379"/>
                    <a:pt x="0" y="4999990"/>
                    <a:pt x="0" y="4920488"/>
                  </a:cubicBezTo>
                  <a:lnTo>
                    <a:pt x="0" y="143764"/>
                  </a:lnTo>
                  <a:lnTo>
                    <a:pt x="6350" y="143764"/>
                  </a:lnTo>
                  <a:lnTo>
                    <a:pt x="0" y="143764"/>
                  </a:lnTo>
                  <a:moveTo>
                    <a:pt x="12700" y="143764"/>
                  </a:moveTo>
                  <a:lnTo>
                    <a:pt x="12700" y="4920488"/>
                  </a:lnTo>
                  <a:lnTo>
                    <a:pt x="6350" y="4920488"/>
                  </a:lnTo>
                  <a:lnTo>
                    <a:pt x="12700" y="4920488"/>
                  </a:lnTo>
                  <a:cubicBezTo>
                    <a:pt x="12700" y="4992878"/>
                    <a:pt x="71374" y="5051552"/>
                    <a:pt x="143891" y="5051552"/>
                  </a:cubicBezTo>
                  <a:lnTo>
                    <a:pt x="6016371" y="5051552"/>
                  </a:lnTo>
                  <a:cubicBezTo>
                    <a:pt x="6088761" y="5051552"/>
                    <a:pt x="6147562" y="4992878"/>
                    <a:pt x="6147562" y="4920488"/>
                  </a:cubicBezTo>
                  <a:lnTo>
                    <a:pt x="6147562" y="143764"/>
                  </a:lnTo>
                  <a:cubicBezTo>
                    <a:pt x="6147562" y="71374"/>
                    <a:pt x="6088888" y="12700"/>
                    <a:pt x="6016371" y="12700"/>
                  </a:cubicBezTo>
                  <a:lnTo>
                    <a:pt x="143891" y="12700"/>
                  </a:lnTo>
                  <a:lnTo>
                    <a:pt x="143891" y="6350"/>
                  </a:lnTo>
                  <a:lnTo>
                    <a:pt x="143891" y="12700"/>
                  </a:lnTo>
                  <a:cubicBezTo>
                    <a:pt x="71374" y="12700"/>
                    <a:pt x="12700" y="71374"/>
                    <a:pt x="12700" y="143764"/>
                  </a:cubicBezTo>
                  <a:close/>
                </a:path>
              </a:pathLst>
            </a:custGeom>
            <a:solidFill>
              <a:srgbClr val="194A99"/>
            </a:solidFill>
          </p:spPr>
        </p:sp>
      </p:grpSp>
      <p:sp>
        <p:nvSpPr>
          <p:cNvPr name="TextBox 17" id="17"/>
          <p:cNvSpPr txBox="true"/>
          <p:nvPr/>
        </p:nvSpPr>
        <p:spPr>
          <a:xfrm rot="0">
            <a:off x="12950577" y="3194596"/>
            <a:ext cx="3067794" cy="390525"/>
          </a:xfrm>
          <a:prstGeom prst="rect">
            <a:avLst/>
          </a:prstGeom>
        </p:spPr>
        <p:txBody>
          <a:bodyPr anchor="t" rtlCol="false" tIns="0" lIns="0" bIns="0" rIns="0">
            <a:spAutoFit/>
          </a:bodyPr>
          <a:lstStyle/>
          <a:p>
            <a:pPr algn="l">
              <a:lnSpc>
                <a:spcPts val="3000"/>
              </a:lnSpc>
            </a:pPr>
            <a:r>
              <a:rPr lang="en-US" sz="2375">
                <a:solidFill>
                  <a:srgbClr val="E2E6E9"/>
                </a:solidFill>
                <a:latin typeface="Muli Bold"/>
                <a:ea typeface="Muli Bold"/>
                <a:cs typeface="Muli Bold"/>
                <a:sym typeface="Muli Bold"/>
              </a:rPr>
              <a:t>Device Connection</a:t>
            </a:r>
          </a:p>
        </p:txBody>
      </p:sp>
      <p:sp>
        <p:nvSpPr>
          <p:cNvPr name="TextBox 18" id="18"/>
          <p:cNvSpPr txBox="true"/>
          <p:nvPr/>
        </p:nvSpPr>
        <p:spPr>
          <a:xfrm rot="0">
            <a:off x="12950577" y="3668017"/>
            <a:ext cx="4100810" cy="1887537"/>
          </a:xfrm>
          <a:prstGeom prst="rect">
            <a:avLst/>
          </a:prstGeom>
        </p:spPr>
        <p:txBody>
          <a:bodyPr anchor="t" rtlCol="false" tIns="0" lIns="0" bIns="0" rIns="0">
            <a:spAutoFit/>
          </a:bodyPr>
          <a:lstStyle/>
          <a:p>
            <a:pPr algn="l">
              <a:lnSpc>
                <a:spcPts val="3062"/>
              </a:lnSpc>
            </a:pPr>
            <a:r>
              <a:rPr lang="en-US" sz="1874">
                <a:solidFill>
                  <a:srgbClr val="E2E6E9"/>
                </a:solidFill>
                <a:latin typeface="Muli Bold"/>
                <a:ea typeface="Muli Bold"/>
                <a:cs typeface="Muli Bold"/>
                <a:sym typeface="Muli Bold"/>
              </a:rPr>
              <a:t>Connect the mobile device to the PC via USB or Wi-Fi. The Ranorex Mobile Agent runs on the device to receive commands, facilitating interaction and testing.</a:t>
            </a:r>
          </a:p>
        </p:txBody>
      </p:sp>
      <p:grpSp>
        <p:nvGrpSpPr>
          <p:cNvPr name="Group 19" id="19"/>
          <p:cNvGrpSpPr/>
          <p:nvPr/>
        </p:nvGrpSpPr>
        <p:grpSpPr>
          <a:xfrm rot="0">
            <a:off x="7834908" y="6997601"/>
            <a:ext cx="9476184" cy="2227809"/>
            <a:chOff x="0" y="0"/>
            <a:chExt cx="12634912" cy="2970412"/>
          </a:xfrm>
        </p:grpSpPr>
        <p:sp>
          <p:nvSpPr>
            <p:cNvPr name="Freeform 20" id="20"/>
            <p:cNvSpPr/>
            <p:nvPr/>
          </p:nvSpPr>
          <p:spPr>
            <a:xfrm flipH="false" flipV="false" rot="0">
              <a:off x="6350" y="6350"/>
              <a:ext cx="12622276" cy="2957703"/>
            </a:xfrm>
            <a:custGeom>
              <a:avLst/>
              <a:gdLst/>
              <a:ahLst/>
              <a:cxnLst/>
              <a:rect r="r" b="b" t="t" l="l"/>
              <a:pathLst>
                <a:path h="2957703" w="12622276">
                  <a:moveTo>
                    <a:pt x="0" y="137414"/>
                  </a:moveTo>
                  <a:cubicBezTo>
                    <a:pt x="0" y="61595"/>
                    <a:pt x="61722" y="0"/>
                    <a:pt x="137922" y="0"/>
                  </a:cubicBezTo>
                  <a:lnTo>
                    <a:pt x="12484354" y="0"/>
                  </a:lnTo>
                  <a:cubicBezTo>
                    <a:pt x="12560554" y="0"/>
                    <a:pt x="12622276" y="61595"/>
                    <a:pt x="12622276" y="137414"/>
                  </a:cubicBezTo>
                  <a:lnTo>
                    <a:pt x="12622276" y="2820289"/>
                  </a:lnTo>
                  <a:cubicBezTo>
                    <a:pt x="12622276" y="2896235"/>
                    <a:pt x="12560554" y="2957703"/>
                    <a:pt x="12484354" y="2957703"/>
                  </a:cubicBezTo>
                  <a:lnTo>
                    <a:pt x="137922" y="2957703"/>
                  </a:lnTo>
                  <a:cubicBezTo>
                    <a:pt x="61722" y="2957703"/>
                    <a:pt x="0" y="2896108"/>
                    <a:pt x="0" y="2820289"/>
                  </a:cubicBezTo>
                  <a:close/>
                </a:path>
              </a:pathLst>
            </a:custGeom>
            <a:solidFill>
              <a:srgbClr val="003180"/>
            </a:solidFill>
          </p:spPr>
        </p:sp>
        <p:sp>
          <p:nvSpPr>
            <p:cNvPr name="Freeform 21" id="21"/>
            <p:cNvSpPr/>
            <p:nvPr/>
          </p:nvSpPr>
          <p:spPr>
            <a:xfrm flipH="false" flipV="false" rot="0">
              <a:off x="0" y="0"/>
              <a:ext cx="12634976" cy="2970403"/>
            </a:xfrm>
            <a:custGeom>
              <a:avLst/>
              <a:gdLst/>
              <a:ahLst/>
              <a:cxnLst/>
              <a:rect r="r" b="b" t="t" l="l"/>
              <a:pathLst>
                <a:path h="2970403" w="12634976">
                  <a:moveTo>
                    <a:pt x="0" y="143764"/>
                  </a:moveTo>
                  <a:cubicBezTo>
                    <a:pt x="0" y="64389"/>
                    <a:pt x="64643" y="0"/>
                    <a:pt x="144272" y="0"/>
                  </a:cubicBezTo>
                  <a:lnTo>
                    <a:pt x="12490704" y="0"/>
                  </a:lnTo>
                  <a:lnTo>
                    <a:pt x="12490704" y="6350"/>
                  </a:lnTo>
                  <a:lnTo>
                    <a:pt x="12490704" y="0"/>
                  </a:lnTo>
                  <a:cubicBezTo>
                    <a:pt x="12570333" y="0"/>
                    <a:pt x="12634976" y="64389"/>
                    <a:pt x="12634976" y="143764"/>
                  </a:cubicBezTo>
                  <a:lnTo>
                    <a:pt x="12628626" y="143764"/>
                  </a:lnTo>
                  <a:lnTo>
                    <a:pt x="12634976" y="143764"/>
                  </a:lnTo>
                  <a:lnTo>
                    <a:pt x="12634976" y="2826639"/>
                  </a:lnTo>
                  <a:lnTo>
                    <a:pt x="12628626" y="2826639"/>
                  </a:lnTo>
                  <a:lnTo>
                    <a:pt x="12634976" y="2826639"/>
                  </a:lnTo>
                  <a:cubicBezTo>
                    <a:pt x="12634976" y="2906014"/>
                    <a:pt x="12570333" y="2970403"/>
                    <a:pt x="12490704" y="2970403"/>
                  </a:cubicBezTo>
                  <a:lnTo>
                    <a:pt x="12490704" y="2964053"/>
                  </a:lnTo>
                  <a:lnTo>
                    <a:pt x="12490704" y="2970403"/>
                  </a:lnTo>
                  <a:lnTo>
                    <a:pt x="144272" y="2970403"/>
                  </a:lnTo>
                  <a:lnTo>
                    <a:pt x="144272" y="2964053"/>
                  </a:lnTo>
                  <a:lnTo>
                    <a:pt x="144272" y="2970403"/>
                  </a:lnTo>
                  <a:cubicBezTo>
                    <a:pt x="64643" y="2970403"/>
                    <a:pt x="0" y="2906014"/>
                    <a:pt x="0" y="2826639"/>
                  </a:cubicBezTo>
                  <a:lnTo>
                    <a:pt x="0" y="143764"/>
                  </a:lnTo>
                  <a:lnTo>
                    <a:pt x="6350" y="143764"/>
                  </a:lnTo>
                  <a:lnTo>
                    <a:pt x="0" y="143764"/>
                  </a:lnTo>
                  <a:moveTo>
                    <a:pt x="12700" y="143764"/>
                  </a:moveTo>
                  <a:lnTo>
                    <a:pt x="12700" y="2826639"/>
                  </a:lnTo>
                  <a:lnTo>
                    <a:pt x="6350" y="2826639"/>
                  </a:lnTo>
                  <a:lnTo>
                    <a:pt x="12700" y="2826639"/>
                  </a:lnTo>
                  <a:cubicBezTo>
                    <a:pt x="12700" y="2899029"/>
                    <a:pt x="71628" y="2957703"/>
                    <a:pt x="144272" y="2957703"/>
                  </a:cubicBezTo>
                  <a:lnTo>
                    <a:pt x="12490704" y="2957703"/>
                  </a:lnTo>
                  <a:cubicBezTo>
                    <a:pt x="12563348" y="2957703"/>
                    <a:pt x="12622276" y="2899029"/>
                    <a:pt x="12622276" y="2826639"/>
                  </a:cubicBezTo>
                  <a:lnTo>
                    <a:pt x="12622276" y="143764"/>
                  </a:lnTo>
                  <a:cubicBezTo>
                    <a:pt x="12622276" y="71374"/>
                    <a:pt x="12563348" y="12700"/>
                    <a:pt x="12490704" y="12700"/>
                  </a:cubicBezTo>
                  <a:lnTo>
                    <a:pt x="144272" y="12700"/>
                  </a:lnTo>
                  <a:lnTo>
                    <a:pt x="144272" y="6350"/>
                  </a:lnTo>
                  <a:lnTo>
                    <a:pt x="144272" y="12700"/>
                  </a:lnTo>
                  <a:cubicBezTo>
                    <a:pt x="71628" y="12700"/>
                    <a:pt x="12700" y="71374"/>
                    <a:pt x="12700" y="143764"/>
                  </a:cubicBezTo>
                  <a:close/>
                </a:path>
              </a:pathLst>
            </a:custGeom>
            <a:solidFill>
              <a:srgbClr val="194A99"/>
            </a:solidFill>
          </p:spPr>
        </p:sp>
      </p:grpSp>
      <p:sp>
        <p:nvSpPr>
          <p:cNvPr name="TextBox 22" id="22"/>
          <p:cNvSpPr txBox="true"/>
          <p:nvPr/>
        </p:nvSpPr>
        <p:spPr>
          <a:xfrm rot="0">
            <a:off x="8094612" y="7228731"/>
            <a:ext cx="3685877" cy="390525"/>
          </a:xfrm>
          <a:prstGeom prst="rect">
            <a:avLst/>
          </a:prstGeom>
        </p:spPr>
        <p:txBody>
          <a:bodyPr anchor="t" rtlCol="false" tIns="0" lIns="0" bIns="0" rIns="0">
            <a:spAutoFit/>
          </a:bodyPr>
          <a:lstStyle/>
          <a:p>
            <a:pPr algn="l">
              <a:lnSpc>
                <a:spcPts val="3000"/>
              </a:lnSpc>
            </a:pPr>
            <a:r>
              <a:rPr lang="en-US" sz="2375">
                <a:solidFill>
                  <a:srgbClr val="E2E6E9"/>
                </a:solidFill>
                <a:latin typeface="Muli Bold"/>
                <a:ea typeface="Muli Bold"/>
                <a:cs typeface="Muli Bold"/>
                <a:sym typeface="Muli Bold"/>
              </a:rPr>
              <a:t>Recording and Execution</a:t>
            </a:r>
          </a:p>
        </p:txBody>
      </p:sp>
      <p:sp>
        <p:nvSpPr>
          <p:cNvPr name="TextBox 23" id="23"/>
          <p:cNvSpPr txBox="true"/>
          <p:nvPr/>
        </p:nvSpPr>
        <p:spPr>
          <a:xfrm rot="0">
            <a:off x="8094612" y="7702154"/>
            <a:ext cx="8956774" cy="1125537"/>
          </a:xfrm>
          <a:prstGeom prst="rect">
            <a:avLst/>
          </a:prstGeom>
        </p:spPr>
        <p:txBody>
          <a:bodyPr anchor="t" rtlCol="false" tIns="0" lIns="0" bIns="0" rIns="0">
            <a:spAutoFit/>
          </a:bodyPr>
          <a:lstStyle/>
          <a:p>
            <a:pPr algn="l">
              <a:lnSpc>
                <a:spcPts val="3062"/>
              </a:lnSpc>
            </a:pPr>
            <a:r>
              <a:rPr lang="en-US" sz="1874">
                <a:solidFill>
                  <a:srgbClr val="E2E6E9"/>
                </a:solidFill>
                <a:latin typeface="Muli Bold"/>
                <a:ea typeface="Muli Bold"/>
                <a:cs typeface="Muli Bold"/>
                <a:sym typeface="Muli Bold"/>
              </a:rPr>
              <a:t>Record user actions like taps, swipes, and text entry via PC controls or VNC. Objects are stored in the repository, and tests can run repeatedly on real or emulated devices, including parallel execution.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90196"/>
              </a:srgbClr>
            </a:solidFill>
          </p:spPr>
        </p:sp>
      </p:grpSp>
      <p:sp>
        <p:nvSpPr>
          <p:cNvPr name="TextBox 6" id="6"/>
          <p:cNvSpPr txBox="true"/>
          <p:nvPr/>
        </p:nvSpPr>
        <p:spPr>
          <a:xfrm rot="0">
            <a:off x="1047750" y="691754"/>
            <a:ext cx="13098215" cy="801687"/>
          </a:xfrm>
          <a:prstGeom prst="rect">
            <a:avLst/>
          </a:prstGeom>
        </p:spPr>
        <p:txBody>
          <a:bodyPr anchor="t" rtlCol="false" tIns="0" lIns="0" bIns="0" rIns="0">
            <a:spAutoFit/>
          </a:bodyPr>
          <a:lstStyle/>
          <a:p>
            <a:pPr algn="l">
              <a:lnSpc>
                <a:spcPts val="6437"/>
              </a:lnSpc>
            </a:pPr>
            <a:r>
              <a:rPr lang="en-US" sz="5125">
                <a:solidFill>
                  <a:srgbClr val="F5F0F0"/>
                </a:solidFill>
                <a:latin typeface="Muli Bold"/>
                <a:ea typeface="Muli Bold"/>
                <a:cs typeface="Muli Bold"/>
                <a:sym typeface="Muli Bold"/>
              </a:rPr>
              <a:t>Installation, Configuration, and Licensing</a:t>
            </a:r>
          </a:p>
        </p:txBody>
      </p:sp>
      <p:sp>
        <p:nvSpPr>
          <p:cNvPr name="TextBox 7" id="7"/>
          <p:cNvSpPr txBox="true"/>
          <p:nvPr/>
        </p:nvSpPr>
        <p:spPr>
          <a:xfrm rot="0">
            <a:off x="1047750" y="2174825"/>
            <a:ext cx="6748329" cy="423305"/>
          </a:xfrm>
          <a:prstGeom prst="rect">
            <a:avLst/>
          </a:prstGeom>
        </p:spPr>
        <p:txBody>
          <a:bodyPr anchor="t" rtlCol="false" tIns="0" lIns="0" bIns="0" rIns="0">
            <a:spAutoFit/>
          </a:bodyPr>
          <a:lstStyle/>
          <a:p>
            <a:pPr algn="l">
              <a:lnSpc>
                <a:spcPts val="3311"/>
              </a:lnSpc>
            </a:pPr>
            <a:r>
              <a:rPr lang="en-US" sz="2662">
                <a:solidFill>
                  <a:srgbClr val="F5F0F0"/>
                </a:solidFill>
                <a:latin typeface="Muli Bold"/>
                <a:ea typeface="Muli Bold"/>
                <a:cs typeface="Muli Bold"/>
                <a:sym typeface="Muli Bold"/>
              </a:rPr>
              <a:t>System Requirements &amp; Installation</a:t>
            </a:r>
          </a:p>
        </p:txBody>
      </p:sp>
      <p:sp>
        <p:nvSpPr>
          <p:cNvPr name="TextBox 8" id="8"/>
          <p:cNvSpPr txBox="true"/>
          <p:nvPr/>
        </p:nvSpPr>
        <p:spPr>
          <a:xfrm rot="0">
            <a:off x="1047750" y="2779365"/>
            <a:ext cx="7776716" cy="2125653"/>
          </a:xfrm>
          <a:prstGeom prst="rect">
            <a:avLst/>
          </a:prstGeom>
        </p:spPr>
        <p:txBody>
          <a:bodyPr anchor="t" rtlCol="false" tIns="0" lIns="0" bIns="0" rIns="0">
            <a:spAutoFit/>
          </a:bodyPr>
          <a:lstStyle/>
          <a:p>
            <a:pPr algn="l">
              <a:lnSpc>
                <a:spcPts val="3407"/>
              </a:lnSpc>
            </a:pPr>
            <a:r>
              <a:rPr lang="en-US" sz="2162">
                <a:solidFill>
                  <a:srgbClr val="E2E6E9"/>
                </a:solidFill>
                <a:latin typeface="Muli Bold"/>
                <a:ea typeface="Muli Bold"/>
                <a:cs typeface="Muli Bold"/>
                <a:sym typeface="Muli Bold"/>
              </a:rPr>
              <a:t>Ranorex runs on Windows OS (7 SP1 to 11, Server 2008 R2 to 2022) with recommended hardware of a quad-core CPU and 16 GB RAM. Installation involves downloading the installer, selecting components, and using the RocketStart Wizard for a sample project.</a:t>
            </a:r>
          </a:p>
        </p:txBody>
      </p:sp>
      <p:sp>
        <p:nvSpPr>
          <p:cNvPr name="TextBox 9" id="9"/>
          <p:cNvSpPr txBox="true"/>
          <p:nvPr/>
        </p:nvSpPr>
        <p:spPr>
          <a:xfrm rot="0">
            <a:off x="1047750" y="5203477"/>
            <a:ext cx="3274516" cy="423305"/>
          </a:xfrm>
          <a:prstGeom prst="rect">
            <a:avLst/>
          </a:prstGeom>
        </p:spPr>
        <p:txBody>
          <a:bodyPr anchor="t" rtlCol="false" tIns="0" lIns="0" bIns="0" rIns="0">
            <a:spAutoFit/>
          </a:bodyPr>
          <a:lstStyle/>
          <a:p>
            <a:pPr algn="l">
              <a:lnSpc>
                <a:spcPts val="3311"/>
              </a:lnSpc>
            </a:pPr>
            <a:r>
              <a:rPr lang="en-US" sz="2662">
                <a:solidFill>
                  <a:srgbClr val="F5F0F0"/>
                </a:solidFill>
                <a:latin typeface="Muli Bold"/>
                <a:ea typeface="Muli Bold"/>
                <a:cs typeface="Muli Bold"/>
                <a:sym typeface="Muli Bold"/>
              </a:rPr>
              <a:t>Trial and Licensing</a:t>
            </a:r>
          </a:p>
        </p:txBody>
      </p:sp>
      <p:sp>
        <p:nvSpPr>
          <p:cNvPr name="TextBox 10" id="10"/>
          <p:cNvSpPr txBox="true"/>
          <p:nvPr/>
        </p:nvSpPr>
        <p:spPr>
          <a:xfrm rot="0">
            <a:off x="1047750" y="5808017"/>
            <a:ext cx="7776716" cy="2125653"/>
          </a:xfrm>
          <a:prstGeom prst="rect">
            <a:avLst/>
          </a:prstGeom>
        </p:spPr>
        <p:txBody>
          <a:bodyPr anchor="t" rtlCol="false" tIns="0" lIns="0" bIns="0" rIns="0">
            <a:spAutoFit/>
          </a:bodyPr>
          <a:lstStyle/>
          <a:p>
            <a:pPr algn="l">
              <a:lnSpc>
                <a:spcPts val="3407"/>
              </a:lnSpc>
            </a:pPr>
            <a:r>
              <a:rPr lang="en-US" sz="2162">
                <a:solidFill>
                  <a:srgbClr val="E2E6E9"/>
                </a:solidFill>
                <a:latin typeface="Muli Bold"/>
                <a:ea typeface="Muli Bold"/>
                <a:cs typeface="Muli Bold"/>
                <a:sym typeface="Muli Bold"/>
              </a:rPr>
              <a:t>A 30-day free trial offers full features. Commercial licenses include perpetual (node-locked or floating) and subscription (annual, floating only) options. Prices range from ~$3,950 for a Studio license to ~$1,500–$2,000/year for a subscription.</a:t>
            </a:r>
          </a:p>
        </p:txBody>
      </p:sp>
      <p:grpSp>
        <p:nvGrpSpPr>
          <p:cNvPr name="Group 11" id="11"/>
          <p:cNvGrpSpPr>
            <a:grpSpLocks noChangeAspect="true"/>
          </p:cNvGrpSpPr>
          <p:nvPr/>
        </p:nvGrpSpPr>
        <p:grpSpPr>
          <a:xfrm rot="0">
            <a:off x="9473059" y="2226617"/>
            <a:ext cx="7776716" cy="5320904"/>
            <a:chOff x="0" y="0"/>
            <a:chExt cx="10368955" cy="7094538"/>
          </a:xfrm>
        </p:grpSpPr>
        <p:sp>
          <p:nvSpPr>
            <p:cNvPr name="Freeform 12" id="12" descr="preencoded.png"/>
            <p:cNvSpPr/>
            <p:nvPr/>
          </p:nvSpPr>
          <p:spPr>
            <a:xfrm flipH="false" flipV="false" rot="0">
              <a:off x="0" y="0"/>
              <a:ext cx="10368915" cy="7094601"/>
            </a:xfrm>
            <a:custGeom>
              <a:avLst/>
              <a:gdLst/>
              <a:ahLst/>
              <a:cxnLst/>
              <a:rect r="r" b="b" t="t" l="l"/>
              <a:pathLst>
                <a:path h="7094601" w="10368915">
                  <a:moveTo>
                    <a:pt x="0" y="0"/>
                  </a:moveTo>
                  <a:lnTo>
                    <a:pt x="10368915" y="0"/>
                  </a:lnTo>
                  <a:lnTo>
                    <a:pt x="10368915" y="7094601"/>
                  </a:lnTo>
                  <a:lnTo>
                    <a:pt x="0" y="7094601"/>
                  </a:lnTo>
                  <a:lnTo>
                    <a:pt x="0" y="0"/>
                  </a:lnTo>
                  <a:close/>
                </a:path>
              </a:pathLst>
            </a:custGeom>
            <a:blipFill>
              <a:blip r:embed="rId4"/>
              <a:stretch>
                <a:fillRect l="0" t="-61" r="0" b="-60"/>
              </a:stretch>
            </a:blipFill>
          </p:spPr>
        </p:sp>
      </p:grpSp>
      <p:sp>
        <p:nvSpPr>
          <p:cNvPr name="TextBox 13" id="13"/>
          <p:cNvSpPr txBox="true"/>
          <p:nvPr/>
        </p:nvSpPr>
        <p:spPr>
          <a:xfrm rot="0">
            <a:off x="9473059" y="7899636"/>
            <a:ext cx="7776716" cy="1697028"/>
          </a:xfrm>
          <a:prstGeom prst="rect">
            <a:avLst/>
          </a:prstGeom>
        </p:spPr>
        <p:txBody>
          <a:bodyPr anchor="t" rtlCol="false" tIns="0" lIns="0" bIns="0" rIns="0">
            <a:spAutoFit/>
          </a:bodyPr>
          <a:lstStyle/>
          <a:p>
            <a:pPr algn="l">
              <a:lnSpc>
                <a:spcPts val="3407"/>
              </a:lnSpc>
            </a:pPr>
            <a:r>
              <a:rPr lang="en-US" sz="2162">
                <a:solidFill>
                  <a:srgbClr val="E2E6E9"/>
                </a:solidFill>
                <a:latin typeface="Muli Bold"/>
                <a:ea typeface="Muli Bold"/>
                <a:cs typeface="Muli Bold"/>
                <a:sym typeface="Muli Bold"/>
              </a:rPr>
              <a:t>Maintenance and support are included for 12 months, renewable annually at approximately 20% of the license price. Floating licenses require a license server for concurrent usage.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90196"/>
              </a:srgbClr>
            </a:solidFill>
          </p:spPr>
        </p:sp>
      </p:grpSp>
      <p:sp>
        <p:nvSpPr>
          <p:cNvPr name="TextBox 6" id="6"/>
          <p:cNvSpPr txBox="true"/>
          <p:nvPr/>
        </p:nvSpPr>
        <p:spPr>
          <a:xfrm rot="0">
            <a:off x="881955" y="357336"/>
            <a:ext cx="11681725" cy="1439683"/>
          </a:xfrm>
          <a:prstGeom prst="rect">
            <a:avLst/>
          </a:prstGeom>
        </p:spPr>
        <p:txBody>
          <a:bodyPr anchor="t" rtlCol="false" tIns="0" lIns="0" bIns="0" rIns="0">
            <a:spAutoFit/>
          </a:bodyPr>
          <a:lstStyle/>
          <a:p>
            <a:pPr algn="l">
              <a:lnSpc>
                <a:spcPts val="5748"/>
              </a:lnSpc>
            </a:pPr>
            <a:r>
              <a:rPr lang="en-US" sz="4612">
                <a:solidFill>
                  <a:srgbClr val="F5F0F0"/>
                </a:solidFill>
                <a:latin typeface="Muli Bold"/>
                <a:ea typeface="Muli Bold"/>
                <a:cs typeface="Muli Bold"/>
                <a:sym typeface="Muli Bold"/>
              </a:rPr>
              <a:t>Integration with C# and Visual Studio &amp; Comparisons</a:t>
            </a:r>
          </a:p>
        </p:txBody>
      </p:sp>
      <p:sp>
        <p:nvSpPr>
          <p:cNvPr name="TextBox 7" id="7"/>
          <p:cNvSpPr txBox="true"/>
          <p:nvPr/>
        </p:nvSpPr>
        <p:spPr>
          <a:xfrm rot="0">
            <a:off x="881955" y="1950940"/>
            <a:ext cx="5372561" cy="370596"/>
          </a:xfrm>
          <a:prstGeom prst="rect">
            <a:avLst/>
          </a:prstGeom>
        </p:spPr>
        <p:txBody>
          <a:bodyPr anchor="t" rtlCol="false" tIns="0" lIns="0" bIns="0" rIns="0">
            <a:spAutoFit/>
          </a:bodyPr>
          <a:lstStyle/>
          <a:p>
            <a:pPr algn="l" marL="0" indent="0" lvl="0">
              <a:lnSpc>
                <a:spcPts val="3066"/>
              </a:lnSpc>
              <a:spcBef>
                <a:spcPct val="0"/>
              </a:spcBef>
            </a:pPr>
            <a:r>
              <a:rPr lang="en-US" b="true" sz="2424" strike="noStrike" u="none">
                <a:solidFill>
                  <a:srgbClr val="F5F0F0"/>
                </a:solidFill>
                <a:latin typeface="Muli Bold"/>
                <a:ea typeface="Muli Bold"/>
                <a:cs typeface="Muli Bold"/>
                <a:sym typeface="Muli Bold"/>
              </a:rPr>
              <a:t>C# and Visual Studio Integration</a:t>
            </a:r>
          </a:p>
        </p:txBody>
      </p:sp>
      <p:sp>
        <p:nvSpPr>
          <p:cNvPr name="TextBox 8" id="8"/>
          <p:cNvSpPr txBox="true"/>
          <p:nvPr/>
        </p:nvSpPr>
        <p:spPr>
          <a:xfrm rot="0">
            <a:off x="881955" y="2439692"/>
            <a:ext cx="7993112" cy="2114268"/>
          </a:xfrm>
          <a:prstGeom prst="rect">
            <a:avLst/>
          </a:prstGeom>
        </p:spPr>
        <p:txBody>
          <a:bodyPr anchor="t" rtlCol="false" tIns="0" lIns="0" bIns="0" rIns="0">
            <a:spAutoFit/>
          </a:bodyPr>
          <a:lstStyle/>
          <a:p>
            <a:pPr algn="l" marL="0" indent="0" lvl="0">
              <a:lnSpc>
                <a:spcPts val="3422"/>
              </a:lnSpc>
              <a:spcBef>
                <a:spcPct val="0"/>
              </a:spcBef>
            </a:pPr>
            <a:r>
              <a:rPr lang="en-US" b="true" sz="2100" strike="noStrike" u="none">
                <a:solidFill>
                  <a:srgbClr val="E2E6E9"/>
                </a:solidFill>
                <a:latin typeface="Muli Bold"/>
                <a:ea typeface="Muli Bold"/>
                <a:cs typeface="Muli Bold"/>
                <a:sym typeface="Muli Bold"/>
              </a:rPr>
              <a:t>Ranorex projects are .NET-based, allowing full integration with Visual Studio for editing, debugging, and source control. Users can mix record/playback with custom C# code, leveraging external .NET libraries and creating reusable modules.</a:t>
            </a:r>
          </a:p>
        </p:txBody>
      </p:sp>
      <p:sp>
        <p:nvSpPr>
          <p:cNvPr name="TextBox 9" id="9"/>
          <p:cNvSpPr txBox="true"/>
          <p:nvPr/>
        </p:nvSpPr>
        <p:spPr>
          <a:xfrm rot="0">
            <a:off x="881955" y="4598938"/>
            <a:ext cx="7057727" cy="370597"/>
          </a:xfrm>
          <a:prstGeom prst="rect">
            <a:avLst/>
          </a:prstGeom>
        </p:spPr>
        <p:txBody>
          <a:bodyPr anchor="t" rtlCol="false" tIns="0" lIns="0" bIns="0" rIns="0">
            <a:spAutoFit/>
          </a:bodyPr>
          <a:lstStyle/>
          <a:p>
            <a:pPr algn="l">
              <a:lnSpc>
                <a:spcPts val="3066"/>
              </a:lnSpc>
            </a:pPr>
            <a:r>
              <a:rPr lang="en-US" sz="2424">
                <a:solidFill>
                  <a:srgbClr val="F5F0F0"/>
                </a:solidFill>
                <a:latin typeface="Muli Bold"/>
                <a:ea typeface="Muli Bold"/>
                <a:cs typeface="Muli Bold"/>
                <a:sym typeface="Muli Bold"/>
              </a:rPr>
              <a:t>Compared to Selenium WebDriver</a:t>
            </a:r>
          </a:p>
        </p:txBody>
      </p:sp>
      <p:sp>
        <p:nvSpPr>
          <p:cNvPr name="TextBox 10" id="10"/>
          <p:cNvSpPr txBox="true"/>
          <p:nvPr/>
        </p:nvSpPr>
        <p:spPr>
          <a:xfrm rot="0">
            <a:off x="881955" y="5087689"/>
            <a:ext cx="7993112" cy="2114268"/>
          </a:xfrm>
          <a:prstGeom prst="rect">
            <a:avLst/>
          </a:prstGeom>
        </p:spPr>
        <p:txBody>
          <a:bodyPr anchor="t" rtlCol="false" tIns="0" lIns="0" bIns="0" rIns="0">
            <a:spAutoFit/>
          </a:bodyPr>
          <a:lstStyle/>
          <a:p>
            <a:pPr algn="l" marL="0" indent="0" lvl="0">
              <a:lnSpc>
                <a:spcPts val="3422"/>
              </a:lnSpc>
              <a:spcBef>
                <a:spcPct val="0"/>
              </a:spcBef>
            </a:pPr>
            <a:r>
              <a:rPr lang="en-US" b="true" sz="2100" strike="noStrike" u="none">
                <a:solidFill>
                  <a:srgbClr val="E2E6E9"/>
                </a:solidFill>
                <a:latin typeface="Muli Bold"/>
                <a:ea typeface="Muli Bold"/>
                <a:cs typeface="Muli Bold"/>
                <a:sym typeface="Muli Bold"/>
              </a:rPr>
              <a:t>Ranorex offers multi-platform support, user-friendliness for non-coders, and robust object management. However, it has higher licensing costs, a smaller community, and is Windows-only, with less flexibility for advanced customizations than Selenium.</a:t>
            </a:r>
          </a:p>
        </p:txBody>
      </p:sp>
      <p:grpSp>
        <p:nvGrpSpPr>
          <p:cNvPr name="Group 11" id="11"/>
          <p:cNvGrpSpPr>
            <a:grpSpLocks noChangeAspect="true"/>
          </p:cNvGrpSpPr>
          <p:nvPr/>
        </p:nvGrpSpPr>
        <p:grpSpPr>
          <a:xfrm rot="0">
            <a:off x="9422458" y="1874044"/>
            <a:ext cx="7993112" cy="5468839"/>
            <a:chOff x="0" y="0"/>
            <a:chExt cx="10657483" cy="7291785"/>
          </a:xfrm>
        </p:grpSpPr>
        <p:sp>
          <p:nvSpPr>
            <p:cNvPr name="Freeform 12" id="12" descr="preencoded.png"/>
            <p:cNvSpPr/>
            <p:nvPr/>
          </p:nvSpPr>
          <p:spPr>
            <a:xfrm flipH="false" flipV="false" rot="0">
              <a:off x="0" y="0"/>
              <a:ext cx="10657459" cy="7291832"/>
            </a:xfrm>
            <a:custGeom>
              <a:avLst/>
              <a:gdLst/>
              <a:ahLst/>
              <a:cxnLst/>
              <a:rect r="r" b="b" t="t" l="l"/>
              <a:pathLst>
                <a:path h="7291832" w="10657459">
                  <a:moveTo>
                    <a:pt x="0" y="0"/>
                  </a:moveTo>
                  <a:lnTo>
                    <a:pt x="10657459" y="0"/>
                  </a:lnTo>
                  <a:lnTo>
                    <a:pt x="10657459" y="7291832"/>
                  </a:lnTo>
                  <a:lnTo>
                    <a:pt x="0" y="7291832"/>
                  </a:lnTo>
                  <a:lnTo>
                    <a:pt x="0" y="0"/>
                  </a:lnTo>
                  <a:close/>
                </a:path>
              </a:pathLst>
            </a:custGeom>
            <a:blipFill>
              <a:blip r:embed="rId4"/>
              <a:stretch>
                <a:fillRect l="-3" t="0" r="-3" b="0"/>
              </a:stretch>
            </a:blipFill>
          </p:spPr>
        </p:sp>
      </p:grpSp>
      <p:sp>
        <p:nvSpPr>
          <p:cNvPr name="TextBox 13" id="13"/>
          <p:cNvSpPr txBox="true"/>
          <p:nvPr/>
        </p:nvSpPr>
        <p:spPr>
          <a:xfrm rot="0">
            <a:off x="9422458" y="7581305"/>
            <a:ext cx="5244099" cy="370596"/>
          </a:xfrm>
          <a:prstGeom prst="rect">
            <a:avLst/>
          </a:prstGeom>
        </p:spPr>
        <p:txBody>
          <a:bodyPr anchor="t" rtlCol="false" tIns="0" lIns="0" bIns="0" rIns="0">
            <a:spAutoFit/>
          </a:bodyPr>
          <a:lstStyle/>
          <a:p>
            <a:pPr algn="l" marL="0" indent="0" lvl="0">
              <a:lnSpc>
                <a:spcPts val="3066"/>
              </a:lnSpc>
              <a:spcBef>
                <a:spcPct val="0"/>
              </a:spcBef>
            </a:pPr>
            <a:r>
              <a:rPr lang="en-US" b="true" sz="2424" strike="noStrike" u="none">
                <a:solidFill>
                  <a:srgbClr val="F5F0F0"/>
                </a:solidFill>
                <a:latin typeface="Muli Bold"/>
                <a:ea typeface="Muli Bold"/>
                <a:cs typeface="Muli Bold"/>
                <a:sym typeface="Muli Bold"/>
              </a:rPr>
              <a:t>Compared to TestComplete</a:t>
            </a:r>
          </a:p>
        </p:txBody>
      </p:sp>
      <p:sp>
        <p:nvSpPr>
          <p:cNvPr name="TextBox 14" id="14"/>
          <p:cNvSpPr txBox="true"/>
          <p:nvPr/>
        </p:nvSpPr>
        <p:spPr>
          <a:xfrm rot="0">
            <a:off x="9422458" y="8070056"/>
            <a:ext cx="7993112" cy="2114268"/>
          </a:xfrm>
          <a:prstGeom prst="rect">
            <a:avLst/>
          </a:prstGeom>
        </p:spPr>
        <p:txBody>
          <a:bodyPr anchor="t" rtlCol="false" tIns="0" lIns="0" bIns="0" rIns="0">
            <a:spAutoFit/>
          </a:bodyPr>
          <a:lstStyle/>
          <a:p>
            <a:pPr algn="l" marL="0" indent="0" lvl="0">
              <a:lnSpc>
                <a:spcPts val="3422"/>
              </a:lnSpc>
              <a:spcBef>
                <a:spcPct val="0"/>
              </a:spcBef>
            </a:pPr>
            <a:r>
              <a:rPr lang="en-US" b="true" sz="2100" strike="noStrike" u="none">
                <a:solidFill>
                  <a:srgbClr val="E2E6E9"/>
                </a:solidFill>
                <a:latin typeface="Muli Bold"/>
                <a:ea typeface="Muli Bold"/>
                <a:cs typeface="Muli Bold"/>
                <a:sym typeface="Muli Bold"/>
              </a:rPr>
              <a:t>Ranorex is generally cheaper for all-in-one needs, provides standard C# scripting, and a friendly IDE. It includes all features in one license (web/desktop/mobile), supports BDD, and offers robust reporting. However, it only supports C#/VB.NET scripting and lacks a built-in cloud solution.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9151A">
                <a:alpha val="90196"/>
              </a:srgbClr>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772102" y="650751"/>
            <a:ext cx="9480054" cy="704850"/>
          </a:xfrm>
          <a:prstGeom prst="rect">
            <a:avLst/>
          </a:prstGeom>
        </p:spPr>
        <p:txBody>
          <a:bodyPr anchor="t" rtlCol="false" tIns="0" lIns="0" bIns="0" rIns="0">
            <a:spAutoFit/>
          </a:bodyPr>
          <a:lstStyle/>
          <a:p>
            <a:pPr algn="l">
              <a:lnSpc>
                <a:spcPts val="5625"/>
              </a:lnSpc>
            </a:pPr>
            <a:r>
              <a:rPr lang="en-US" sz="4499">
                <a:solidFill>
                  <a:srgbClr val="F5F0F0"/>
                </a:solidFill>
                <a:latin typeface="Muli Bold"/>
                <a:ea typeface="Muli Bold"/>
                <a:cs typeface="Muli Bold"/>
                <a:sym typeface="Muli Bold"/>
              </a:rPr>
              <a:t>Conclusion: Why Choose Ranorex?</a:t>
            </a:r>
          </a:p>
        </p:txBody>
      </p:sp>
      <p:grpSp>
        <p:nvGrpSpPr>
          <p:cNvPr name="Group 9" id="9"/>
          <p:cNvGrpSpPr/>
          <p:nvPr/>
        </p:nvGrpSpPr>
        <p:grpSpPr>
          <a:xfrm rot="0">
            <a:off x="7772102" y="2287489"/>
            <a:ext cx="526405" cy="526405"/>
            <a:chOff x="0" y="0"/>
            <a:chExt cx="701873" cy="701873"/>
          </a:xfrm>
        </p:grpSpPr>
        <p:sp>
          <p:nvSpPr>
            <p:cNvPr name="Freeform 10" id="10"/>
            <p:cNvSpPr/>
            <p:nvPr/>
          </p:nvSpPr>
          <p:spPr>
            <a:xfrm flipH="false" flipV="false" rot="0">
              <a:off x="6350" y="6350"/>
              <a:ext cx="689229" cy="689229"/>
            </a:xfrm>
            <a:custGeom>
              <a:avLst/>
              <a:gdLst/>
              <a:ahLst/>
              <a:cxnLst/>
              <a:rect r="r" b="b" t="t" l="l"/>
              <a:pathLst>
                <a:path h="689229" w="689229">
                  <a:moveTo>
                    <a:pt x="0" y="128651"/>
                  </a:moveTo>
                  <a:cubicBezTo>
                    <a:pt x="0" y="57658"/>
                    <a:pt x="57658" y="0"/>
                    <a:pt x="128651" y="0"/>
                  </a:cubicBezTo>
                  <a:lnTo>
                    <a:pt x="560578" y="0"/>
                  </a:lnTo>
                  <a:cubicBezTo>
                    <a:pt x="631571" y="0"/>
                    <a:pt x="689229" y="57658"/>
                    <a:pt x="689229" y="128651"/>
                  </a:cubicBezTo>
                  <a:lnTo>
                    <a:pt x="689229" y="560578"/>
                  </a:lnTo>
                  <a:cubicBezTo>
                    <a:pt x="689229" y="631571"/>
                    <a:pt x="631571" y="689229"/>
                    <a:pt x="560578" y="689229"/>
                  </a:cubicBezTo>
                  <a:lnTo>
                    <a:pt x="128651" y="689229"/>
                  </a:lnTo>
                  <a:cubicBezTo>
                    <a:pt x="57658" y="689229"/>
                    <a:pt x="0" y="631571"/>
                    <a:pt x="0" y="560578"/>
                  </a:cubicBezTo>
                  <a:close/>
                </a:path>
              </a:pathLst>
            </a:custGeom>
            <a:solidFill>
              <a:srgbClr val="003180"/>
            </a:solidFill>
          </p:spPr>
        </p:sp>
        <p:sp>
          <p:nvSpPr>
            <p:cNvPr name="Freeform 11" id="11"/>
            <p:cNvSpPr/>
            <p:nvPr/>
          </p:nvSpPr>
          <p:spPr>
            <a:xfrm flipH="false" flipV="false" rot="0">
              <a:off x="0" y="0"/>
              <a:ext cx="701929" cy="701929"/>
            </a:xfrm>
            <a:custGeom>
              <a:avLst/>
              <a:gdLst/>
              <a:ahLst/>
              <a:cxnLst/>
              <a:rect r="r" b="b" t="t" l="l"/>
              <a:pathLst>
                <a:path h="701929" w="701929">
                  <a:moveTo>
                    <a:pt x="0" y="135001"/>
                  </a:moveTo>
                  <a:cubicBezTo>
                    <a:pt x="0" y="60452"/>
                    <a:pt x="60452" y="0"/>
                    <a:pt x="135001" y="0"/>
                  </a:cubicBezTo>
                  <a:lnTo>
                    <a:pt x="566928" y="0"/>
                  </a:lnTo>
                  <a:lnTo>
                    <a:pt x="566928" y="6350"/>
                  </a:lnTo>
                  <a:lnTo>
                    <a:pt x="566928" y="0"/>
                  </a:lnTo>
                  <a:cubicBezTo>
                    <a:pt x="641477" y="0"/>
                    <a:pt x="701929" y="60452"/>
                    <a:pt x="701929" y="135001"/>
                  </a:cubicBezTo>
                  <a:lnTo>
                    <a:pt x="695579" y="135001"/>
                  </a:lnTo>
                  <a:lnTo>
                    <a:pt x="701929" y="135001"/>
                  </a:lnTo>
                  <a:lnTo>
                    <a:pt x="701929" y="566928"/>
                  </a:lnTo>
                  <a:lnTo>
                    <a:pt x="695579" y="566928"/>
                  </a:lnTo>
                  <a:lnTo>
                    <a:pt x="701929" y="566928"/>
                  </a:lnTo>
                  <a:cubicBezTo>
                    <a:pt x="701929" y="641477"/>
                    <a:pt x="641477" y="701929"/>
                    <a:pt x="566928" y="701929"/>
                  </a:cubicBezTo>
                  <a:lnTo>
                    <a:pt x="566928" y="695579"/>
                  </a:lnTo>
                  <a:lnTo>
                    <a:pt x="566928" y="701929"/>
                  </a:lnTo>
                  <a:lnTo>
                    <a:pt x="135001" y="701929"/>
                  </a:lnTo>
                  <a:lnTo>
                    <a:pt x="135001" y="695579"/>
                  </a:lnTo>
                  <a:lnTo>
                    <a:pt x="135001" y="701929"/>
                  </a:lnTo>
                  <a:cubicBezTo>
                    <a:pt x="60452" y="701929"/>
                    <a:pt x="0" y="641477"/>
                    <a:pt x="0" y="566928"/>
                  </a:cubicBezTo>
                  <a:lnTo>
                    <a:pt x="0" y="135001"/>
                  </a:lnTo>
                  <a:lnTo>
                    <a:pt x="6350" y="135001"/>
                  </a:lnTo>
                  <a:lnTo>
                    <a:pt x="0" y="135001"/>
                  </a:lnTo>
                  <a:moveTo>
                    <a:pt x="12700" y="135001"/>
                  </a:moveTo>
                  <a:lnTo>
                    <a:pt x="12700" y="566928"/>
                  </a:lnTo>
                  <a:lnTo>
                    <a:pt x="6350" y="566928"/>
                  </a:lnTo>
                  <a:lnTo>
                    <a:pt x="12700" y="566928"/>
                  </a:lnTo>
                  <a:cubicBezTo>
                    <a:pt x="12700" y="634492"/>
                    <a:pt x="67437" y="689229"/>
                    <a:pt x="135001" y="689229"/>
                  </a:cubicBezTo>
                  <a:lnTo>
                    <a:pt x="566928" y="689229"/>
                  </a:lnTo>
                  <a:cubicBezTo>
                    <a:pt x="634492" y="689229"/>
                    <a:pt x="689229" y="634492"/>
                    <a:pt x="689229" y="566928"/>
                  </a:cubicBezTo>
                  <a:lnTo>
                    <a:pt x="689229" y="135001"/>
                  </a:lnTo>
                  <a:cubicBezTo>
                    <a:pt x="689229" y="67437"/>
                    <a:pt x="634365" y="12700"/>
                    <a:pt x="566928" y="12700"/>
                  </a:cubicBezTo>
                  <a:lnTo>
                    <a:pt x="135001" y="12700"/>
                  </a:lnTo>
                  <a:lnTo>
                    <a:pt x="135001" y="6350"/>
                  </a:lnTo>
                  <a:lnTo>
                    <a:pt x="135001" y="12700"/>
                  </a:lnTo>
                  <a:cubicBezTo>
                    <a:pt x="67437" y="12700"/>
                    <a:pt x="12700" y="67437"/>
                    <a:pt x="12700" y="135001"/>
                  </a:cubicBezTo>
                  <a:close/>
                </a:path>
              </a:pathLst>
            </a:custGeom>
            <a:solidFill>
              <a:srgbClr val="194A99"/>
            </a:solidFill>
          </p:spPr>
        </p:sp>
      </p:grpSp>
      <p:sp>
        <p:nvSpPr>
          <p:cNvPr name="TextBox 12" id="12"/>
          <p:cNvSpPr txBox="true"/>
          <p:nvPr/>
        </p:nvSpPr>
        <p:spPr>
          <a:xfrm rot="0">
            <a:off x="8523386" y="2325737"/>
            <a:ext cx="5865181" cy="409575"/>
          </a:xfrm>
          <a:prstGeom prst="rect">
            <a:avLst/>
          </a:prstGeom>
        </p:spPr>
        <p:txBody>
          <a:bodyPr anchor="t" rtlCol="false" tIns="0" lIns="0" bIns="0" rIns="0">
            <a:spAutoFit/>
          </a:bodyPr>
          <a:lstStyle/>
          <a:p>
            <a:pPr algn="l">
              <a:lnSpc>
                <a:spcPts val="3374"/>
              </a:lnSpc>
            </a:pPr>
            <a:r>
              <a:rPr lang="en-US" sz="2687">
                <a:solidFill>
                  <a:srgbClr val="E2E6E9"/>
                </a:solidFill>
                <a:latin typeface="Muli Bold"/>
                <a:ea typeface="Muli Bold"/>
                <a:cs typeface="Muli Bold"/>
                <a:sym typeface="Muli Bold"/>
              </a:rPr>
              <a:t>Comprehensive &amp; User-Friendly</a:t>
            </a:r>
          </a:p>
        </p:txBody>
      </p:sp>
      <p:sp>
        <p:nvSpPr>
          <p:cNvPr name="TextBox 13" id="13"/>
          <p:cNvSpPr txBox="true"/>
          <p:nvPr/>
        </p:nvSpPr>
        <p:spPr>
          <a:xfrm rot="0">
            <a:off x="8523386" y="2817911"/>
            <a:ext cx="8845749" cy="808627"/>
          </a:xfrm>
          <a:prstGeom prst="rect">
            <a:avLst/>
          </a:prstGeom>
        </p:spPr>
        <p:txBody>
          <a:bodyPr anchor="t" rtlCol="false" tIns="0" lIns="0" bIns="0" rIns="0">
            <a:spAutoFit/>
          </a:bodyPr>
          <a:lstStyle/>
          <a:p>
            <a:pPr algn="l">
              <a:lnSpc>
                <a:spcPts val="3367"/>
              </a:lnSpc>
            </a:pPr>
            <a:r>
              <a:rPr lang="en-US" sz="2049">
                <a:solidFill>
                  <a:srgbClr val="E2E6E9"/>
                </a:solidFill>
                <a:latin typeface="Muli Bold"/>
                <a:ea typeface="Muli Bold"/>
                <a:cs typeface="Muli Bold"/>
                <a:sym typeface="Muli Bold"/>
              </a:rPr>
              <a:t>Ranorex Studio is a powerful GUI test automation tool suitable for both beginners and professionals, offering an intuitive interface.</a:t>
            </a:r>
          </a:p>
        </p:txBody>
      </p:sp>
      <p:grpSp>
        <p:nvGrpSpPr>
          <p:cNvPr name="Group 14" id="14"/>
          <p:cNvGrpSpPr/>
          <p:nvPr/>
        </p:nvGrpSpPr>
        <p:grpSpPr>
          <a:xfrm rot="0">
            <a:off x="7772102" y="4093517"/>
            <a:ext cx="526405" cy="526405"/>
            <a:chOff x="0" y="0"/>
            <a:chExt cx="701873" cy="701873"/>
          </a:xfrm>
        </p:grpSpPr>
        <p:sp>
          <p:nvSpPr>
            <p:cNvPr name="Freeform 15" id="15"/>
            <p:cNvSpPr/>
            <p:nvPr/>
          </p:nvSpPr>
          <p:spPr>
            <a:xfrm flipH="false" flipV="false" rot="0">
              <a:off x="6350" y="6350"/>
              <a:ext cx="689229" cy="689229"/>
            </a:xfrm>
            <a:custGeom>
              <a:avLst/>
              <a:gdLst/>
              <a:ahLst/>
              <a:cxnLst/>
              <a:rect r="r" b="b" t="t" l="l"/>
              <a:pathLst>
                <a:path h="689229" w="689229">
                  <a:moveTo>
                    <a:pt x="0" y="128651"/>
                  </a:moveTo>
                  <a:cubicBezTo>
                    <a:pt x="0" y="57658"/>
                    <a:pt x="57658" y="0"/>
                    <a:pt x="128651" y="0"/>
                  </a:cubicBezTo>
                  <a:lnTo>
                    <a:pt x="560578" y="0"/>
                  </a:lnTo>
                  <a:cubicBezTo>
                    <a:pt x="631571" y="0"/>
                    <a:pt x="689229" y="57658"/>
                    <a:pt x="689229" y="128651"/>
                  </a:cubicBezTo>
                  <a:lnTo>
                    <a:pt x="689229" y="560578"/>
                  </a:lnTo>
                  <a:cubicBezTo>
                    <a:pt x="689229" y="631571"/>
                    <a:pt x="631571" y="689229"/>
                    <a:pt x="560578" y="689229"/>
                  </a:cubicBezTo>
                  <a:lnTo>
                    <a:pt x="128651" y="689229"/>
                  </a:lnTo>
                  <a:cubicBezTo>
                    <a:pt x="57658" y="689229"/>
                    <a:pt x="0" y="631571"/>
                    <a:pt x="0" y="560578"/>
                  </a:cubicBezTo>
                  <a:close/>
                </a:path>
              </a:pathLst>
            </a:custGeom>
            <a:solidFill>
              <a:srgbClr val="003180"/>
            </a:solidFill>
          </p:spPr>
        </p:sp>
        <p:sp>
          <p:nvSpPr>
            <p:cNvPr name="Freeform 16" id="16"/>
            <p:cNvSpPr/>
            <p:nvPr/>
          </p:nvSpPr>
          <p:spPr>
            <a:xfrm flipH="false" flipV="false" rot="0">
              <a:off x="0" y="0"/>
              <a:ext cx="701929" cy="701929"/>
            </a:xfrm>
            <a:custGeom>
              <a:avLst/>
              <a:gdLst/>
              <a:ahLst/>
              <a:cxnLst/>
              <a:rect r="r" b="b" t="t" l="l"/>
              <a:pathLst>
                <a:path h="701929" w="701929">
                  <a:moveTo>
                    <a:pt x="0" y="135001"/>
                  </a:moveTo>
                  <a:cubicBezTo>
                    <a:pt x="0" y="60452"/>
                    <a:pt x="60452" y="0"/>
                    <a:pt x="135001" y="0"/>
                  </a:cubicBezTo>
                  <a:lnTo>
                    <a:pt x="566928" y="0"/>
                  </a:lnTo>
                  <a:lnTo>
                    <a:pt x="566928" y="6350"/>
                  </a:lnTo>
                  <a:lnTo>
                    <a:pt x="566928" y="0"/>
                  </a:lnTo>
                  <a:cubicBezTo>
                    <a:pt x="641477" y="0"/>
                    <a:pt x="701929" y="60452"/>
                    <a:pt x="701929" y="135001"/>
                  </a:cubicBezTo>
                  <a:lnTo>
                    <a:pt x="695579" y="135001"/>
                  </a:lnTo>
                  <a:lnTo>
                    <a:pt x="701929" y="135001"/>
                  </a:lnTo>
                  <a:lnTo>
                    <a:pt x="701929" y="566928"/>
                  </a:lnTo>
                  <a:lnTo>
                    <a:pt x="695579" y="566928"/>
                  </a:lnTo>
                  <a:lnTo>
                    <a:pt x="701929" y="566928"/>
                  </a:lnTo>
                  <a:cubicBezTo>
                    <a:pt x="701929" y="641477"/>
                    <a:pt x="641477" y="701929"/>
                    <a:pt x="566928" y="701929"/>
                  </a:cubicBezTo>
                  <a:lnTo>
                    <a:pt x="566928" y="695579"/>
                  </a:lnTo>
                  <a:lnTo>
                    <a:pt x="566928" y="701929"/>
                  </a:lnTo>
                  <a:lnTo>
                    <a:pt x="135001" y="701929"/>
                  </a:lnTo>
                  <a:lnTo>
                    <a:pt x="135001" y="695579"/>
                  </a:lnTo>
                  <a:lnTo>
                    <a:pt x="135001" y="701929"/>
                  </a:lnTo>
                  <a:cubicBezTo>
                    <a:pt x="60452" y="701929"/>
                    <a:pt x="0" y="641477"/>
                    <a:pt x="0" y="566928"/>
                  </a:cubicBezTo>
                  <a:lnTo>
                    <a:pt x="0" y="135001"/>
                  </a:lnTo>
                  <a:lnTo>
                    <a:pt x="6350" y="135001"/>
                  </a:lnTo>
                  <a:lnTo>
                    <a:pt x="0" y="135001"/>
                  </a:lnTo>
                  <a:moveTo>
                    <a:pt x="12700" y="135001"/>
                  </a:moveTo>
                  <a:lnTo>
                    <a:pt x="12700" y="566928"/>
                  </a:lnTo>
                  <a:lnTo>
                    <a:pt x="6350" y="566928"/>
                  </a:lnTo>
                  <a:lnTo>
                    <a:pt x="12700" y="566928"/>
                  </a:lnTo>
                  <a:cubicBezTo>
                    <a:pt x="12700" y="634492"/>
                    <a:pt x="67437" y="689229"/>
                    <a:pt x="135001" y="689229"/>
                  </a:cubicBezTo>
                  <a:lnTo>
                    <a:pt x="566928" y="689229"/>
                  </a:lnTo>
                  <a:cubicBezTo>
                    <a:pt x="634492" y="689229"/>
                    <a:pt x="689229" y="634492"/>
                    <a:pt x="689229" y="566928"/>
                  </a:cubicBezTo>
                  <a:lnTo>
                    <a:pt x="689229" y="135001"/>
                  </a:lnTo>
                  <a:cubicBezTo>
                    <a:pt x="689229" y="67437"/>
                    <a:pt x="634365" y="12700"/>
                    <a:pt x="566928" y="12700"/>
                  </a:cubicBezTo>
                  <a:lnTo>
                    <a:pt x="135001" y="12700"/>
                  </a:lnTo>
                  <a:lnTo>
                    <a:pt x="135001" y="6350"/>
                  </a:lnTo>
                  <a:lnTo>
                    <a:pt x="135001" y="12700"/>
                  </a:lnTo>
                  <a:cubicBezTo>
                    <a:pt x="67437" y="12700"/>
                    <a:pt x="12700" y="67437"/>
                    <a:pt x="12700" y="135001"/>
                  </a:cubicBezTo>
                  <a:close/>
                </a:path>
              </a:pathLst>
            </a:custGeom>
            <a:solidFill>
              <a:srgbClr val="194A99"/>
            </a:solidFill>
          </p:spPr>
        </p:sp>
      </p:grpSp>
      <p:sp>
        <p:nvSpPr>
          <p:cNvPr name="TextBox 17" id="17"/>
          <p:cNvSpPr txBox="true"/>
          <p:nvPr/>
        </p:nvSpPr>
        <p:spPr>
          <a:xfrm rot="0">
            <a:off x="8523386" y="4131766"/>
            <a:ext cx="4855666" cy="409575"/>
          </a:xfrm>
          <a:prstGeom prst="rect">
            <a:avLst/>
          </a:prstGeom>
        </p:spPr>
        <p:txBody>
          <a:bodyPr anchor="t" rtlCol="false" tIns="0" lIns="0" bIns="0" rIns="0">
            <a:spAutoFit/>
          </a:bodyPr>
          <a:lstStyle/>
          <a:p>
            <a:pPr algn="l">
              <a:lnSpc>
                <a:spcPts val="3374"/>
              </a:lnSpc>
            </a:pPr>
            <a:r>
              <a:rPr lang="en-US" sz="2687">
                <a:solidFill>
                  <a:srgbClr val="E2E6E9"/>
                </a:solidFill>
                <a:latin typeface="Muli Bold"/>
                <a:ea typeface="Muli Bold"/>
                <a:cs typeface="Muli Bold"/>
                <a:sym typeface="Muli Bold"/>
              </a:rPr>
              <a:t>Multi-Platform Support</a:t>
            </a:r>
          </a:p>
        </p:txBody>
      </p:sp>
      <p:sp>
        <p:nvSpPr>
          <p:cNvPr name="TextBox 18" id="18"/>
          <p:cNvSpPr txBox="true"/>
          <p:nvPr/>
        </p:nvSpPr>
        <p:spPr>
          <a:xfrm rot="0">
            <a:off x="8523386" y="4623941"/>
            <a:ext cx="8845749" cy="808627"/>
          </a:xfrm>
          <a:prstGeom prst="rect">
            <a:avLst/>
          </a:prstGeom>
        </p:spPr>
        <p:txBody>
          <a:bodyPr anchor="t" rtlCol="false" tIns="0" lIns="0" bIns="0" rIns="0">
            <a:spAutoFit/>
          </a:bodyPr>
          <a:lstStyle/>
          <a:p>
            <a:pPr algn="l">
              <a:lnSpc>
                <a:spcPts val="3367"/>
              </a:lnSpc>
            </a:pPr>
            <a:r>
              <a:rPr lang="en-US" sz="2049">
                <a:solidFill>
                  <a:srgbClr val="E2E6E9"/>
                </a:solidFill>
                <a:latin typeface="Muli Bold"/>
                <a:ea typeface="Muli Bold"/>
                <a:cs typeface="Muli Bold"/>
                <a:sym typeface="Muli Bold"/>
              </a:rPr>
              <a:t>It supports automated testing across desktop, web, and mobile applications, providing a versatile solution for diverse testing needs.</a:t>
            </a:r>
          </a:p>
        </p:txBody>
      </p:sp>
      <p:grpSp>
        <p:nvGrpSpPr>
          <p:cNvPr name="Group 19" id="19"/>
          <p:cNvGrpSpPr/>
          <p:nvPr/>
        </p:nvGrpSpPr>
        <p:grpSpPr>
          <a:xfrm rot="0">
            <a:off x="7772102" y="5899548"/>
            <a:ext cx="526405" cy="526405"/>
            <a:chOff x="0" y="0"/>
            <a:chExt cx="701873" cy="701873"/>
          </a:xfrm>
        </p:grpSpPr>
        <p:sp>
          <p:nvSpPr>
            <p:cNvPr name="Freeform 20" id="20"/>
            <p:cNvSpPr/>
            <p:nvPr/>
          </p:nvSpPr>
          <p:spPr>
            <a:xfrm flipH="false" flipV="false" rot="0">
              <a:off x="6350" y="6350"/>
              <a:ext cx="689229" cy="689229"/>
            </a:xfrm>
            <a:custGeom>
              <a:avLst/>
              <a:gdLst/>
              <a:ahLst/>
              <a:cxnLst/>
              <a:rect r="r" b="b" t="t" l="l"/>
              <a:pathLst>
                <a:path h="689229" w="689229">
                  <a:moveTo>
                    <a:pt x="0" y="128651"/>
                  </a:moveTo>
                  <a:cubicBezTo>
                    <a:pt x="0" y="57658"/>
                    <a:pt x="57658" y="0"/>
                    <a:pt x="128651" y="0"/>
                  </a:cubicBezTo>
                  <a:lnTo>
                    <a:pt x="560578" y="0"/>
                  </a:lnTo>
                  <a:cubicBezTo>
                    <a:pt x="631571" y="0"/>
                    <a:pt x="689229" y="57658"/>
                    <a:pt x="689229" y="128651"/>
                  </a:cubicBezTo>
                  <a:lnTo>
                    <a:pt x="689229" y="560578"/>
                  </a:lnTo>
                  <a:cubicBezTo>
                    <a:pt x="689229" y="631571"/>
                    <a:pt x="631571" y="689229"/>
                    <a:pt x="560578" y="689229"/>
                  </a:cubicBezTo>
                  <a:lnTo>
                    <a:pt x="128651" y="689229"/>
                  </a:lnTo>
                  <a:cubicBezTo>
                    <a:pt x="57658" y="689229"/>
                    <a:pt x="0" y="631571"/>
                    <a:pt x="0" y="560578"/>
                  </a:cubicBezTo>
                  <a:close/>
                </a:path>
              </a:pathLst>
            </a:custGeom>
            <a:solidFill>
              <a:srgbClr val="003180"/>
            </a:solidFill>
          </p:spPr>
        </p:sp>
        <p:sp>
          <p:nvSpPr>
            <p:cNvPr name="Freeform 21" id="21"/>
            <p:cNvSpPr/>
            <p:nvPr/>
          </p:nvSpPr>
          <p:spPr>
            <a:xfrm flipH="false" flipV="false" rot="0">
              <a:off x="0" y="0"/>
              <a:ext cx="701929" cy="701929"/>
            </a:xfrm>
            <a:custGeom>
              <a:avLst/>
              <a:gdLst/>
              <a:ahLst/>
              <a:cxnLst/>
              <a:rect r="r" b="b" t="t" l="l"/>
              <a:pathLst>
                <a:path h="701929" w="701929">
                  <a:moveTo>
                    <a:pt x="0" y="135001"/>
                  </a:moveTo>
                  <a:cubicBezTo>
                    <a:pt x="0" y="60452"/>
                    <a:pt x="60452" y="0"/>
                    <a:pt x="135001" y="0"/>
                  </a:cubicBezTo>
                  <a:lnTo>
                    <a:pt x="566928" y="0"/>
                  </a:lnTo>
                  <a:lnTo>
                    <a:pt x="566928" y="6350"/>
                  </a:lnTo>
                  <a:lnTo>
                    <a:pt x="566928" y="0"/>
                  </a:lnTo>
                  <a:cubicBezTo>
                    <a:pt x="641477" y="0"/>
                    <a:pt x="701929" y="60452"/>
                    <a:pt x="701929" y="135001"/>
                  </a:cubicBezTo>
                  <a:lnTo>
                    <a:pt x="695579" y="135001"/>
                  </a:lnTo>
                  <a:lnTo>
                    <a:pt x="701929" y="135001"/>
                  </a:lnTo>
                  <a:lnTo>
                    <a:pt x="701929" y="566928"/>
                  </a:lnTo>
                  <a:lnTo>
                    <a:pt x="695579" y="566928"/>
                  </a:lnTo>
                  <a:lnTo>
                    <a:pt x="701929" y="566928"/>
                  </a:lnTo>
                  <a:cubicBezTo>
                    <a:pt x="701929" y="641477"/>
                    <a:pt x="641477" y="701929"/>
                    <a:pt x="566928" y="701929"/>
                  </a:cubicBezTo>
                  <a:lnTo>
                    <a:pt x="566928" y="695579"/>
                  </a:lnTo>
                  <a:lnTo>
                    <a:pt x="566928" y="701929"/>
                  </a:lnTo>
                  <a:lnTo>
                    <a:pt x="135001" y="701929"/>
                  </a:lnTo>
                  <a:lnTo>
                    <a:pt x="135001" y="695579"/>
                  </a:lnTo>
                  <a:lnTo>
                    <a:pt x="135001" y="701929"/>
                  </a:lnTo>
                  <a:cubicBezTo>
                    <a:pt x="60452" y="701929"/>
                    <a:pt x="0" y="641477"/>
                    <a:pt x="0" y="566928"/>
                  </a:cubicBezTo>
                  <a:lnTo>
                    <a:pt x="0" y="135001"/>
                  </a:lnTo>
                  <a:lnTo>
                    <a:pt x="6350" y="135001"/>
                  </a:lnTo>
                  <a:lnTo>
                    <a:pt x="0" y="135001"/>
                  </a:lnTo>
                  <a:moveTo>
                    <a:pt x="12700" y="135001"/>
                  </a:moveTo>
                  <a:lnTo>
                    <a:pt x="12700" y="566928"/>
                  </a:lnTo>
                  <a:lnTo>
                    <a:pt x="6350" y="566928"/>
                  </a:lnTo>
                  <a:lnTo>
                    <a:pt x="12700" y="566928"/>
                  </a:lnTo>
                  <a:cubicBezTo>
                    <a:pt x="12700" y="634492"/>
                    <a:pt x="67437" y="689229"/>
                    <a:pt x="135001" y="689229"/>
                  </a:cubicBezTo>
                  <a:lnTo>
                    <a:pt x="566928" y="689229"/>
                  </a:lnTo>
                  <a:cubicBezTo>
                    <a:pt x="634492" y="689229"/>
                    <a:pt x="689229" y="634492"/>
                    <a:pt x="689229" y="566928"/>
                  </a:cubicBezTo>
                  <a:lnTo>
                    <a:pt x="689229" y="135001"/>
                  </a:lnTo>
                  <a:cubicBezTo>
                    <a:pt x="689229" y="67437"/>
                    <a:pt x="634365" y="12700"/>
                    <a:pt x="566928" y="12700"/>
                  </a:cubicBezTo>
                  <a:lnTo>
                    <a:pt x="135001" y="12700"/>
                  </a:lnTo>
                  <a:lnTo>
                    <a:pt x="135001" y="6350"/>
                  </a:lnTo>
                  <a:lnTo>
                    <a:pt x="135001" y="12700"/>
                  </a:lnTo>
                  <a:cubicBezTo>
                    <a:pt x="67437" y="12700"/>
                    <a:pt x="12700" y="67437"/>
                    <a:pt x="12700" y="135001"/>
                  </a:cubicBezTo>
                  <a:close/>
                </a:path>
              </a:pathLst>
            </a:custGeom>
            <a:solidFill>
              <a:srgbClr val="194A99"/>
            </a:solidFill>
          </p:spPr>
        </p:sp>
      </p:grpSp>
      <p:sp>
        <p:nvSpPr>
          <p:cNvPr name="TextBox 22" id="22"/>
          <p:cNvSpPr txBox="true"/>
          <p:nvPr/>
        </p:nvSpPr>
        <p:spPr>
          <a:xfrm rot="0">
            <a:off x="8523386" y="5937796"/>
            <a:ext cx="5428309" cy="409575"/>
          </a:xfrm>
          <a:prstGeom prst="rect">
            <a:avLst/>
          </a:prstGeom>
        </p:spPr>
        <p:txBody>
          <a:bodyPr anchor="t" rtlCol="false" tIns="0" lIns="0" bIns="0" rIns="0">
            <a:spAutoFit/>
          </a:bodyPr>
          <a:lstStyle/>
          <a:p>
            <a:pPr algn="l">
              <a:lnSpc>
                <a:spcPts val="3374"/>
              </a:lnSpc>
            </a:pPr>
            <a:r>
              <a:rPr lang="en-US" sz="2687">
                <a:solidFill>
                  <a:srgbClr val="E2E6E9"/>
                </a:solidFill>
                <a:latin typeface="Muli Bold"/>
                <a:ea typeface="Muli Bold"/>
                <a:cs typeface="Muli Bold"/>
                <a:sym typeface="Muli Bold"/>
              </a:rPr>
              <a:t>Advanced Object Recognition</a:t>
            </a:r>
          </a:p>
        </p:txBody>
      </p:sp>
      <p:sp>
        <p:nvSpPr>
          <p:cNvPr name="TextBox 23" id="23"/>
          <p:cNvSpPr txBox="true"/>
          <p:nvPr/>
        </p:nvSpPr>
        <p:spPr>
          <a:xfrm rot="0">
            <a:off x="8523386" y="6429970"/>
            <a:ext cx="8845749" cy="1227727"/>
          </a:xfrm>
          <a:prstGeom prst="rect">
            <a:avLst/>
          </a:prstGeom>
        </p:spPr>
        <p:txBody>
          <a:bodyPr anchor="t" rtlCol="false" tIns="0" lIns="0" bIns="0" rIns="0">
            <a:spAutoFit/>
          </a:bodyPr>
          <a:lstStyle/>
          <a:p>
            <a:pPr algn="l">
              <a:lnSpc>
                <a:spcPts val="3367"/>
              </a:lnSpc>
            </a:pPr>
            <a:r>
              <a:rPr lang="en-US" sz="2049">
                <a:solidFill>
                  <a:srgbClr val="E2E6E9"/>
                </a:solidFill>
                <a:latin typeface="Muli Bold"/>
                <a:ea typeface="Muli Bold"/>
                <a:cs typeface="Muli Bold"/>
                <a:sym typeface="Muli Bold"/>
              </a:rPr>
              <a:t>Its robust UI recognition engine ensures stable and precise identification of elements, minimizing flaky tests even on complex interfaces.</a:t>
            </a:r>
          </a:p>
        </p:txBody>
      </p:sp>
      <p:grpSp>
        <p:nvGrpSpPr>
          <p:cNvPr name="Group 24" id="24"/>
          <p:cNvGrpSpPr/>
          <p:nvPr/>
        </p:nvGrpSpPr>
        <p:grpSpPr>
          <a:xfrm rot="0">
            <a:off x="7772102" y="7705576"/>
            <a:ext cx="526405" cy="526405"/>
            <a:chOff x="0" y="0"/>
            <a:chExt cx="701873" cy="701873"/>
          </a:xfrm>
        </p:grpSpPr>
        <p:sp>
          <p:nvSpPr>
            <p:cNvPr name="Freeform 25" id="25"/>
            <p:cNvSpPr/>
            <p:nvPr/>
          </p:nvSpPr>
          <p:spPr>
            <a:xfrm flipH="false" flipV="false" rot="0">
              <a:off x="6350" y="6350"/>
              <a:ext cx="689229" cy="689229"/>
            </a:xfrm>
            <a:custGeom>
              <a:avLst/>
              <a:gdLst/>
              <a:ahLst/>
              <a:cxnLst/>
              <a:rect r="r" b="b" t="t" l="l"/>
              <a:pathLst>
                <a:path h="689229" w="689229">
                  <a:moveTo>
                    <a:pt x="0" y="128651"/>
                  </a:moveTo>
                  <a:cubicBezTo>
                    <a:pt x="0" y="57658"/>
                    <a:pt x="57658" y="0"/>
                    <a:pt x="128651" y="0"/>
                  </a:cubicBezTo>
                  <a:lnTo>
                    <a:pt x="560578" y="0"/>
                  </a:lnTo>
                  <a:cubicBezTo>
                    <a:pt x="631571" y="0"/>
                    <a:pt x="689229" y="57658"/>
                    <a:pt x="689229" y="128651"/>
                  </a:cubicBezTo>
                  <a:lnTo>
                    <a:pt x="689229" y="560578"/>
                  </a:lnTo>
                  <a:cubicBezTo>
                    <a:pt x="689229" y="631571"/>
                    <a:pt x="631571" y="689229"/>
                    <a:pt x="560578" y="689229"/>
                  </a:cubicBezTo>
                  <a:lnTo>
                    <a:pt x="128651" y="689229"/>
                  </a:lnTo>
                  <a:cubicBezTo>
                    <a:pt x="57658" y="689229"/>
                    <a:pt x="0" y="631571"/>
                    <a:pt x="0" y="560578"/>
                  </a:cubicBezTo>
                  <a:close/>
                </a:path>
              </a:pathLst>
            </a:custGeom>
            <a:solidFill>
              <a:srgbClr val="003180"/>
            </a:solidFill>
          </p:spPr>
        </p:sp>
        <p:sp>
          <p:nvSpPr>
            <p:cNvPr name="Freeform 26" id="26"/>
            <p:cNvSpPr/>
            <p:nvPr/>
          </p:nvSpPr>
          <p:spPr>
            <a:xfrm flipH="false" flipV="false" rot="0">
              <a:off x="0" y="0"/>
              <a:ext cx="701929" cy="701929"/>
            </a:xfrm>
            <a:custGeom>
              <a:avLst/>
              <a:gdLst/>
              <a:ahLst/>
              <a:cxnLst/>
              <a:rect r="r" b="b" t="t" l="l"/>
              <a:pathLst>
                <a:path h="701929" w="701929">
                  <a:moveTo>
                    <a:pt x="0" y="135001"/>
                  </a:moveTo>
                  <a:cubicBezTo>
                    <a:pt x="0" y="60452"/>
                    <a:pt x="60452" y="0"/>
                    <a:pt x="135001" y="0"/>
                  </a:cubicBezTo>
                  <a:lnTo>
                    <a:pt x="566928" y="0"/>
                  </a:lnTo>
                  <a:lnTo>
                    <a:pt x="566928" y="6350"/>
                  </a:lnTo>
                  <a:lnTo>
                    <a:pt x="566928" y="0"/>
                  </a:lnTo>
                  <a:cubicBezTo>
                    <a:pt x="641477" y="0"/>
                    <a:pt x="701929" y="60452"/>
                    <a:pt x="701929" y="135001"/>
                  </a:cubicBezTo>
                  <a:lnTo>
                    <a:pt x="695579" y="135001"/>
                  </a:lnTo>
                  <a:lnTo>
                    <a:pt x="701929" y="135001"/>
                  </a:lnTo>
                  <a:lnTo>
                    <a:pt x="701929" y="566928"/>
                  </a:lnTo>
                  <a:lnTo>
                    <a:pt x="695579" y="566928"/>
                  </a:lnTo>
                  <a:lnTo>
                    <a:pt x="701929" y="566928"/>
                  </a:lnTo>
                  <a:cubicBezTo>
                    <a:pt x="701929" y="641477"/>
                    <a:pt x="641477" y="701929"/>
                    <a:pt x="566928" y="701929"/>
                  </a:cubicBezTo>
                  <a:lnTo>
                    <a:pt x="566928" y="695579"/>
                  </a:lnTo>
                  <a:lnTo>
                    <a:pt x="566928" y="701929"/>
                  </a:lnTo>
                  <a:lnTo>
                    <a:pt x="135001" y="701929"/>
                  </a:lnTo>
                  <a:lnTo>
                    <a:pt x="135001" y="695579"/>
                  </a:lnTo>
                  <a:lnTo>
                    <a:pt x="135001" y="701929"/>
                  </a:lnTo>
                  <a:cubicBezTo>
                    <a:pt x="60452" y="701929"/>
                    <a:pt x="0" y="641477"/>
                    <a:pt x="0" y="566928"/>
                  </a:cubicBezTo>
                  <a:lnTo>
                    <a:pt x="0" y="135001"/>
                  </a:lnTo>
                  <a:lnTo>
                    <a:pt x="6350" y="135001"/>
                  </a:lnTo>
                  <a:lnTo>
                    <a:pt x="0" y="135001"/>
                  </a:lnTo>
                  <a:moveTo>
                    <a:pt x="12700" y="135001"/>
                  </a:moveTo>
                  <a:lnTo>
                    <a:pt x="12700" y="566928"/>
                  </a:lnTo>
                  <a:lnTo>
                    <a:pt x="6350" y="566928"/>
                  </a:lnTo>
                  <a:lnTo>
                    <a:pt x="12700" y="566928"/>
                  </a:lnTo>
                  <a:cubicBezTo>
                    <a:pt x="12700" y="634492"/>
                    <a:pt x="67437" y="689229"/>
                    <a:pt x="135001" y="689229"/>
                  </a:cubicBezTo>
                  <a:lnTo>
                    <a:pt x="566928" y="689229"/>
                  </a:lnTo>
                  <a:cubicBezTo>
                    <a:pt x="634492" y="689229"/>
                    <a:pt x="689229" y="634492"/>
                    <a:pt x="689229" y="566928"/>
                  </a:cubicBezTo>
                  <a:lnTo>
                    <a:pt x="689229" y="135001"/>
                  </a:lnTo>
                  <a:cubicBezTo>
                    <a:pt x="689229" y="67437"/>
                    <a:pt x="634365" y="12700"/>
                    <a:pt x="566928" y="12700"/>
                  </a:cubicBezTo>
                  <a:lnTo>
                    <a:pt x="135001" y="12700"/>
                  </a:lnTo>
                  <a:lnTo>
                    <a:pt x="135001" y="6350"/>
                  </a:lnTo>
                  <a:lnTo>
                    <a:pt x="135001" y="12700"/>
                  </a:lnTo>
                  <a:cubicBezTo>
                    <a:pt x="67437" y="12700"/>
                    <a:pt x="12700" y="67437"/>
                    <a:pt x="12700" y="135001"/>
                  </a:cubicBezTo>
                  <a:close/>
                </a:path>
              </a:pathLst>
            </a:custGeom>
            <a:solidFill>
              <a:srgbClr val="194A99"/>
            </a:solidFill>
          </p:spPr>
        </p:sp>
      </p:grpSp>
      <p:sp>
        <p:nvSpPr>
          <p:cNvPr name="TextBox 27" id="27"/>
          <p:cNvSpPr txBox="true"/>
          <p:nvPr/>
        </p:nvSpPr>
        <p:spPr>
          <a:xfrm rot="0">
            <a:off x="8523386" y="7743825"/>
            <a:ext cx="3825280" cy="409575"/>
          </a:xfrm>
          <a:prstGeom prst="rect">
            <a:avLst/>
          </a:prstGeom>
        </p:spPr>
        <p:txBody>
          <a:bodyPr anchor="t" rtlCol="false" tIns="0" lIns="0" bIns="0" rIns="0">
            <a:spAutoFit/>
          </a:bodyPr>
          <a:lstStyle/>
          <a:p>
            <a:pPr algn="l">
              <a:lnSpc>
                <a:spcPts val="3374"/>
              </a:lnSpc>
            </a:pPr>
            <a:r>
              <a:rPr lang="en-US" sz="2687">
                <a:solidFill>
                  <a:srgbClr val="E2E6E9"/>
                </a:solidFill>
                <a:latin typeface="Muli Bold"/>
                <a:ea typeface="Muli Bold"/>
                <a:cs typeface="Muli Bold"/>
                <a:sym typeface="Muli Bold"/>
              </a:rPr>
              <a:t>Seamless Integration</a:t>
            </a:r>
          </a:p>
        </p:txBody>
      </p:sp>
      <p:sp>
        <p:nvSpPr>
          <p:cNvPr name="TextBox 28" id="28"/>
          <p:cNvSpPr txBox="true"/>
          <p:nvPr/>
        </p:nvSpPr>
        <p:spPr>
          <a:xfrm rot="0">
            <a:off x="8523386" y="8236000"/>
            <a:ext cx="8845749" cy="1227727"/>
          </a:xfrm>
          <a:prstGeom prst="rect">
            <a:avLst/>
          </a:prstGeom>
        </p:spPr>
        <p:txBody>
          <a:bodyPr anchor="t" rtlCol="false" tIns="0" lIns="0" bIns="0" rIns="0">
            <a:spAutoFit/>
          </a:bodyPr>
          <a:lstStyle/>
          <a:p>
            <a:pPr algn="l">
              <a:lnSpc>
                <a:spcPts val="3367"/>
              </a:lnSpc>
            </a:pPr>
            <a:r>
              <a:rPr lang="en-US" sz="2049">
                <a:solidFill>
                  <a:srgbClr val="E2E6E9"/>
                </a:solidFill>
                <a:latin typeface="Muli Bold"/>
                <a:ea typeface="Muli Bold"/>
                <a:cs typeface="Muli Bold"/>
                <a:sym typeface="Muli Bold"/>
              </a:rPr>
              <a:t>Ranorex integrates well with CI/CD systems, defect management tools, and supports data-driven and BDD testing, streamlining the entire QA process.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DAGq4EN_nsE</dc:identifier>
  <dcterms:modified xsi:type="dcterms:W3CDTF">2011-08-01T06:04:30Z</dcterms:modified>
  <cp:revision>1</cp:revision>
  <dc:title>Ranorex Seminar - Group 9</dc:title>
</cp:coreProperties>
</file>