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5"/>
  </p:notesMasterIdLst>
  <p:sldIdLst>
    <p:sldId id="257" r:id="rId2"/>
    <p:sldId id="261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4" r:id="rId63"/>
    <p:sldId id="325" r:id="rId6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7" autoAdjust="0"/>
    <p:restoredTop sz="76529" autoAdjust="0"/>
  </p:normalViewPr>
  <p:slideViewPr>
    <p:cSldViewPr snapToGrid="0">
      <p:cViewPr varScale="1">
        <p:scale>
          <a:sx n="58" d="100"/>
          <a:sy n="58" d="100"/>
        </p:scale>
        <p:origin x="19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E1F6BF-2548-4FD6-B512-A7630070E332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71C56B-6A32-488A-9AAA-D84F3E36F6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9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640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9221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4778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i="0" dirty="0">
              <a:solidFill>
                <a:srgbClr val="000000"/>
              </a:solidFill>
              <a:effectLst/>
              <a:latin typeface="Roboto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528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2307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29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7702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145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6034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4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961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1749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7774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8008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99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1333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52363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endParaRPr lang="vi-VN" b="0" i="0" dirty="0">
              <a:solidFill>
                <a:srgbClr val="292B2C"/>
              </a:solidFill>
              <a:effectLst/>
              <a:latin typeface="Open San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9501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1230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9714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7713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6167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021840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652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84473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05347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69967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18750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24773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6632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2157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6196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07665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846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0906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83913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0525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3964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3425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04824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212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10438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439745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6069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71C56B-6A32-488A-9AAA-D84F3E36F6A6}" type="slidenum">
              <a:rPr lang="en-US" smtClean="0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389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62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98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216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04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084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6122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2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665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306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748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75F2DC-8A8E-4344-9628-C9B696DF965F}" type="datetimeFigureOut">
              <a:rPr lang="en-US" smtClean="0"/>
              <a:t>12/17/2021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30A57E-F2F8-4C62-AEF9-F1F94BF69B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774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STQB CTFL Agile Tester &#10; ">
            <a:extLst>
              <a:ext uri="{FF2B5EF4-FFF2-40B4-BE49-F238E27FC236}">
                <a16:creationId xmlns:a16="http://schemas.microsoft.com/office/drawing/2014/main" id="{22BAC825-723C-4B9D-A18D-0A368FF27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303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2856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Picture 2" descr="Outline &#10; Agile Software Development &#10; Fundamental Agile Testing Principles, Practices and Processes &#10; Agile Testing Me...">
            <a:extLst>
              <a:ext uri="{FF2B5EF4-FFF2-40B4-BE49-F238E27FC236}">
                <a16:creationId xmlns:a16="http://schemas.microsoft.com/office/drawing/2014/main" id="{429706B1-EC4B-4515-865A-135A2E7173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3266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2" descr="Agile Software Development &#10; The Fundamentals of Agile Software Development &#10; Aspects of Agile Approaches &#10;ISTQB CTFL Ag...">
            <a:extLst>
              <a:ext uri="{FF2B5EF4-FFF2-40B4-BE49-F238E27FC236}">
                <a16:creationId xmlns:a16="http://schemas.microsoft.com/office/drawing/2014/main" id="{00E49ED8-581C-407E-8C4B-DFEC3B6EF7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1457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2" descr="Learning Objectives &#10; FA-1.1.1 (K1) Recall the basic concept of Agile software development &#10;based on the Agile Manifesto ...">
            <a:extLst>
              <a:ext uri="{FF2B5EF4-FFF2-40B4-BE49-F238E27FC236}">
                <a16:creationId xmlns:a16="http://schemas.microsoft.com/office/drawing/2014/main" id="{5A76B9F0-E6AA-4109-BA10-4E7A4FE1A0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24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Agile Testers Work Differently &#10; Testers must understand the values and principles that underpin Agile &#10;projects. &#10; Test...">
            <a:extLst>
              <a:ext uri="{FF2B5EF4-FFF2-40B4-BE49-F238E27FC236}">
                <a16:creationId xmlns:a16="http://schemas.microsoft.com/office/drawing/2014/main" id="{A6951A62-5D12-405F-BEFA-63AC7AFC9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3858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B85D46-2321-4398-A349-BFC93857B0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631" y="0"/>
            <a:ext cx="84407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1821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Agile Principles &#10; From the manifesto, 12 guiding principles were created. &#10; They form the foundation on which all agile...">
            <a:extLst>
              <a:ext uri="{FF2B5EF4-FFF2-40B4-BE49-F238E27FC236}">
                <a16:creationId xmlns:a16="http://schemas.microsoft.com/office/drawing/2014/main" id="{61E3DDB8-B5BB-43B4-B9A8-FC59C6CFE6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Quản lý dự án theo phương pháp agile áp dụng tuyên ngôn agile">
            <a:extLst>
              <a:ext uri="{FF2B5EF4-FFF2-40B4-BE49-F238E27FC236}">
                <a16:creationId xmlns:a16="http://schemas.microsoft.com/office/drawing/2014/main" id="{A3DE1EDD-FC78-4382-B2A7-2DF62AA66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613" y="1349197"/>
            <a:ext cx="8224043" cy="5508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89234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Picture 2" descr="Whole Team Approach &#10; Involves everyone with the knowledge and skills necessary to ensure &#10;project success &#10; Includes cu...">
            <a:extLst>
              <a:ext uri="{FF2B5EF4-FFF2-40B4-BE49-F238E27FC236}">
                <a16:creationId xmlns:a16="http://schemas.microsoft.com/office/drawing/2014/main" id="{A98A3E13-090F-4042-8F06-188455D571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785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Whole Team should be Cross &#10;Functional &#10;ISTQB CTFL Agile Tester 15 November 17, 2014 &#10; ">
            <a:extLst>
              <a:ext uri="{FF2B5EF4-FFF2-40B4-BE49-F238E27FC236}">
                <a16:creationId xmlns:a16="http://schemas.microsoft.com/office/drawing/2014/main" id="{8EC427D9-4CAB-4A9E-A0EB-836B9BF03B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9119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2" descr="Power of 3 &#10; The whole team is involved in any consultations or meetings in which &#10;product features are presented, analyz...">
            <a:extLst>
              <a:ext uri="{FF2B5EF4-FFF2-40B4-BE49-F238E27FC236}">
                <a16:creationId xmlns:a16="http://schemas.microsoft.com/office/drawing/2014/main" id="{440C3B6B-68AC-45CA-8594-EEA33B2F2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1319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Why Whole Team Approach? &#10; Promotes more effective and efficient team dynamics &#10; Enhancing communication and collaborati...">
            <a:extLst>
              <a:ext uri="{FF2B5EF4-FFF2-40B4-BE49-F238E27FC236}">
                <a16:creationId xmlns:a16="http://schemas.microsoft.com/office/drawing/2014/main" id="{38CFD1FF-834E-4BAD-B1D3-3D43356C8B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7132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Example: Tester Work with Others to &#10;Achieve Desired Quality Levels &#10; Supporting and collaborating with business represen...">
            <a:extLst>
              <a:ext uri="{FF2B5EF4-FFF2-40B4-BE49-F238E27FC236}">
                <a16:creationId xmlns:a16="http://schemas.microsoft.com/office/drawing/2014/main" id="{E2DDA4EF-F6FF-4620-BD28-32506F73C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48976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 descr="Early and Frequent Feedback &#10;Iterations &#10;in Agile &#10;Projects &#10;Early &amp; &#10;Continuous &#10;Feedback &#10; Continuous integration is a ...">
            <a:extLst>
              <a:ext uri="{FF2B5EF4-FFF2-40B4-BE49-F238E27FC236}">
                <a16:creationId xmlns:a16="http://schemas.microsoft.com/office/drawing/2014/main" id="{4131990F-CD4B-4811-91C6-622365F3AE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822115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Agile vs. Sequential Waterfall &#10;ISTQB CTFL Agile Tester 20 November 17, 2014 &#10; ">
            <a:extLst>
              <a:ext uri="{FF2B5EF4-FFF2-40B4-BE49-F238E27FC236}">
                <a16:creationId xmlns:a16="http://schemas.microsoft.com/office/drawing/2014/main" id="{BA19C18E-9A11-418C-8065-F96EB6C62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5019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By Getting Frequent Customer &#10;Feedback, Agile Teams &#10; Can incorporate most new changes &#10; Focus on the features with the ...">
            <a:extLst>
              <a:ext uri="{FF2B5EF4-FFF2-40B4-BE49-F238E27FC236}">
                <a16:creationId xmlns:a16="http://schemas.microsoft.com/office/drawing/2014/main" id="{FB3CA184-DBC6-42AB-BEB2-90D5379759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0076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Early and Frequent Feedback Benefits &#10; Avoiding requirements misunderstandings, which may not have been &#10;detected until l...">
            <a:extLst>
              <a:ext uri="{FF2B5EF4-FFF2-40B4-BE49-F238E27FC236}">
                <a16:creationId xmlns:a16="http://schemas.microsoft.com/office/drawing/2014/main" id="{F2F08969-CAB4-4BEF-9B30-CCF0FED57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17327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Agile Software Development &#10; The Fundamentals of Agile Software Development &#10; Aspects of Agile Approaches &#10;ISTQB CTFL Ag...">
            <a:extLst>
              <a:ext uri="{FF2B5EF4-FFF2-40B4-BE49-F238E27FC236}">
                <a16:creationId xmlns:a16="http://schemas.microsoft.com/office/drawing/2014/main" id="{DDB267D5-3C1B-4511-BDCA-06B2FF07D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6029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Learning Objectives &#10; FA-1.2.1 (K1) Recall Agile software development approaches &#10; FA-1.2.2 (K3) Write testable user sto...">
            <a:extLst>
              <a:ext uri="{FF2B5EF4-FFF2-40B4-BE49-F238E27FC236}">
                <a16:creationId xmlns:a16="http://schemas.microsoft.com/office/drawing/2014/main" id="{94909A10-EEAE-4C2D-B4A7-B5063EC297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0432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Aspects of Agile Approaches &#10;(Methods) &#10;Collaborative &#10;User Story &#10;Creation &#10;Common &#10;Agile &#10;Practices &#10;Retrospectives &#10;Con...">
            <a:extLst>
              <a:ext uri="{FF2B5EF4-FFF2-40B4-BE49-F238E27FC236}">
                <a16:creationId xmlns:a16="http://schemas.microsoft.com/office/drawing/2014/main" id="{889DF29C-5560-4438-B5AF-4D7E106620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0073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An Agile Method is &#10;To Give &#10;Working &#10;SW &#10;Iterative &#10;and &#10;Incremental &#10;Cooperative &#10;Adaptive &#10;ISTQB CTFL Agile Tester 27 N...">
            <a:extLst>
              <a:ext uri="{FF2B5EF4-FFF2-40B4-BE49-F238E27FC236}">
                <a16:creationId xmlns:a16="http://schemas.microsoft.com/office/drawing/2014/main" id="{2B63E9C3-9E74-4E28-82DB-289123C0B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4318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An Agile Method is Not &#10; Compressing the project schedule &#10; Removing all existing SW development processes &#10; Throwing o...">
            <a:extLst>
              <a:ext uri="{FF2B5EF4-FFF2-40B4-BE49-F238E27FC236}">
                <a16:creationId xmlns:a16="http://schemas.microsoft.com/office/drawing/2014/main" id="{9A2D0C32-FA06-4B8D-B71A-C561AB7DA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3521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Mostly Used Agile Methods &#10; Scrum &#10; Extreme Programming (XP) &#10; Lean SW Development &#10; Kanban &#10; Dynamic System Developm...">
            <a:extLst>
              <a:ext uri="{FF2B5EF4-FFF2-40B4-BE49-F238E27FC236}">
                <a16:creationId xmlns:a16="http://schemas.microsoft.com/office/drawing/2014/main" id="{F3FE95D5-7191-4A5D-AEA9-B9FA9F9063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0280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xtreme Programming &#10; Introduced by Kent Beck to deliver a financial system in 2 years which &#10;previously had been undeliv...">
            <a:extLst>
              <a:ext uri="{FF2B5EF4-FFF2-40B4-BE49-F238E27FC236}">
                <a16:creationId xmlns:a16="http://schemas.microsoft.com/office/drawing/2014/main" id="{5B0AADAB-B98F-4C73-8BFA-1E4C22306F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958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XP 5 Values Guiding Development &#10;• Everyone is a part of the team. &#10;• Face to face and daily communication Communication &#10;...">
            <a:extLst>
              <a:ext uri="{FF2B5EF4-FFF2-40B4-BE49-F238E27FC236}">
                <a16:creationId xmlns:a16="http://schemas.microsoft.com/office/drawing/2014/main" id="{96E72441-F54F-4CC4-84C5-925335E24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04620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XP Rules &#10;Managing &#10;• Give the team a &#10;dedicated open work space. &#10;• Set a sustainable pace. &#10;• A stand up meeting starts ...">
            <a:extLst>
              <a:ext uri="{FF2B5EF4-FFF2-40B4-BE49-F238E27FC236}">
                <a16:creationId xmlns:a16="http://schemas.microsoft.com/office/drawing/2014/main" id="{51E275E2-3EC5-4FAF-9996-A9C6623CA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489887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XP Rules cont’d &#10;Designing &#10;• Simplicity &#10;• Choose a system metaphor. &#10;• Use CRC cards for design sessions. &#10;• Create spik...">
            <a:extLst>
              <a:ext uri="{FF2B5EF4-FFF2-40B4-BE49-F238E27FC236}">
                <a16:creationId xmlns:a16="http://schemas.microsoft.com/office/drawing/2014/main" id="{A6F39E48-F53A-4C05-AB5A-D52B1F0F3B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18520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XP Rules cont’d &#10;Testing &#10;• All code must have unit &#10;tests. &#10;• All code must pass all unit &#10;tests before it can &#10;be releas...">
            <a:extLst>
              <a:ext uri="{FF2B5EF4-FFF2-40B4-BE49-F238E27FC236}">
                <a16:creationId xmlns:a16="http://schemas.microsoft.com/office/drawing/2014/main" id="{9541D350-5F01-4AD5-A37A-90D160360E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8575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XP Project &#10;ISTQB CTFL Agile Tester 37 November 17, 2014 &#10; ">
            <a:extLst>
              <a:ext uri="{FF2B5EF4-FFF2-40B4-BE49-F238E27FC236}">
                <a16:creationId xmlns:a16="http://schemas.microsoft.com/office/drawing/2014/main" id="{74D0FF05-3CDF-407C-B97E-BD977BD16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42415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XP Iteration &#10;ISTQB CTFL Agile Tester 38 November 17, 2014 &#10; ">
            <a:extLst>
              <a:ext uri="{FF2B5EF4-FFF2-40B4-BE49-F238E27FC236}">
                <a16:creationId xmlns:a16="http://schemas.microsoft.com/office/drawing/2014/main" id="{73277440-0E38-40E9-835D-90A3587AE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9699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Picture 2" descr="XP Collective Ownership &#10;ISTQB CTFL Agile Tester 40 November 17, 2014 &#10; ">
            <a:extLst>
              <a:ext uri="{FF2B5EF4-FFF2-40B4-BE49-F238E27FC236}">
                <a16:creationId xmlns:a16="http://schemas.microsoft.com/office/drawing/2014/main" id="{3198F2DE-2BE4-4B1E-A2A9-65B310659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7600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Picture 2" descr="Scrum &#10; An iterative, incremental methodology for project management. &#10; Scrum (as opposed to XP) does not dictate specif...">
            <a:extLst>
              <a:ext uri="{FF2B5EF4-FFF2-40B4-BE49-F238E27FC236}">
                <a16:creationId xmlns:a16="http://schemas.microsoft.com/office/drawing/2014/main" id="{A02126F7-5F33-4A26-8E08-5ABC8607F0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75082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Picture 2" descr="Scrum cont’d &#10;ISTQB CTFL Agile Tester 42 November 17, 2014 &#10; ">
            <a:extLst>
              <a:ext uri="{FF2B5EF4-FFF2-40B4-BE49-F238E27FC236}">
                <a16:creationId xmlns:a16="http://schemas.microsoft.com/office/drawing/2014/main" id="{1FD201A5-AC2E-49B6-BF20-1C8307E73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84842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Picture 2" descr="Scrum Roles &#10;Product Owner &#10;• Represents &#10;customer &#10;• Product &#10;backlog &#10;owner &#10;• Not a team &#10;leader &#10;Scrum Master &#10;• Ensur...">
            <a:extLst>
              <a:ext uri="{FF2B5EF4-FFF2-40B4-BE49-F238E27FC236}">
                <a16:creationId xmlns:a16="http://schemas.microsoft.com/office/drawing/2014/main" id="{5BD55921-66BB-43AB-AF1C-79B6582B59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72895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Picture 2" descr="Kanban (Visual Card or Board) &#10; A management approach sometimes used in Agile projects &#10; In a value-added chain, Kanban ...">
            <a:extLst>
              <a:ext uri="{FF2B5EF4-FFF2-40B4-BE49-F238E27FC236}">
                <a16:creationId xmlns:a16="http://schemas.microsoft.com/office/drawing/2014/main" id="{3CD16A5E-0E7D-4F3A-9970-7050506D7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02586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26" name="Picture 2" descr="Kanban Board &#10; Each column shows a station (a set of related activities) &#10; Items to be produced or tasks to be processed...">
            <a:extLst>
              <a:ext uri="{FF2B5EF4-FFF2-40B4-BE49-F238E27FC236}">
                <a16:creationId xmlns:a16="http://schemas.microsoft.com/office/drawing/2014/main" id="{7DCCDF98-6C81-4AC9-98D0-010297F597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32608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 descr="Work-in-Progress Limit and Lead Time &#10; WIP limit is a limit of parallel activities controlled by max number of &#10;tickets a...">
            <a:extLst>
              <a:ext uri="{FF2B5EF4-FFF2-40B4-BE49-F238E27FC236}">
                <a16:creationId xmlns:a16="http://schemas.microsoft.com/office/drawing/2014/main" id="{4E46688F-5C73-4416-B313-B90E1F9AC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89810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 descr="Kanban vs. Scrum &#10; In both, visualizing active tasks provides transparency of content and &#10;progress of tasks. &#10; Tasks no...">
            <a:extLst>
              <a:ext uri="{FF2B5EF4-FFF2-40B4-BE49-F238E27FC236}">
                <a16:creationId xmlns:a16="http://schemas.microsoft.com/office/drawing/2014/main" id="{4D9D1D82-E6BC-465A-B6A0-8FB723D98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360094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754" name="Picture 2" descr="Poor Specifications &#10; A major reason for project failure &#10; They result from users’ lack of &#10;insight into their true need...">
            <a:extLst>
              <a:ext uri="{FF2B5EF4-FFF2-40B4-BE49-F238E27FC236}">
                <a16:creationId xmlns:a16="http://schemas.microsoft.com/office/drawing/2014/main" id="{87AA2EAF-4B1C-4785-985A-AB7BF5287A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013410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730" name="Picture 2" descr="Power of 3 is Achieved by &#10;In Sequential Development &#10; By formal reviews &#10; After requirements are written &#10;In Agile Deve...">
            <a:extLst>
              <a:ext uri="{FF2B5EF4-FFF2-40B4-BE49-F238E27FC236}">
                <a16:creationId xmlns:a16="http://schemas.microsoft.com/office/drawing/2014/main" id="{6A49A3D1-D9EE-4A71-8143-DD9138ECD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286378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Picture 2" descr="User Stories &#10; Document minimal requirements &#10; Functional &amp; non-functional &#10; Should include acceptance &#10;criteria define...">
            <a:extLst>
              <a:ext uri="{FF2B5EF4-FFF2-40B4-BE49-F238E27FC236}">
                <a16:creationId xmlns:a16="http://schemas.microsoft.com/office/drawing/2014/main" id="{3A24077D-90DD-40C9-BFF7-A239503E96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141886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Picture 2" descr="Testers Improve User Stories &#10; Identifying missing details or non-functional requirements &#10; Asking business representati...">
            <a:extLst>
              <a:ext uri="{FF2B5EF4-FFF2-40B4-BE49-F238E27FC236}">
                <a16:creationId xmlns:a16="http://schemas.microsoft.com/office/drawing/2014/main" id="{425156E1-B516-4FFE-BD9E-B95A8F7DFA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2431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Picture 2" descr="INVEST &#10; Created by Bill Wake as a reminder of the characteristics of a good quality &#10;user story. &#10;ISTQB CTFL Agile Teste...">
            <a:extLst>
              <a:ext uri="{FF2B5EF4-FFF2-40B4-BE49-F238E27FC236}">
                <a16:creationId xmlns:a16="http://schemas.microsoft.com/office/drawing/2014/main" id="{B43B4AEC-21C4-4F04-8C8F-588B2269A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884825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Picture 2" descr="Retrospective &#10; A meeting held at the end of each &#10;iteration/increment &#10; To discuss: &#10; What went well? &#10; What can be i...">
            <a:extLst>
              <a:ext uri="{FF2B5EF4-FFF2-40B4-BE49-F238E27FC236}">
                <a16:creationId xmlns:a16="http://schemas.microsoft.com/office/drawing/2014/main" id="{B9163B71-240E-474B-AC80-526C5AEEA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50205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610" name="Picture 2" descr="Too Many to Improve &#10; Retrospectives can improve test effectiveness, test efficiency, test cases &#10;quality and team satisf...">
            <a:extLst>
              <a:ext uri="{FF2B5EF4-FFF2-40B4-BE49-F238E27FC236}">
                <a16:creationId xmlns:a16="http://schemas.microsoft.com/office/drawing/2014/main" id="{40B7992D-AE9A-4297-A86A-29ACE8F642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709326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2" descr="Retrospective Organization &#10; Agile method dependent &#10; Attended by team (testers are part of team) + business representat...">
            <a:extLst>
              <a:ext uri="{FF2B5EF4-FFF2-40B4-BE49-F238E27FC236}">
                <a16:creationId xmlns:a16="http://schemas.microsoft.com/office/drawing/2014/main" id="{0709706A-B4AF-4073-B0A0-346D947D43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629126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562" name="Picture 2" descr="Retrospective KSF’s &#10; All participants can provide input on any activity &#10; An agreement must be done when anything can b...">
            <a:extLst>
              <a:ext uri="{FF2B5EF4-FFF2-40B4-BE49-F238E27FC236}">
                <a16:creationId xmlns:a16="http://schemas.microsoft.com/office/drawing/2014/main" id="{B626B095-26BA-4829-8781-28D571674A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400192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38" name="Picture 2" descr="Need for Continuous Integration (CI) &#10; Delivery of a product increment requires reliable, working, integrated SW &#10;at the ...">
            <a:extLst>
              <a:ext uri="{FF2B5EF4-FFF2-40B4-BE49-F238E27FC236}">
                <a16:creationId xmlns:a16="http://schemas.microsoft.com/office/drawing/2014/main" id="{78818BE4-CD06-45F8-8FCB-795C9B734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98979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14" name="Picture 2" descr="CI Activities (Automated and Daily) &#10;Static Code Analysis &#10;Compile &#10;Unit Test &#10;Deploy &#10;Integrate Test &#10;Report &#10;ISTQB CTFL ...">
            <a:extLst>
              <a:ext uri="{FF2B5EF4-FFF2-40B4-BE49-F238E27FC236}">
                <a16:creationId xmlns:a16="http://schemas.microsoft.com/office/drawing/2014/main" id="{FFA503EB-C032-4E33-87BD-0D5A5D73C7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69193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2" descr="Good CI &#10; Allows Agile testers to run automated tests regularly to send quicker &#10;feedback about code quality to team &#10; V...">
            <a:extLst>
              <a:ext uri="{FF2B5EF4-FFF2-40B4-BE49-F238E27FC236}">
                <a16:creationId xmlns:a16="http://schemas.microsoft.com/office/drawing/2014/main" id="{D7D7CF07-0717-467F-94F8-BEDB151EF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382414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66" name="Picture 2" descr="CI Needs Build Tools &#10; To run unit and integration tests &#10; To run additional static and dynamic tests &#10; To measure and ...">
            <a:extLst>
              <a:ext uri="{FF2B5EF4-FFF2-40B4-BE49-F238E27FC236}">
                <a16:creationId xmlns:a16="http://schemas.microsoft.com/office/drawing/2014/main" id="{8266E5D3-7D85-4C80-AD77-794B2DA23A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45784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42" name="Picture 2" descr="CI Needs Build Tools cont’d &#10; Can be linked to automatic &#10;deployment tools (can fetch build &#10;from CI/build server and dep...">
            <a:extLst>
              <a:ext uri="{FF2B5EF4-FFF2-40B4-BE49-F238E27FC236}">
                <a16:creationId xmlns:a16="http://schemas.microsoft.com/office/drawing/2014/main" id="{17E13330-3F27-440B-B86C-D8930425CD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91252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CI Benefits &#10; Earlier detection and easier RCA of integration problems and conflicting &#10;changes &#10; Regular and quick feed...">
            <a:extLst>
              <a:ext uri="{FF2B5EF4-FFF2-40B4-BE49-F238E27FC236}">
                <a16:creationId xmlns:a16="http://schemas.microsoft.com/office/drawing/2014/main" id="{3A81DE4B-CE41-4D67-B1CC-ABF7DEDEA0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86180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4" name="Picture 2" descr="CI Risks and Challenges &#10; CI tools have to be introduced and maintained. &#10; CI process must be defined and established. &#10;...">
            <a:extLst>
              <a:ext uri="{FF2B5EF4-FFF2-40B4-BE49-F238E27FC236}">
                <a16:creationId xmlns:a16="http://schemas.microsoft.com/office/drawing/2014/main" id="{67D9DFAD-789D-4459-BFBB-7E1DDA4A8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521220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2" descr="CI Tools &#10; Testing tools, build automation tools and version control tools &#10;ISTQB CTFL Agile Tester 65 November 17, 2014 &#10; ">
            <a:extLst>
              <a:ext uri="{FF2B5EF4-FFF2-40B4-BE49-F238E27FC236}">
                <a16:creationId xmlns:a16="http://schemas.microsoft.com/office/drawing/2014/main" id="{8721211E-C95C-4006-A71D-A4531E092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547814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6" name="Picture 2" descr="Agile Planning &#10; Planning in ongoing &#10; In Agile lifecycles, there are 2 types of planning: &#10; Release planning &#10; Iterat...">
            <a:extLst>
              <a:ext uri="{FF2B5EF4-FFF2-40B4-BE49-F238E27FC236}">
                <a16:creationId xmlns:a16="http://schemas.microsoft.com/office/drawing/2014/main" id="{F0723F06-7845-46C9-85E9-9014225290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5677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22" name="Picture 2" descr="Release Planning &#10; Looks ahead to the release of a product &#10; Often a few months ahead of the start of a project &#10; Defin...">
            <a:extLst>
              <a:ext uri="{FF2B5EF4-FFF2-40B4-BE49-F238E27FC236}">
                <a16:creationId xmlns:a16="http://schemas.microsoft.com/office/drawing/2014/main" id="{675AEFA5-4252-462F-B53B-898FC96761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42264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8" name="Picture 2" descr="Testers in Release Planning &#10; Defining testable user stories, including acceptance criteria &#10; Participating in project a...">
            <a:extLst>
              <a:ext uri="{FF2B5EF4-FFF2-40B4-BE49-F238E27FC236}">
                <a16:creationId xmlns:a16="http://schemas.microsoft.com/office/drawing/2014/main" id="{B0EA6626-FE4A-4499-9297-7942401F5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455272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2" descr="Iteration Planning &#10; After release planning for iteration 1 &#10; Looks ahead to an iteration end and concerned with iterati...">
            <a:extLst>
              <a:ext uri="{FF2B5EF4-FFF2-40B4-BE49-F238E27FC236}">
                <a16:creationId xmlns:a16="http://schemas.microsoft.com/office/drawing/2014/main" id="{B4C8FD8D-A660-4815-89EB-85BBAB4004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0815622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50" name="Picture 2" descr="Testers in Iteration Planning &#10; Participating in the detailed risk analysis of user stories &#10; Determining the testabilit...">
            <a:extLst>
              <a:ext uri="{FF2B5EF4-FFF2-40B4-BE49-F238E27FC236}">
                <a16:creationId xmlns:a16="http://schemas.microsoft.com/office/drawing/2014/main" id="{17102813-9724-47E0-8532-0C29480979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54400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2" descr="Release and Iteration Planning &#10;Address Test Planning &#10; Testing scope (extent of testing and test goals) &#10; The team memb...">
            <a:extLst>
              <a:ext uri="{FF2B5EF4-FFF2-40B4-BE49-F238E27FC236}">
                <a16:creationId xmlns:a16="http://schemas.microsoft.com/office/drawing/2014/main" id="{D8BC9962-53C4-4AF1-B2A7-EA7C3C3D82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985982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2" descr="Re-Planning Releases and Iterations &#10; Releases and iterations may change (adaptability). &#10; Release re-planning changes d...">
            <a:extLst>
              <a:ext uri="{FF2B5EF4-FFF2-40B4-BE49-F238E27FC236}">
                <a16:creationId xmlns:a16="http://schemas.microsoft.com/office/drawing/2014/main" id="{0EC58C8B-91EB-424E-8345-062DFF54AC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2886877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78" name="Picture 2" descr="Re-Planning Challenges Testers &#10; Understanding the big picture of a release for test planning purposes &#10; Having adequate...">
            <a:extLst>
              <a:ext uri="{FF2B5EF4-FFF2-40B4-BE49-F238E27FC236}">
                <a16:creationId xmlns:a16="http://schemas.microsoft.com/office/drawing/2014/main" id="{761EE866-A39D-49F3-B8D7-8B54BE9D7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48926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Summary &#10; The Fundamentals of Agile Software Development &#10; Aspects of Agile Approaches &#10;ISTQB CTFL Agile Tester 74 Novem...">
            <a:extLst>
              <a:ext uri="{FF2B5EF4-FFF2-40B4-BE49-F238E27FC236}">
                <a16:creationId xmlns:a16="http://schemas.microsoft.com/office/drawing/2014/main" id="{F5015988-4DEE-48CC-AD8E-C24F9B22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00314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1036</TotalTime>
  <Words>45</Words>
  <Application>Microsoft Office PowerPoint</Application>
  <PresentationFormat>On-screen Show (4:3)</PresentationFormat>
  <Paragraphs>45</Paragraphs>
  <Slides>63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Arial</vt:lpstr>
      <vt:lpstr>Calibri</vt:lpstr>
      <vt:lpstr>Calibri Light</vt:lpstr>
      <vt:lpstr>Open Sans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Pham Duc Thang (FE FPTU HN)</dc:creator>
  <cp:lastModifiedBy>Pham Duc Thang (FE FPTU HN)</cp:lastModifiedBy>
  <cp:revision>44</cp:revision>
  <dcterms:created xsi:type="dcterms:W3CDTF">2021-03-17T14:27:09Z</dcterms:created>
  <dcterms:modified xsi:type="dcterms:W3CDTF">2021-12-17T03:35:15Z</dcterms:modified>
</cp:coreProperties>
</file>