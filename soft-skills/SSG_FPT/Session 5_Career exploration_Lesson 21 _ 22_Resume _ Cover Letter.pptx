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4" r:id="rId1"/>
    <p:sldMasterId id="2147483669" r:id="rId2"/>
  </p:sldMasterIdLst>
  <p:notesMasterIdLst>
    <p:notesMasterId r:id="rId34"/>
  </p:notesMasterIdLst>
  <p:sldIdLst>
    <p:sldId id="256" r:id="rId3"/>
    <p:sldId id="319" r:id="rId4"/>
    <p:sldId id="320" r:id="rId5"/>
    <p:sldId id="322" r:id="rId6"/>
    <p:sldId id="311" r:id="rId7"/>
    <p:sldId id="312" r:id="rId8"/>
    <p:sldId id="313" r:id="rId9"/>
    <p:sldId id="314" r:id="rId10"/>
    <p:sldId id="323" r:id="rId11"/>
    <p:sldId id="324" r:id="rId12"/>
    <p:sldId id="325" r:id="rId13"/>
    <p:sldId id="326" r:id="rId14"/>
    <p:sldId id="315" r:id="rId15"/>
    <p:sldId id="317" r:id="rId16"/>
    <p:sldId id="316" r:id="rId17"/>
    <p:sldId id="318" r:id="rId18"/>
    <p:sldId id="327" r:id="rId19"/>
    <p:sldId id="328" r:id="rId20"/>
    <p:sldId id="329" r:id="rId21"/>
    <p:sldId id="330" r:id="rId22"/>
    <p:sldId id="331" r:id="rId23"/>
    <p:sldId id="332" r:id="rId24"/>
    <p:sldId id="333" r:id="rId25"/>
    <p:sldId id="334" r:id="rId26"/>
    <p:sldId id="336" r:id="rId27"/>
    <p:sldId id="337" r:id="rId28"/>
    <p:sldId id="338" r:id="rId29"/>
    <p:sldId id="339" r:id="rId30"/>
    <p:sldId id="340" r:id="rId31"/>
    <p:sldId id="341" r:id="rId32"/>
    <p:sldId id="27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382984-83AB-4641-1882-CD06EBA62950}" v="2" dt="2022-05-31T13:02:22.165"/>
    <p1510:client id="{8CB00519-4709-66D8-F21E-9F04EEE99E24}" v="40" dt="2022-05-31T12:09:35.113"/>
    <p1510:client id="{D49E9F33-EC59-67A5-EDC1-5E4ED1CCE873}" v="476" dt="2022-05-31T13:00:05.705"/>
    <p1510:client id="{F72064C2-59D8-683D-58CC-010C288FDB70}" v="4" dt="2022-05-28T14:55:32.082"/>
    <p1510:client id="{FC72A366-A6EE-7D76-A432-0E8FE9A51E81}" v="171" dt="2022-05-28T12:31:13.1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88" autoAdjust="0"/>
    <p:restoredTop sz="94660"/>
  </p:normalViewPr>
  <p:slideViewPr>
    <p:cSldViewPr snapToGrid="0">
      <p:cViewPr varScale="1">
        <p:scale>
          <a:sx n="71" d="100"/>
          <a:sy n="71" d="100"/>
        </p:scale>
        <p:origin x="9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85379C-07B9-4977-B745-5AA4B77D8BE7}"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9B7B2633-0728-4A00-AF25-7C8DEA0C83C0}">
      <dgm:prSet/>
      <dgm:spPr/>
      <dgm:t>
        <a:bodyPr/>
        <a:lstStyle/>
        <a:p>
          <a:r>
            <a:rPr lang="en-US"/>
            <a:t>Attention </a:t>
          </a:r>
        </a:p>
      </dgm:t>
    </dgm:pt>
    <dgm:pt modelId="{3565558B-D7B5-4511-89F2-CFFEFDA86EFE}" type="parTrans" cxnId="{DC4BBC83-DE8C-4889-A979-7E30D2001752}">
      <dgm:prSet/>
      <dgm:spPr/>
      <dgm:t>
        <a:bodyPr/>
        <a:lstStyle/>
        <a:p>
          <a:endParaRPr lang="en-US"/>
        </a:p>
      </dgm:t>
    </dgm:pt>
    <dgm:pt modelId="{444CD6CD-A130-46AD-9DE9-14F2882C668D}" type="sibTrans" cxnId="{DC4BBC83-DE8C-4889-A979-7E30D2001752}">
      <dgm:prSet/>
      <dgm:spPr/>
      <dgm:t>
        <a:bodyPr/>
        <a:lstStyle/>
        <a:p>
          <a:endParaRPr lang="en-US"/>
        </a:p>
      </dgm:t>
    </dgm:pt>
    <dgm:pt modelId="{2A0016BD-8E8B-4742-99B8-E76E9F9A75F0}">
      <dgm:prSet/>
      <dgm:spPr/>
      <dgm:t>
        <a:bodyPr/>
        <a:lstStyle/>
        <a:p>
          <a:r>
            <a:rPr lang="en-US"/>
            <a:t>Interest </a:t>
          </a:r>
        </a:p>
      </dgm:t>
    </dgm:pt>
    <dgm:pt modelId="{FA1599A3-2775-4C01-8573-6F13A5014CDD}" type="parTrans" cxnId="{F731FB03-3ED9-4077-A4F4-531432AC5006}">
      <dgm:prSet/>
      <dgm:spPr/>
      <dgm:t>
        <a:bodyPr/>
        <a:lstStyle/>
        <a:p>
          <a:endParaRPr lang="en-US"/>
        </a:p>
      </dgm:t>
    </dgm:pt>
    <dgm:pt modelId="{8A5EBAF5-2480-4D98-A738-2B9470D671A4}" type="sibTrans" cxnId="{F731FB03-3ED9-4077-A4F4-531432AC5006}">
      <dgm:prSet/>
      <dgm:spPr/>
      <dgm:t>
        <a:bodyPr/>
        <a:lstStyle/>
        <a:p>
          <a:endParaRPr lang="en-US"/>
        </a:p>
      </dgm:t>
    </dgm:pt>
    <dgm:pt modelId="{57867DEA-83EB-497C-835E-D365AEAFCE24}">
      <dgm:prSet/>
      <dgm:spPr/>
      <dgm:t>
        <a:bodyPr/>
        <a:lstStyle/>
        <a:p>
          <a:r>
            <a:rPr lang="en-US"/>
            <a:t>Desire </a:t>
          </a:r>
        </a:p>
      </dgm:t>
    </dgm:pt>
    <dgm:pt modelId="{DED7C9E8-2EFF-43D7-8931-9FAEEB407196}" type="parTrans" cxnId="{3E8F8578-D48D-4ADA-AB1D-EFED669DA005}">
      <dgm:prSet/>
      <dgm:spPr/>
      <dgm:t>
        <a:bodyPr/>
        <a:lstStyle/>
        <a:p>
          <a:endParaRPr lang="en-US"/>
        </a:p>
      </dgm:t>
    </dgm:pt>
    <dgm:pt modelId="{10573A5F-BC14-4191-BCB3-A7D8335DF58D}" type="sibTrans" cxnId="{3E8F8578-D48D-4ADA-AB1D-EFED669DA005}">
      <dgm:prSet/>
      <dgm:spPr/>
      <dgm:t>
        <a:bodyPr/>
        <a:lstStyle/>
        <a:p>
          <a:endParaRPr lang="en-US"/>
        </a:p>
      </dgm:t>
    </dgm:pt>
    <dgm:pt modelId="{08C4C9C5-6F5A-4D91-9492-BC69FE6BC1AE}">
      <dgm:prSet/>
      <dgm:spPr/>
      <dgm:t>
        <a:bodyPr/>
        <a:lstStyle/>
        <a:p>
          <a:r>
            <a:rPr lang="en-US"/>
            <a:t>Action </a:t>
          </a:r>
        </a:p>
      </dgm:t>
    </dgm:pt>
    <dgm:pt modelId="{836C57EC-4BFD-4CB3-8034-C46C3A72D429}" type="parTrans" cxnId="{023CA0A5-4D90-4F37-B8A7-18CB11FB330D}">
      <dgm:prSet/>
      <dgm:spPr/>
      <dgm:t>
        <a:bodyPr/>
        <a:lstStyle/>
        <a:p>
          <a:endParaRPr lang="en-US"/>
        </a:p>
      </dgm:t>
    </dgm:pt>
    <dgm:pt modelId="{EF7D8182-FB09-4AF8-825C-460365C3AA39}" type="sibTrans" cxnId="{023CA0A5-4D90-4F37-B8A7-18CB11FB330D}">
      <dgm:prSet/>
      <dgm:spPr/>
      <dgm:t>
        <a:bodyPr/>
        <a:lstStyle/>
        <a:p>
          <a:endParaRPr lang="en-US"/>
        </a:p>
      </dgm:t>
    </dgm:pt>
    <dgm:pt modelId="{793AD563-0EE2-47EC-B9EE-F23C730C6FD7}" type="pres">
      <dgm:prSet presAssocID="{7385379C-07B9-4977-B745-5AA4B77D8BE7}" presName="matrix" presStyleCnt="0">
        <dgm:presLayoutVars>
          <dgm:chMax val="1"/>
          <dgm:dir/>
          <dgm:resizeHandles val="exact"/>
        </dgm:presLayoutVars>
      </dgm:prSet>
      <dgm:spPr/>
    </dgm:pt>
    <dgm:pt modelId="{535E34C8-5BE9-460A-BF7E-0121B548A54D}" type="pres">
      <dgm:prSet presAssocID="{7385379C-07B9-4977-B745-5AA4B77D8BE7}" presName="diamond" presStyleLbl="bgShp" presStyleIdx="0" presStyleCnt="1"/>
      <dgm:spPr/>
    </dgm:pt>
    <dgm:pt modelId="{1D198889-9266-44D0-A4D4-68341F6726A3}" type="pres">
      <dgm:prSet presAssocID="{7385379C-07B9-4977-B745-5AA4B77D8BE7}" presName="quad1" presStyleLbl="node1" presStyleIdx="0" presStyleCnt="4">
        <dgm:presLayoutVars>
          <dgm:chMax val="0"/>
          <dgm:chPref val="0"/>
          <dgm:bulletEnabled val="1"/>
        </dgm:presLayoutVars>
      </dgm:prSet>
      <dgm:spPr/>
    </dgm:pt>
    <dgm:pt modelId="{EFC071AF-05C2-462F-9AD6-83957E58E738}" type="pres">
      <dgm:prSet presAssocID="{7385379C-07B9-4977-B745-5AA4B77D8BE7}" presName="quad2" presStyleLbl="node1" presStyleIdx="1" presStyleCnt="4">
        <dgm:presLayoutVars>
          <dgm:chMax val="0"/>
          <dgm:chPref val="0"/>
          <dgm:bulletEnabled val="1"/>
        </dgm:presLayoutVars>
      </dgm:prSet>
      <dgm:spPr/>
    </dgm:pt>
    <dgm:pt modelId="{4E540D05-E146-4861-976C-E99330CBBE20}" type="pres">
      <dgm:prSet presAssocID="{7385379C-07B9-4977-B745-5AA4B77D8BE7}" presName="quad3" presStyleLbl="node1" presStyleIdx="2" presStyleCnt="4">
        <dgm:presLayoutVars>
          <dgm:chMax val="0"/>
          <dgm:chPref val="0"/>
          <dgm:bulletEnabled val="1"/>
        </dgm:presLayoutVars>
      </dgm:prSet>
      <dgm:spPr/>
    </dgm:pt>
    <dgm:pt modelId="{D822FAB7-AEED-40EB-905F-78A6F7247A19}" type="pres">
      <dgm:prSet presAssocID="{7385379C-07B9-4977-B745-5AA4B77D8BE7}" presName="quad4" presStyleLbl="node1" presStyleIdx="3" presStyleCnt="4">
        <dgm:presLayoutVars>
          <dgm:chMax val="0"/>
          <dgm:chPref val="0"/>
          <dgm:bulletEnabled val="1"/>
        </dgm:presLayoutVars>
      </dgm:prSet>
      <dgm:spPr/>
    </dgm:pt>
  </dgm:ptLst>
  <dgm:cxnLst>
    <dgm:cxn modelId="{F731FB03-3ED9-4077-A4F4-531432AC5006}" srcId="{7385379C-07B9-4977-B745-5AA4B77D8BE7}" destId="{2A0016BD-8E8B-4742-99B8-E76E9F9A75F0}" srcOrd="1" destOrd="0" parTransId="{FA1599A3-2775-4C01-8573-6F13A5014CDD}" sibTransId="{8A5EBAF5-2480-4D98-A738-2B9470D671A4}"/>
    <dgm:cxn modelId="{237CA914-2235-4D79-B088-CE4962B5AEDB}" type="presOf" srcId="{57867DEA-83EB-497C-835E-D365AEAFCE24}" destId="{4E540D05-E146-4861-976C-E99330CBBE20}" srcOrd="0" destOrd="0" presId="urn:microsoft.com/office/officeart/2005/8/layout/matrix3"/>
    <dgm:cxn modelId="{44202878-6885-4980-AF4D-3D193CCC7219}" type="presOf" srcId="{9B7B2633-0728-4A00-AF25-7C8DEA0C83C0}" destId="{1D198889-9266-44D0-A4D4-68341F6726A3}" srcOrd="0" destOrd="0" presId="urn:microsoft.com/office/officeart/2005/8/layout/matrix3"/>
    <dgm:cxn modelId="{3E8F8578-D48D-4ADA-AB1D-EFED669DA005}" srcId="{7385379C-07B9-4977-B745-5AA4B77D8BE7}" destId="{57867DEA-83EB-497C-835E-D365AEAFCE24}" srcOrd="2" destOrd="0" parTransId="{DED7C9E8-2EFF-43D7-8931-9FAEEB407196}" sibTransId="{10573A5F-BC14-4191-BCB3-A7D8335DF58D}"/>
    <dgm:cxn modelId="{DC4BBC83-DE8C-4889-A979-7E30D2001752}" srcId="{7385379C-07B9-4977-B745-5AA4B77D8BE7}" destId="{9B7B2633-0728-4A00-AF25-7C8DEA0C83C0}" srcOrd="0" destOrd="0" parTransId="{3565558B-D7B5-4511-89F2-CFFEFDA86EFE}" sibTransId="{444CD6CD-A130-46AD-9DE9-14F2882C668D}"/>
    <dgm:cxn modelId="{023CA0A5-4D90-4F37-B8A7-18CB11FB330D}" srcId="{7385379C-07B9-4977-B745-5AA4B77D8BE7}" destId="{08C4C9C5-6F5A-4D91-9492-BC69FE6BC1AE}" srcOrd="3" destOrd="0" parTransId="{836C57EC-4BFD-4CB3-8034-C46C3A72D429}" sibTransId="{EF7D8182-FB09-4AF8-825C-460365C3AA39}"/>
    <dgm:cxn modelId="{711AA7BF-118B-497A-9585-1C19A50D5739}" type="presOf" srcId="{08C4C9C5-6F5A-4D91-9492-BC69FE6BC1AE}" destId="{D822FAB7-AEED-40EB-905F-78A6F7247A19}" srcOrd="0" destOrd="0" presId="urn:microsoft.com/office/officeart/2005/8/layout/matrix3"/>
    <dgm:cxn modelId="{D68F78C1-2F55-4DFE-B49A-C77DFF581810}" type="presOf" srcId="{2A0016BD-8E8B-4742-99B8-E76E9F9A75F0}" destId="{EFC071AF-05C2-462F-9AD6-83957E58E738}" srcOrd="0" destOrd="0" presId="urn:microsoft.com/office/officeart/2005/8/layout/matrix3"/>
    <dgm:cxn modelId="{3B85DCDA-36BE-4E85-99BA-C24BACFAF676}" type="presOf" srcId="{7385379C-07B9-4977-B745-5AA4B77D8BE7}" destId="{793AD563-0EE2-47EC-B9EE-F23C730C6FD7}" srcOrd="0" destOrd="0" presId="urn:microsoft.com/office/officeart/2005/8/layout/matrix3"/>
    <dgm:cxn modelId="{9D04EF31-7625-4EA7-B26A-FE2525415B9F}" type="presParOf" srcId="{793AD563-0EE2-47EC-B9EE-F23C730C6FD7}" destId="{535E34C8-5BE9-460A-BF7E-0121B548A54D}" srcOrd="0" destOrd="0" presId="urn:microsoft.com/office/officeart/2005/8/layout/matrix3"/>
    <dgm:cxn modelId="{7ADC8B92-1198-4B5B-A06E-8C74AF1191DB}" type="presParOf" srcId="{793AD563-0EE2-47EC-B9EE-F23C730C6FD7}" destId="{1D198889-9266-44D0-A4D4-68341F6726A3}" srcOrd="1" destOrd="0" presId="urn:microsoft.com/office/officeart/2005/8/layout/matrix3"/>
    <dgm:cxn modelId="{E4C84581-A2BD-4079-8BB6-EC854D040E4F}" type="presParOf" srcId="{793AD563-0EE2-47EC-B9EE-F23C730C6FD7}" destId="{EFC071AF-05C2-462F-9AD6-83957E58E738}" srcOrd="2" destOrd="0" presId="urn:microsoft.com/office/officeart/2005/8/layout/matrix3"/>
    <dgm:cxn modelId="{F0DD58C4-CD6A-47E8-83AF-6BE82933C5FF}" type="presParOf" srcId="{793AD563-0EE2-47EC-B9EE-F23C730C6FD7}" destId="{4E540D05-E146-4861-976C-E99330CBBE20}" srcOrd="3" destOrd="0" presId="urn:microsoft.com/office/officeart/2005/8/layout/matrix3"/>
    <dgm:cxn modelId="{6AB8F740-E21C-490B-A3EA-1BE2FC872BEC}" type="presParOf" srcId="{793AD563-0EE2-47EC-B9EE-F23C730C6FD7}" destId="{D822FAB7-AEED-40EB-905F-78A6F7247A19}"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5E34C8-5BE9-460A-BF7E-0121B548A54D}">
      <dsp:nvSpPr>
        <dsp:cNvPr id="0" name=""/>
        <dsp:cNvSpPr/>
      </dsp:nvSpPr>
      <dsp:spPr>
        <a:xfrm>
          <a:off x="3082131" y="0"/>
          <a:ext cx="4351338" cy="435133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198889-9266-44D0-A4D4-68341F6726A3}">
      <dsp:nvSpPr>
        <dsp:cNvPr id="0" name=""/>
        <dsp:cNvSpPr/>
      </dsp:nvSpPr>
      <dsp:spPr>
        <a:xfrm>
          <a:off x="3495508"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Attention </a:t>
          </a:r>
        </a:p>
      </dsp:txBody>
      <dsp:txXfrm>
        <a:off x="3578350" y="496219"/>
        <a:ext cx="1531337" cy="1531337"/>
      </dsp:txXfrm>
    </dsp:sp>
    <dsp:sp modelId="{EFC071AF-05C2-462F-9AD6-83957E58E738}">
      <dsp:nvSpPr>
        <dsp:cNvPr id="0" name=""/>
        <dsp:cNvSpPr/>
      </dsp:nvSpPr>
      <dsp:spPr>
        <a:xfrm>
          <a:off x="5323070"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Interest </a:t>
          </a:r>
        </a:p>
      </dsp:txBody>
      <dsp:txXfrm>
        <a:off x="5405912" y="496219"/>
        <a:ext cx="1531337" cy="1531337"/>
      </dsp:txXfrm>
    </dsp:sp>
    <dsp:sp modelId="{4E540D05-E146-4861-976C-E99330CBBE20}">
      <dsp:nvSpPr>
        <dsp:cNvPr id="0" name=""/>
        <dsp:cNvSpPr/>
      </dsp:nvSpPr>
      <dsp:spPr>
        <a:xfrm>
          <a:off x="3495508"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Desire </a:t>
          </a:r>
        </a:p>
      </dsp:txBody>
      <dsp:txXfrm>
        <a:off x="3578350" y="2323781"/>
        <a:ext cx="1531337" cy="1531337"/>
      </dsp:txXfrm>
    </dsp:sp>
    <dsp:sp modelId="{D822FAB7-AEED-40EB-905F-78A6F7247A19}">
      <dsp:nvSpPr>
        <dsp:cNvPr id="0" name=""/>
        <dsp:cNvSpPr/>
      </dsp:nvSpPr>
      <dsp:spPr>
        <a:xfrm>
          <a:off x="5323070"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Action </a:t>
          </a:r>
        </a:p>
      </dsp:txBody>
      <dsp:txXfrm>
        <a:off x="5405912" y="2323781"/>
        <a:ext cx="1531337" cy="1531337"/>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697043-FC59-4E79-A3B6-E27557991424}" type="datetimeFigureOut">
              <a:rPr lang="en-US" smtClean="0"/>
              <a:t>6/25/2024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97409-EE2C-45E2-80EA-ECDFE69860F1}" type="slidenum">
              <a:rPr lang="en-US" smtClean="0"/>
              <a:t>‹#›</a:t>
            </a:fld>
            <a:endParaRPr lang="en-US"/>
          </a:p>
        </p:txBody>
      </p:sp>
    </p:spTree>
    <p:extLst>
      <p:ext uri="{BB962C8B-B14F-4D97-AF65-F5344CB8AC3E}">
        <p14:creationId xmlns:p14="http://schemas.microsoft.com/office/powerpoint/2010/main" val="1724373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AF00-21B2-CA64-E116-2A35DB62E9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3567DC-E6EE-1F17-ABA2-79929D7126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D28358-500E-2576-0C5F-3146EF50D43D}"/>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5" name="Footer Placeholder 4">
            <a:extLst>
              <a:ext uri="{FF2B5EF4-FFF2-40B4-BE49-F238E27FC236}">
                <a16:creationId xmlns:a16="http://schemas.microsoft.com/office/drawing/2014/main" id="{C7FFBA92-30DA-3426-A3C2-650D32712B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48502-2BB3-3168-A3D6-AE649E554D53}"/>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285237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162D-91BE-3794-05D0-38DD859B51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98EE9A-4F72-B7E4-2378-1A5990ECA4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C0F06-7E2F-BFF8-48C5-721B1D191814}"/>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5" name="Footer Placeholder 4">
            <a:extLst>
              <a:ext uri="{FF2B5EF4-FFF2-40B4-BE49-F238E27FC236}">
                <a16:creationId xmlns:a16="http://schemas.microsoft.com/office/drawing/2014/main" id="{3FAB49DD-E269-9419-3FB6-CBBA2C359A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2456DE-7A50-CA05-91D5-2A6948976A4D}"/>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3827719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DE1E2-0937-A16A-2F33-4EA8AD10C5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19DC4AC-2962-D6E0-7859-E111BA1602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1CE48D-86E3-9477-272F-745F7A4C28A6}"/>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5" name="Footer Placeholder 4">
            <a:extLst>
              <a:ext uri="{FF2B5EF4-FFF2-40B4-BE49-F238E27FC236}">
                <a16:creationId xmlns:a16="http://schemas.microsoft.com/office/drawing/2014/main" id="{8D7ECE14-43F7-FD09-AD96-2EEB9AFA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148789-F943-BDEA-61CC-D7E42D534E0D}"/>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3051904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FBBF-E18B-861A-5B10-F18664A35E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6F0825-2ECE-0416-B0CF-234BCD425B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ED2F89-3E5A-58AE-C2BF-B1F0B3262C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FAA481-9584-A610-B092-8B29D2DE4D6A}"/>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6" name="Footer Placeholder 5">
            <a:extLst>
              <a:ext uri="{FF2B5EF4-FFF2-40B4-BE49-F238E27FC236}">
                <a16:creationId xmlns:a16="http://schemas.microsoft.com/office/drawing/2014/main" id="{8D210F35-CBB0-1273-C985-6CB5C758C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B97F1C-5E4E-6746-E28B-4931BBE7D198}"/>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3134458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056E-78E8-4118-FC6B-9023C8AB24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D17D9E-5A6B-672B-5E57-9EA5585E1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D0D05D-7981-1C1D-73A9-D0B2E112B6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4469DC-C1B9-8204-4697-8B9AB0DCF2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B68C8-6F13-0B00-2683-4C893527C7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FF2B08-5159-0C3E-0BA0-30D97E7FF9FA}"/>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8" name="Footer Placeholder 7">
            <a:extLst>
              <a:ext uri="{FF2B5EF4-FFF2-40B4-BE49-F238E27FC236}">
                <a16:creationId xmlns:a16="http://schemas.microsoft.com/office/drawing/2014/main" id="{CFBE8A4F-B9D6-64F3-1B28-3F3F9F7A3E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CD3705-A8AB-3B98-430B-B56E76BD46B4}"/>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337884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9BA75-A40B-9643-7043-52587827DE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6DA183-D72B-B220-CB6B-B8FDD1C44A83}"/>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4" name="Footer Placeholder 3">
            <a:extLst>
              <a:ext uri="{FF2B5EF4-FFF2-40B4-BE49-F238E27FC236}">
                <a16:creationId xmlns:a16="http://schemas.microsoft.com/office/drawing/2014/main" id="{70A368A7-D003-BC97-949E-38376A17E4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F5BD23-15A6-B3B0-4714-1EE3C8E8B4DE}"/>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1468399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27607B-6EC4-8DBC-9C68-5B4C8CF95358}"/>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3" name="Footer Placeholder 2">
            <a:extLst>
              <a:ext uri="{FF2B5EF4-FFF2-40B4-BE49-F238E27FC236}">
                <a16:creationId xmlns:a16="http://schemas.microsoft.com/office/drawing/2014/main" id="{87AB3D52-8D0E-7AE5-00CB-06109BE279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8414D0-15F2-90C2-8EEF-E4C2F931DF68}"/>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3243573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577F7-00E7-5B92-0E96-801CA7C097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93447A-413C-322E-BB0D-7B41D5E086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38F195-25BD-E72A-3C77-9B1292A3C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36AECA-3432-1312-4428-2028A21CA7B9}"/>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6" name="Footer Placeholder 5">
            <a:extLst>
              <a:ext uri="{FF2B5EF4-FFF2-40B4-BE49-F238E27FC236}">
                <a16:creationId xmlns:a16="http://schemas.microsoft.com/office/drawing/2014/main" id="{3144186E-295F-F43E-EDD9-43932F3770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53FA50-2930-B655-0C20-FD43E268D1F6}"/>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3293930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38D41-6C3D-1142-E947-F8F33FA6C9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9D7F09-0435-4AAF-6B91-76DECF22C7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FA954A-C877-ED0D-79D5-E21872765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0D16D6-18B6-D384-BD73-8164A0E80832}"/>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6" name="Footer Placeholder 5">
            <a:extLst>
              <a:ext uri="{FF2B5EF4-FFF2-40B4-BE49-F238E27FC236}">
                <a16:creationId xmlns:a16="http://schemas.microsoft.com/office/drawing/2014/main" id="{44EF0B94-2230-D1C7-BE6B-41E97E2BFC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99BDC2-9E15-8B6A-0D59-E3FB7375E6E4}"/>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68803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058E8-92A9-7152-3A1A-EFECE4B2F5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EFD3C7-5432-5C66-2D52-B5E441C8D2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F3B47B-8D54-0408-27B1-8545B80A9AFA}"/>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5" name="Footer Placeholder 4">
            <a:extLst>
              <a:ext uri="{FF2B5EF4-FFF2-40B4-BE49-F238E27FC236}">
                <a16:creationId xmlns:a16="http://schemas.microsoft.com/office/drawing/2014/main" id="{9763D493-2663-570C-05DA-631CD21126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9BAC06-3F61-F334-2B97-EE893C307CA1}"/>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3279006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24D8B0-0D81-A912-D0B2-B2B205A581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A7C5BE-2EED-0870-EE53-10342E98BE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21F833-5FCE-8E37-C115-777436FC1731}"/>
              </a:ext>
            </a:extLst>
          </p:cNvPr>
          <p:cNvSpPr>
            <a:spLocks noGrp="1"/>
          </p:cNvSpPr>
          <p:nvPr>
            <p:ph type="dt" sz="half" idx="10"/>
          </p:nvPr>
        </p:nvSpPr>
        <p:spPr/>
        <p:txBody>
          <a:bodyPr/>
          <a:lstStyle/>
          <a:p>
            <a:fld id="{384C266A-8E69-48B3-A026-0536644E9D7A}" type="datetimeFigureOut">
              <a:rPr lang="en-US" smtClean="0"/>
              <a:t>6/25/2024</a:t>
            </a:fld>
            <a:endParaRPr lang="en-US"/>
          </a:p>
        </p:txBody>
      </p:sp>
      <p:sp>
        <p:nvSpPr>
          <p:cNvPr id="5" name="Footer Placeholder 4">
            <a:extLst>
              <a:ext uri="{FF2B5EF4-FFF2-40B4-BE49-F238E27FC236}">
                <a16:creationId xmlns:a16="http://schemas.microsoft.com/office/drawing/2014/main" id="{4132041A-0878-4214-FF0C-795C28D66F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8B7A14-1323-ECFD-B7D6-3AD9E2224D95}"/>
              </a:ext>
            </a:extLst>
          </p:cNvPr>
          <p:cNvSpPr>
            <a:spLocks noGrp="1"/>
          </p:cNvSpPr>
          <p:nvPr>
            <p:ph type="sldNum" sz="quarter" idx="12"/>
          </p:nvPr>
        </p:nvSpPr>
        <p:spPr/>
        <p:txBody>
          <a:bodyPr/>
          <a:lstStyle/>
          <a:p>
            <a:fld id="{3F3679EC-C5CC-4973-90B4-F75833B3AF6E}" type="slidenum">
              <a:rPr lang="en-US" smtClean="0"/>
              <a:t>‹#›</a:t>
            </a:fld>
            <a:endParaRPr lang="en-US"/>
          </a:p>
        </p:txBody>
      </p:sp>
    </p:spTree>
    <p:extLst>
      <p:ext uri="{BB962C8B-B14F-4D97-AF65-F5344CB8AC3E}">
        <p14:creationId xmlns:p14="http://schemas.microsoft.com/office/powerpoint/2010/main" val="2226137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endParaRPr lang="en-US"/>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173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305481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36052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003020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5937389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6636020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6405687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3524823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3654654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1528901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C485584D-7D79-4248-9986-4CA35242F944}" type="datetimeFigureOut">
              <a:rPr lang="en-US" smtClean="0"/>
              <a:t>6/25/2024</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782773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F058FD-B9FE-7D7C-096A-7F7F9D4F60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DC90F9-32A6-FEDD-25BC-E8574F350D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63D7BC-C5A6-1761-818D-585C3F5EEB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4C266A-8E69-48B3-A026-0536644E9D7A}" type="datetimeFigureOut">
              <a:rPr lang="en-US" smtClean="0"/>
              <a:t>6/25/2024</a:t>
            </a:fld>
            <a:endParaRPr lang="en-US"/>
          </a:p>
        </p:txBody>
      </p:sp>
      <p:sp>
        <p:nvSpPr>
          <p:cNvPr id="5" name="Footer Placeholder 4">
            <a:extLst>
              <a:ext uri="{FF2B5EF4-FFF2-40B4-BE49-F238E27FC236}">
                <a16:creationId xmlns:a16="http://schemas.microsoft.com/office/drawing/2014/main" id="{945B0276-B9B7-2724-9AE5-E2273D7A24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247EA7-601C-644D-6183-928837EE4B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3679EC-C5CC-4973-90B4-F75833B3AF6E}" type="slidenum">
              <a:rPr lang="en-US" smtClean="0"/>
              <a:t>‹#›</a:t>
            </a:fld>
            <a:endParaRPr lang="en-US"/>
          </a:p>
        </p:txBody>
      </p:sp>
    </p:spTree>
    <p:extLst>
      <p:ext uri="{BB962C8B-B14F-4D97-AF65-F5344CB8AC3E}">
        <p14:creationId xmlns:p14="http://schemas.microsoft.com/office/powerpoint/2010/main" val="413178648"/>
      </p:ext>
    </p:extLst>
  </p:cSld>
  <p:clrMap bg1="lt1" tx1="dk1" bg2="lt2" tx2="dk2" accent1="accent1" accent2="accent2" accent3="accent3" accent4="accent4" accent5="accent5" accent6="accent6" hlink="hlink" folHlink="folHlink"/>
  <p:sldLayoutIdLst>
    <p:sldLayoutId id="2147484055" r:id="rId1"/>
    <p:sldLayoutId id="2147484056" r:id="rId2"/>
    <p:sldLayoutId id="2147484057" r:id="rId3"/>
    <p:sldLayoutId id="2147484058" r:id="rId4"/>
    <p:sldLayoutId id="2147484059" r:id="rId5"/>
    <p:sldLayoutId id="2147484060" r:id="rId6"/>
    <p:sldLayoutId id="2147484061" r:id="rId7"/>
    <p:sldLayoutId id="2147484062" r:id="rId8"/>
    <p:sldLayoutId id="2147484063" r:id="rId9"/>
    <p:sldLayoutId id="2147484064" r:id="rId10"/>
    <p:sldLayoutId id="21474840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C485584D-7D79-4248-9986-4CA35242F944}" type="datetimeFigureOut">
              <a:rPr lang="en-US" smtClean="0"/>
              <a:t>6/25/2024</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endParaRPr lang="en-US"/>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5503527"/>
      </p:ext>
    </p:extLst>
  </p:cSld>
  <p:clrMap bg1="lt1" tx1="dk1" bg2="lt2" tx2="dk2" accent1="accent1" accent2="accent2" accent3="accent3" accent4="accent4" accent5="accent5" accent6="accent6" hlink="hlink" folHlink="folHlink"/>
  <p:sldLayoutIdLst>
    <p:sldLayoutId id="2147483680" r:id="rId1"/>
    <p:sldLayoutId id="2147483679" r:id="rId2"/>
    <p:sldLayoutId id="2147483678" r:id="rId3"/>
    <p:sldLayoutId id="2147483677" r:id="rId4"/>
    <p:sldLayoutId id="2147483676" r:id="rId5"/>
    <p:sldLayoutId id="2147483675" r:id="rId6"/>
    <p:sldLayoutId id="2147483674" r:id="rId7"/>
    <p:sldLayoutId id="2147483673" r:id="rId8"/>
    <p:sldLayoutId id="2147483672" r:id="rId9"/>
    <p:sldLayoutId id="2147483671" r:id="rId10"/>
    <p:sldLayoutId id="2147483670" r:id="rId11"/>
  </p:sldLayoutIdLst>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areerplan.commons.gc.cuny.edu/blog/job-interview-benefits"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archive.org/details/01-clean-professional-creative-and-modern-resume-cv-curriculum-vitae-design-temp" TargetMode="External"/><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orkplace.stackexchange.com/questions/55369/borderless-resume"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www.ceswoodstock.org/job_search/resumeaction.s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morefeous.deviantart.com/art/cover-letter-179850409" TargetMode="External"/><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hyperlink" Target="https://www.linkedin.com/" TargetMode="Externa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Pen placed on top of a signature line">
            <a:extLst>
              <a:ext uri="{FF2B5EF4-FFF2-40B4-BE49-F238E27FC236}">
                <a16:creationId xmlns:a16="http://schemas.microsoft.com/office/drawing/2014/main" id="{42485CE8-9CBC-492D-CA93-7124BEB2756E}"/>
              </a:ext>
            </a:extLst>
          </p:cNvPr>
          <p:cNvPicPr>
            <a:picLocks noChangeAspect="1"/>
          </p:cNvPicPr>
          <p:nvPr/>
        </p:nvPicPr>
        <p:blipFill rotWithShape="1">
          <a:blip r:embed="rId2"/>
          <a:srcRect l="23411" r="8" b="9098"/>
          <a:stretch/>
        </p:blipFill>
        <p:spPr>
          <a:xfrm>
            <a:off x="3523488" y="10"/>
            <a:ext cx="8668512" cy="6857990"/>
          </a:xfrm>
          <a:prstGeom prst="rect">
            <a:avLst/>
          </a:prstGeom>
        </p:spPr>
      </p:pic>
      <p:sp>
        <p:nvSpPr>
          <p:cNvPr id="34" name="Rectangle 33">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7981" y="1122363"/>
            <a:ext cx="4023360" cy="3204134"/>
          </a:xfrm>
        </p:spPr>
        <p:txBody>
          <a:bodyPr anchor="b">
            <a:normAutofit/>
          </a:bodyPr>
          <a:lstStyle/>
          <a:p>
            <a:pPr algn="l"/>
            <a:r>
              <a:rPr lang="en-US" sz="4800" b="1" dirty="0">
                <a:ea typeface="+mj-lt"/>
                <a:cs typeface="+mj-lt"/>
              </a:rPr>
              <a:t>Résumé</a:t>
            </a:r>
            <a:br>
              <a:rPr lang="en-US" sz="4800" b="1" dirty="0">
                <a:ea typeface="+mj-lt"/>
                <a:cs typeface="+mj-lt"/>
              </a:rPr>
            </a:br>
            <a:r>
              <a:rPr lang="en-US" sz="4800" b="1" dirty="0">
                <a:ea typeface="+mj-lt"/>
                <a:cs typeface="+mj-lt"/>
              </a:rPr>
              <a:t>&amp; </a:t>
            </a:r>
            <a:br>
              <a:rPr lang="en-US" sz="4800" b="1" dirty="0"/>
            </a:br>
            <a:r>
              <a:rPr lang="en-US" sz="4800" b="1" dirty="0">
                <a:ea typeface="+mj-lt"/>
                <a:cs typeface="+mj-lt"/>
              </a:rPr>
              <a:t>Cover Letter</a:t>
            </a:r>
            <a:endParaRPr lang="en-US" sz="4800" b="1">
              <a:cs typeface="Calibri Light"/>
            </a:endParaRPr>
          </a:p>
        </p:txBody>
      </p:sp>
      <p:sp>
        <p:nvSpPr>
          <p:cNvPr id="3" name="Subtitle 2"/>
          <p:cNvSpPr>
            <a:spLocks noGrp="1"/>
          </p:cNvSpPr>
          <p:nvPr>
            <p:ph type="subTitle" idx="1"/>
          </p:nvPr>
        </p:nvSpPr>
        <p:spPr>
          <a:xfrm>
            <a:off x="477980" y="4872922"/>
            <a:ext cx="4023359" cy="1208141"/>
          </a:xfrm>
        </p:spPr>
        <p:txBody>
          <a:bodyPr>
            <a:normAutofit/>
          </a:bodyPr>
          <a:lstStyle/>
          <a:p>
            <a:pPr lvl="0" algn="l"/>
            <a:r>
              <a:rPr lang="en-US" sz="2000"/>
              <a:t>Session V:  Career Exploration</a:t>
            </a:r>
          </a:p>
        </p:txBody>
      </p:sp>
      <p:sp>
        <p:nvSpPr>
          <p:cNvPr id="36" name="Rectangle 3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8" name="Rectangle 3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a:extLst>
              <a:ext uri="{FF2B5EF4-FFF2-40B4-BE49-F238E27FC236}">
                <a16:creationId xmlns:a16="http://schemas.microsoft.com/office/drawing/2014/main" id="{AD08E598-607E-4949-1E72-0D55583E3200}"/>
              </a:ext>
            </a:extLst>
          </p:cNvPr>
          <p:cNvPicPr>
            <a:picLocks noChangeAspect="1"/>
          </p:cNvPicPr>
          <p:nvPr/>
        </p:nvPicPr>
        <p:blipFill>
          <a:blip r:embed="rId3"/>
          <a:stretch>
            <a:fillRect/>
          </a:stretch>
        </p:blipFill>
        <p:spPr>
          <a:xfrm>
            <a:off x="1259457" y="-94991"/>
            <a:ext cx="2084682" cy="1044637"/>
          </a:xfrm>
          <a:prstGeom prst="rect">
            <a:avLst/>
          </a:prstGeom>
        </p:spPr>
      </p:pic>
    </p:spTree>
    <p:extLst>
      <p:ext uri="{BB962C8B-B14F-4D97-AF65-F5344CB8AC3E}">
        <p14:creationId xmlns:p14="http://schemas.microsoft.com/office/powerpoint/2010/main" val="305131739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n placed on top of a signature line">
            <a:extLst>
              <a:ext uri="{FF2B5EF4-FFF2-40B4-BE49-F238E27FC236}">
                <a16:creationId xmlns:a16="http://schemas.microsoft.com/office/drawing/2014/main" id="{1546FE9E-6C81-DF5B-F24B-7B3DECCA6087}"/>
              </a:ext>
            </a:extLst>
          </p:cNvPr>
          <p:cNvPicPr>
            <a:picLocks noChangeAspect="1"/>
          </p:cNvPicPr>
          <p:nvPr/>
        </p:nvPicPr>
        <p:blipFill rotWithShape="1">
          <a:blip r:embed="rId2">
            <a:alphaModFix amt="40000"/>
          </a:blip>
          <a:srcRect r="-2" b="15603"/>
          <a:stretch/>
        </p:blipFill>
        <p:spPr>
          <a:xfrm>
            <a:off x="20" y="10"/>
            <a:ext cx="12191979" cy="6857990"/>
          </a:xfrm>
          <a:prstGeom prst="rect">
            <a:avLst/>
          </a:prstGeom>
        </p:spPr>
      </p:pic>
      <p:sp>
        <p:nvSpPr>
          <p:cNvPr id="2" name="Title 1">
            <a:extLst>
              <a:ext uri="{FF2B5EF4-FFF2-40B4-BE49-F238E27FC236}">
                <a16:creationId xmlns:a16="http://schemas.microsoft.com/office/drawing/2014/main" id="{34450409-4AA3-D9BC-2ACE-6C61372C3583}"/>
              </a:ext>
            </a:extLst>
          </p:cNvPr>
          <p:cNvSpPr>
            <a:spLocks noGrp="1"/>
          </p:cNvSpPr>
          <p:nvPr>
            <p:ph type="title"/>
          </p:nvPr>
        </p:nvSpPr>
        <p:spPr>
          <a:xfrm>
            <a:off x="841249" y="941832"/>
            <a:ext cx="10506456" cy="2057400"/>
          </a:xfrm>
        </p:spPr>
        <p:txBody>
          <a:bodyPr anchor="b">
            <a:normAutofit/>
          </a:bodyPr>
          <a:lstStyle/>
          <a:p>
            <a:r>
              <a:rPr lang="en-US" sz="5000">
                <a:ea typeface="+mj-lt"/>
                <a:cs typeface="+mj-lt"/>
              </a:rPr>
              <a:t>LEARNING OBJECTIVES</a:t>
            </a:r>
            <a:endParaRPr lang="en-US" sz="5000"/>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C74F4B7-F772-8239-A74E-BA3697C7D5EA}"/>
              </a:ext>
            </a:extLst>
          </p:cNvPr>
          <p:cNvSpPr>
            <a:spLocks noGrp="1"/>
          </p:cNvSpPr>
          <p:nvPr>
            <p:ph idx="1"/>
          </p:nvPr>
        </p:nvSpPr>
        <p:spPr>
          <a:xfrm>
            <a:off x="841248" y="3502152"/>
            <a:ext cx="10506456" cy="2670048"/>
          </a:xfrm>
        </p:spPr>
        <p:txBody>
          <a:bodyPr vert="horz" lIns="91440" tIns="45720" rIns="91440" bIns="45720" rtlCol="0">
            <a:normAutofit/>
          </a:bodyPr>
          <a:lstStyle/>
          <a:p>
            <a:r>
              <a:rPr lang="en-US" sz="2000">
                <a:ea typeface="+mn-lt"/>
                <a:cs typeface="+mn-lt"/>
              </a:rPr>
              <a:t>Define the purpose and contents of a résumé</a:t>
            </a:r>
            <a:endParaRPr lang="en-US" sz="2000">
              <a:cs typeface="Calibri" panose="020F0502020204030204"/>
            </a:endParaRPr>
          </a:p>
          <a:p>
            <a:r>
              <a:rPr lang="en-US" sz="2000">
                <a:ea typeface="+mn-lt"/>
                <a:cs typeface="+mn-lt"/>
              </a:rPr>
              <a:t>Identify characteristics of an effective résumé</a:t>
            </a:r>
            <a:endParaRPr lang="en-US" sz="2000"/>
          </a:p>
          <a:p>
            <a:r>
              <a:rPr lang="en-US" sz="2000">
                <a:ea typeface="+mn-lt"/>
                <a:cs typeface="+mn-lt"/>
              </a:rPr>
              <a:t>Identify characteristics of an effective cover letter</a:t>
            </a:r>
            <a:endParaRPr lang="en-US" sz="2000"/>
          </a:p>
          <a:p>
            <a:r>
              <a:rPr lang="en-US" sz="2000">
                <a:ea typeface="+mn-lt"/>
                <a:cs typeface="+mn-lt"/>
              </a:rPr>
              <a:t>Write student résume and cover letter</a:t>
            </a:r>
            <a:endParaRPr lang="en-US" sz="2000"/>
          </a:p>
        </p:txBody>
      </p:sp>
    </p:spTree>
    <p:extLst>
      <p:ext uri="{BB962C8B-B14F-4D97-AF65-F5344CB8AC3E}">
        <p14:creationId xmlns:p14="http://schemas.microsoft.com/office/powerpoint/2010/main" val="849207120"/>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460B0066-0C4B-50AE-42E1-799E1A807537}"/>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17460" r="13205" b="-1"/>
          <a:stretch/>
        </p:blipFill>
        <p:spPr>
          <a:xfrm>
            <a:off x="-1" y="10"/>
            <a:ext cx="12192000" cy="6857990"/>
          </a:xfrm>
          <a:prstGeom prst="rect">
            <a:avLst/>
          </a:prstGeom>
        </p:spPr>
      </p:pic>
      <p:sp>
        <p:nvSpPr>
          <p:cNvPr id="10"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7AC392BA-4EEC-5949-CA39-78BDFEE987D1}"/>
              </a:ext>
            </a:extLst>
          </p:cNvPr>
          <p:cNvSpPr>
            <a:spLocks noGrp="1"/>
          </p:cNvSpPr>
          <p:nvPr>
            <p:ph type="title"/>
          </p:nvPr>
        </p:nvSpPr>
        <p:spPr>
          <a:xfrm>
            <a:off x="709448" y="1913950"/>
            <a:ext cx="4204137" cy="1342754"/>
          </a:xfrm>
        </p:spPr>
        <p:txBody>
          <a:bodyPr>
            <a:normAutofit/>
          </a:bodyPr>
          <a:lstStyle/>
          <a:p>
            <a:pPr algn="ctr"/>
            <a:r>
              <a:rPr lang="en-US" sz="4800" b="1" dirty="0">
                <a:ea typeface="+mj-lt"/>
                <a:cs typeface="+mj-lt"/>
              </a:rPr>
              <a:t>Chapter outline</a:t>
            </a:r>
            <a:endParaRPr lang="en-US" sz="4800" b="1">
              <a:cs typeface="Calibri Light"/>
            </a:endParaRPr>
          </a:p>
        </p:txBody>
      </p:sp>
      <p:cxnSp>
        <p:nvCxnSpPr>
          <p:cNvPr id="12" name="Straight Connector 11">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020CAE5-4B1C-A9EF-BC4C-AF40AAF3F4F5}"/>
              </a:ext>
            </a:extLst>
          </p:cNvPr>
          <p:cNvSpPr>
            <a:spLocks noGrp="1"/>
          </p:cNvSpPr>
          <p:nvPr>
            <p:ph idx="1"/>
          </p:nvPr>
        </p:nvSpPr>
        <p:spPr>
          <a:xfrm>
            <a:off x="525516" y="3417573"/>
            <a:ext cx="4593021" cy="2619839"/>
          </a:xfrm>
        </p:spPr>
        <p:txBody>
          <a:bodyPr vert="horz" lIns="91440" tIns="45720" rIns="91440" bIns="45720" rtlCol="0" anchor="ctr">
            <a:normAutofit/>
          </a:bodyPr>
          <a:lstStyle/>
          <a:p>
            <a:pPr marL="0" indent="0">
              <a:buNone/>
            </a:pPr>
            <a:r>
              <a:rPr lang="en-US" sz="4400" dirty="0">
                <a:ea typeface="+mn-lt"/>
                <a:cs typeface="+mn-lt"/>
              </a:rPr>
              <a:t>1. Résumé</a:t>
            </a:r>
            <a:endParaRPr lang="en-US" sz="4400" dirty="0">
              <a:cs typeface="Calibri"/>
            </a:endParaRPr>
          </a:p>
          <a:p>
            <a:pPr marL="0" indent="0">
              <a:buNone/>
            </a:pPr>
            <a:r>
              <a:rPr lang="en-US" sz="4400" dirty="0">
                <a:ea typeface="+mn-lt"/>
                <a:cs typeface="+mn-lt"/>
              </a:rPr>
              <a:t>2. Cover letter</a:t>
            </a:r>
          </a:p>
        </p:txBody>
      </p:sp>
      <p:sp>
        <p:nvSpPr>
          <p:cNvPr id="5" name="TextBox 4">
            <a:extLst>
              <a:ext uri="{FF2B5EF4-FFF2-40B4-BE49-F238E27FC236}">
                <a16:creationId xmlns:a16="http://schemas.microsoft.com/office/drawing/2014/main" id="{5221D900-75DD-7C82-EB56-804B9B38E82D}"/>
              </a:ext>
            </a:extLst>
          </p:cNvPr>
          <p:cNvSpPr txBox="1"/>
          <p:nvPr/>
        </p:nvSpPr>
        <p:spPr>
          <a:xfrm>
            <a:off x="9737481" y="6657945"/>
            <a:ext cx="245451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BY-SA-NC</a:t>
            </a:r>
            <a:r>
              <a:rPr lang="en-US" sz="700">
                <a:solidFill>
                  <a:srgbClr val="FFFFFF"/>
                </a:solidFill>
              </a:rPr>
              <a:t>.</a:t>
            </a:r>
          </a:p>
        </p:txBody>
      </p:sp>
    </p:spTree>
    <p:extLst>
      <p:ext uri="{BB962C8B-B14F-4D97-AF65-F5344CB8AC3E}">
        <p14:creationId xmlns:p14="http://schemas.microsoft.com/office/powerpoint/2010/main" val="2916537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8">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B2FF75-C069-FBA3-DD26-DA99F1D2D541}"/>
              </a:ext>
            </a:extLst>
          </p:cNvPr>
          <p:cNvSpPr>
            <a:spLocks noGrp="1"/>
          </p:cNvSpPr>
          <p:nvPr>
            <p:ph type="title"/>
          </p:nvPr>
        </p:nvSpPr>
        <p:spPr>
          <a:xfrm>
            <a:off x="908454" y="1360481"/>
            <a:ext cx="4605340" cy="3077713"/>
          </a:xfrm>
        </p:spPr>
        <p:txBody>
          <a:bodyPr vert="horz" lIns="91440" tIns="45720" rIns="91440" bIns="45720" rtlCol="0" anchor="b">
            <a:normAutofit/>
          </a:bodyPr>
          <a:lstStyle/>
          <a:p>
            <a:endParaRPr lang="en-US" sz="2400">
              <a:solidFill>
                <a:schemeClr val="bg1"/>
              </a:solidFill>
            </a:endParaRPr>
          </a:p>
          <a:p>
            <a:endParaRPr lang="en-US" sz="2400">
              <a:solidFill>
                <a:schemeClr val="bg1"/>
              </a:solidFill>
            </a:endParaRPr>
          </a:p>
          <a:p>
            <a:r>
              <a:rPr lang="en-US" sz="3600" dirty="0">
                <a:solidFill>
                  <a:schemeClr val="bg1"/>
                </a:solidFill>
              </a:rPr>
              <a:t>The most important tool you have on a résumé is language. </a:t>
            </a:r>
            <a:endParaRPr lang="en-US" sz="3600" dirty="0">
              <a:solidFill>
                <a:schemeClr val="bg1"/>
              </a:solidFill>
              <a:cs typeface="Calibri Light"/>
            </a:endParaRPr>
          </a:p>
          <a:p>
            <a:endParaRPr lang="en-US" sz="2400">
              <a:solidFill>
                <a:schemeClr val="bg1"/>
              </a:solidFill>
            </a:endParaRPr>
          </a:p>
          <a:p>
            <a:r>
              <a:rPr lang="en-US" sz="1800" dirty="0">
                <a:solidFill>
                  <a:schemeClr val="bg1"/>
                </a:solidFill>
              </a:rPr>
              <a:t>Jay Samit, digital media innovator</a:t>
            </a:r>
            <a:r>
              <a:rPr lang="en-US" sz="2400" dirty="0">
                <a:solidFill>
                  <a:schemeClr val="bg1"/>
                </a:solidFill>
              </a:rPr>
              <a:t> </a:t>
            </a:r>
            <a:endParaRPr lang="en-US" sz="2400" dirty="0">
              <a:solidFill>
                <a:schemeClr val="bg1"/>
              </a:solidFill>
              <a:cs typeface="Calibri Light"/>
            </a:endParaRPr>
          </a:p>
          <a:p>
            <a:endParaRPr lang="en-US" sz="2400">
              <a:solidFill>
                <a:schemeClr val="bg1"/>
              </a:solidFill>
            </a:endParaRPr>
          </a:p>
          <a:p>
            <a:endParaRPr lang="en-US" sz="2400">
              <a:solidFill>
                <a:schemeClr val="bg1"/>
              </a:solidFill>
            </a:endParaRPr>
          </a:p>
        </p:txBody>
      </p:sp>
      <p:pic>
        <p:nvPicPr>
          <p:cNvPr id="4" name="Picture 3" descr="A picture containing text, person&#10;&#10;Description automatically generated">
            <a:extLst>
              <a:ext uri="{FF2B5EF4-FFF2-40B4-BE49-F238E27FC236}">
                <a16:creationId xmlns:a16="http://schemas.microsoft.com/office/drawing/2014/main" id="{1DF3DC97-161F-90F1-C04D-A685584DAFBB}"/>
              </a:ext>
            </a:extLst>
          </p:cNvPr>
          <p:cNvPicPr>
            <a:picLocks noChangeAspect="1"/>
          </p:cNvPicPr>
          <p:nvPr/>
        </p:nvPicPr>
        <p:blipFill rotWithShape="1">
          <a:blip r:embed="rId2">
            <a:alphaModFix/>
          </a:blip>
          <a:srcRect l="16037" r="16286" b="-1"/>
          <a:stretch/>
        </p:blipFill>
        <p:spPr>
          <a:xfrm>
            <a:off x="5800734" y="1057275"/>
            <a:ext cx="5917401" cy="4743450"/>
          </a:xfrm>
          <a:prstGeom prst="rect">
            <a:avLst/>
          </a:prstGeom>
        </p:spPr>
      </p:pic>
      <p:sp>
        <p:nvSpPr>
          <p:cNvPr id="18" name="Rectangle 10">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977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189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anchor="b">
            <a:normAutofit/>
          </a:bodyPr>
          <a:lstStyle/>
          <a:p>
            <a:r>
              <a:rPr lang="en-US" sz="5400" b="1" dirty="0"/>
              <a:t>1.</a:t>
            </a:r>
            <a:r>
              <a:rPr lang="en-US" sz="5400" dirty="0"/>
              <a:t> </a:t>
            </a:r>
            <a:r>
              <a:rPr lang="en-US" sz="5400" b="1" dirty="0">
                <a:ea typeface="+mj-lt"/>
                <a:cs typeface="+mj-lt"/>
              </a:rPr>
              <a:t>Résumé</a:t>
            </a:r>
            <a:endParaRPr lang="en-US" sz="5400" b="1" dirty="0">
              <a:cs typeface="Calibri Light" panose="020F0302020204030204"/>
            </a:endParaRP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872899"/>
            <a:ext cx="4243589" cy="3320668"/>
          </a:xfrm>
        </p:spPr>
        <p:txBody>
          <a:bodyPr vert="horz" lIns="91440" tIns="45720" rIns="91440" bIns="45720" rtlCol="0" anchor="t">
            <a:normAutofit/>
          </a:bodyPr>
          <a:lstStyle/>
          <a:p>
            <a:pPr marL="0" indent="0">
              <a:lnSpc>
                <a:spcPct val="150000"/>
              </a:lnSpc>
              <a:buNone/>
            </a:pPr>
            <a:r>
              <a:rPr lang="en-US" sz="2400" dirty="0"/>
              <a:t>The most important tool you have on a résumé is language. </a:t>
            </a:r>
            <a:endParaRPr lang="en-US" sz="2400" dirty="0">
              <a:cs typeface="Calibri" panose="020F0502020204030204"/>
            </a:endParaRPr>
          </a:p>
          <a:p>
            <a:pPr marL="0" indent="0">
              <a:lnSpc>
                <a:spcPct val="150000"/>
              </a:lnSpc>
              <a:buNone/>
            </a:pPr>
            <a:r>
              <a:rPr lang="en-US" sz="2200" i="1" dirty="0"/>
              <a:t>Jay Samit, digital media innovator</a:t>
            </a:r>
            <a:endParaRPr lang="en-US" sz="2200" i="1" dirty="0">
              <a:cs typeface="Calibri" panose="020F0502020204030204"/>
            </a:endParaRPr>
          </a:p>
        </p:txBody>
      </p:sp>
      <p:pic>
        <p:nvPicPr>
          <p:cNvPr id="4" name="Picture 4" descr="Graphical user interface&#10;&#10;Description automatically generated">
            <a:extLst>
              <a:ext uri="{FF2B5EF4-FFF2-40B4-BE49-F238E27FC236}">
                <a16:creationId xmlns:a16="http://schemas.microsoft.com/office/drawing/2014/main" id="{54AB1F0A-CC50-E8E7-6C97-A21320AB87FE}"/>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b="303"/>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794640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640080" y="1243013"/>
            <a:ext cx="3855720" cy="4371974"/>
          </a:xfrm>
        </p:spPr>
        <p:txBody>
          <a:bodyPr>
            <a:normAutofit/>
          </a:bodyPr>
          <a:lstStyle/>
          <a:p>
            <a:r>
              <a:rPr lang="en-US" sz="3600">
                <a:solidFill>
                  <a:schemeClr val="tx2"/>
                </a:solidFill>
              </a:rPr>
              <a:t>What is a résumé </a:t>
            </a:r>
          </a:p>
        </p:txBody>
      </p:sp>
      <p:sp>
        <p:nvSpPr>
          <p:cNvPr id="3" name="Content Placeholder 2"/>
          <p:cNvSpPr>
            <a:spLocks noGrp="1"/>
          </p:cNvSpPr>
          <p:nvPr>
            <p:ph idx="1"/>
          </p:nvPr>
        </p:nvSpPr>
        <p:spPr>
          <a:xfrm>
            <a:off x="5735444" y="804672"/>
            <a:ext cx="6234126" cy="5230368"/>
          </a:xfrm>
        </p:spPr>
        <p:txBody>
          <a:bodyPr vert="horz" lIns="91440" tIns="45720" rIns="91440" bIns="45720" rtlCol="0" anchor="ctr">
            <a:noAutofit/>
          </a:bodyPr>
          <a:lstStyle/>
          <a:p>
            <a:pPr>
              <a:lnSpc>
                <a:spcPct val="150000"/>
              </a:lnSpc>
              <a:buFont typeface="Wingdings" panose="05000000000000000000" pitchFamily="2" charset="2"/>
              <a:buChar char="v"/>
            </a:pPr>
            <a:r>
              <a:rPr lang="en-US" sz="2400" dirty="0">
                <a:solidFill>
                  <a:schemeClr val="tx2"/>
                </a:solidFill>
              </a:rPr>
              <a:t>A résumé is a “selfie” for business purposes.</a:t>
            </a:r>
            <a:endParaRPr lang="en-US" sz="2400">
              <a:solidFill>
                <a:schemeClr val="tx2"/>
              </a:solidFill>
              <a:cs typeface="Calibri"/>
            </a:endParaRPr>
          </a:p>
          <a:p>
            <a:pPr>
              <a:lnSpc>
                <a:spcPct val="150000"/>
              </a:lnSpc>
              <a:buFont typeface="Wingdings" panose="05000000000000000000" pitchFamily="2" charset="2"/>
              <a:buChar char="v"/>
            </a:pPr>
            <a:r>
              <a:rPr lang="en-US" sz="2400" dirty="0">
                <a:solidFill>
                  <a:schemeClr val="tx2"/>
                </a:solidFill>
              </a:rPr>
              <a:t> It is a written picture of who you are—it’s a marketing tool, a selling tool, and a promotion of you as an ideal candidate for any job you may be interested in.</a:t>
            </a:r>
            <a:endParaRPr lang="en-US" sz="2400">
              <a:solidFill>
                <a:schemeClr val="tx2"/>
              </a:solidFill>
              <a:cs typeface="Calibri" panose="020F0502020204030204"/>
            </a:endParaRPr>
          </a:p>
          <a:p>
            <a:pPr>
              <a:lnSpc>
                <a:spcPct val="150000"/>
              </a:lnSpc>
              <a:buFont typeface="Wingdings" panose="05000000000000000000" pitchFamily="2" charset="2"/>
              <a:buChar char="v"/>
            </a:pPr>
            <a:r>
              <a:rPr lang="en-US" sz="2400" dirty="0">
                <a:solidFill>
                  <a:schemeClr val="tx2"/>
                </a:solidFill>
              </a:rPr>
              <a:t>The word </a:t>
            </a:r>
            <a:r>
              <a:rPr lang="en-US" sz="2400" i="1" dirty="0">
                <a:solidFill>
                  <a:schemeClr val="tx2"/>
                </a:solidFill>
              </a:rPr>
              <a:t>résumé</a:t>
            </a:r>
            <a:r>
              <a:rPr lang="en-US" sz="2400" dirty="0">
                <a:solidFill>
                  <a:schemeClr val="tx2"/>
                </a:solidFill>
              </a:rPr>
              <a:t> comes from the French word </a:t>
            </a:r>
            <a:r>
              <a:rPr lang="en-US" sz="2400" i="1" dirty="0">
                <a:solidFill>
                  <a:schemeClr val="tx2"/>
                </a:solidFill>
              </a:rPr>
              <a:t>résumé</a:t>
            </a:r>
            <a:r>
              <a:rPr lang="en-US" sz="2400" dirty="0">
                <a:solidFill>
                  <a:schemeClr val="tx2"/>
                </a:solidFill>
              </a:rPr>
              <a:t>, which means “a summary.”</a:t>
            </a:r>
            <a:endParaRPr lang="en-US" sz="2400">
              <a:solidFill>
                <a:schemeClr val="tx2"/>
              </a:solidFill>
              <a:cs typeface="Calibri" panose="020F0502020204030204"/>
            </a:endParaRPr>
          </a:p>
        </p:txBody>
      </p:sp>
    </p:spTree>
    <p:extLst>
      <p:ext uri="{BB962C8B-B14F-4D97-AF65-F5344CB8AC3E}">
        <p14:creationId xmlns:p14="http://schemas.microsoft.com/office/powerpoint/2010/main" val="101980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26">
            <a:extLst>
              <a:ext uri="{FF2B5EF4-FFF2-40B4-BE49-F238E27FC236}">
                <a16:creationId xmlns:a16="http://schemas.microsoft.com/office/drawing/2014/main" id="{D4C74C1C-EF2E-40CF-A712-656E694E67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8">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64783" y="349664"/>
            <a:ext cx="5845571" cy="1638377"/>
          </a:xfrm>
        </p:spPr>
        <p:txBody>
          <a:bodyPr anchor="b">
            <a:normAutofit/>
          </a:bodyPr>
          <a:lstStyle/>
          <a:p>
            <a:r>
              <a:rPr lang="en-US" sz="4800" b="1" dirty="0"/>
              <a:t>Your Résumé: </a:t>
            </a:r>
            <a:br>
              <a:rPr lang="en-US" sz="4800" b="1" dirty="0"/>
            </a:br>
            <a:r>
              <a:rPr lang="en-US" sz="4800" b="1" dirty="0"/>
              <a:t>Purpose and Contents</a:t>
            </a:r>
            <a:endParaRPr lang="en-US" sz="4800" dirty="0"/>
          </a:p>
        </p:txBody>
      </p:sp>
      <p:sp>
        <p:nvSpPr>
          <p:cNvPr id="37" name="Rectangle 30">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644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5" y="399675"/>
            <a:ext cx="4647368" cy="5809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8" descr="Graphical user interface, text, application&#10;&#10;Description automatically generated">
            <a:extLst>
              <a:ext uri="{FF2B5EF4-FFF2-40B4-BE49-F238E27FC236}">
                <a16:creationId xmlns:a16="http://schemas.microsoft.com/office/drawing/2014/main" id="{AEC30557-E3AF-4C03-7C9E-45885CD01577}"/>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59112" y="627954"/>
            <a:ext cx="3787511" cy="5353373"/>
          </a:xfrm>
          <a:prstGeom prst="rect">
            <a:avLst/>
          </a:prstGeom>
        </p:spPr>
      </p:pic>
      <p:sp>
        <p:nvSpPr>
          <p:cNvPr id="3" name="Content Placeholder 2"/>
          <p:cNvSpPr>
            <a:spLocks noGrp="1"/>
          </p:cNvSpPr>
          <p:nvPr>
            <p:ph idx="1"/>
          </p:nvPr>
        </p:nvSpPr>
        <p:spPr>
          <a:xfrm>
            <a:off x="5766262" y="2620641"/>
            <a:ext cx="5837750" cy="3023702"/>
          </a:xfrm>
        </p:spPr>
        <p:txBody>
          <a:bodyPr vert="horz" lIns="91440" tIns="45720" rIns="91440" bIns="45720" rtlCol="0" anchor="ctr">
            <a:normAutofit/>
          </a:bodyPr>
          <a:lstStyle/>
          <a:p>
            <a:pPr>
              <a:buFont typeface="Wingdings" panose="05000000000000000000" pitchFamily="2" charset="2"/>
              <a:buChar char="v"/>
            </a:pPr>
            <a:r>
              <a:rPr lang="en-US" sz="2000"/>
              <a:t>Education</a:t>
            </a:r>
          </a:p>
          <a:p>
            <a:pPr>
              <a:buFont typeface="Wingdings" panose="05000000000000000000" pitchFamily="2" charset="2"/>
              <a:buChar char="v"/>
            </a:pPr>
            <a:r>
              <a:rPr lang="en-US" sz="2000"/>
              <a:t>Work experience</a:t>
            </a:r>
            <a:endParaRPr lang="en-US" sz="2000">
              <a:cs typeface="Calibri" panose="020F0502020204030204"/>
            </a:endParaRPr>
          </a:p>
          <a:p>
            <a:pPr>
              <a:buFont typeface="Wingdings" panose="05000000000000000000" pitchFamily="2" charset="2"/>
              <a:buChar char="v"/>
            </a:pPr>
            <a:r>
              <a:rPr lang="en-US" sz="2000"/>
              <a:t>Job-related skills</a:t>
            </a:r>
            <a:endParaRPr lang="en-US" sz="2000">
              <a:cs typeface="Calibri" panose="020F0502020204030204"/>
            </a:endParaRPr>
          </a:p>
          <a:p>
            <a:pPr>
              <a:buFont typeface="Wingdings" panose="05000000000000000000" pitchFamily="2" charset="2"/>
              <a:buChar char="v"/>
            </a:pPr>
            <a:r>
              <a:rPr lang="en-US" sz="2000"/>
              <a:t>Accomplishments</a:t>
            </a:r>
            <a:endParaRPr lang="en-US" sz="2000">
              <a:cs typeface="Calibri" panose="020F0502020204030204"/>
            </a:endParaRPr>
          </a:p>
          <a:p>
            <a:pPr>
              <a:buFont typeface="Wingdings" panose="05000000000000000000" pitchFamily="2" charset="2"/>
              <a:buChar char="v"/>
            </a:pPr>
            <a:r>
              <a:rPr lang="en-US" sz="2000"/>
              <a:t>Volunteer history</a:t>
            </a:r>
            <a:endParaRPr lang="en-US" sz="2000">
              <a:cs typeface="Calibri" panose="020F0502020204030204"/>
            </a:endParaRPr>
          </a:p>
          <a:p>
            <a:pPr>
              <a:buFont typeface="Wingdings" panose="05000000000000000000" pitchFamily="2" charset="2"/>
              <a:buChar char="v"/>
            </a:pPr>
            <a:r>
              <a:rPr lang="en-US" sz="2000"/>
              <a:t>Internships</a:t>
            </a:r>
            <a:endParaRPr lang="en-US" sz="2000">
              <a:cs typeface="Calibri" panose="020F0502020204030204"/>
            </a:endParaRPr>
          </a:p>
          <a:p>
            <a:pPr>
              <a:buFont typeface="Wingdings" panose="05000000000000000000" pitchFamily="2" charset="2"/>
              <a:buChar char="v"/>
            </a:pPr>
            <a:r>
              <a:rPr lang="en-US" sz="2000"/>
              <a:t>Residencies, and/or more. </a:t>
            </a:r>
            <a:endParaRPr lang="en-US" sz="2000">
              <a:cs typeface="Calibri" panose="020F0502020204030204"/>
            </a:endParaRPr>
          </a:p>
        </p:txBody>
      </p:sp>
    </p:spTree>
    <p:extLst>
      <p:ext uri="{BB962C8B-B14F-4D97-AF65-F5344CB8AC3E}">
        <p14:creationId xmlns:p14="http://schemas.microsoft.com/office/powerpoint/2010/main" val="310744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9226" y="1280679"/>
            <a:ext cx="9833548" cy="1325563"/>
          </a:xfrm>
        </p:spPr>
        <p:txBody>
          <a:bodyPr anchor="b">
            <a:normAutofit/>
          </a:bodyPr>
          <a:lstStyle/>
          <a:p>
            <a:pPr algn="ctr"/>
            <a:r>
              <a:rPr lang="en-US" sz="3600" b="1" dirty="0">
                <a:solidFill>
                  <a:schemeClr val="tx2"/>
                </a:solidFill>
              </a:rPr>
              <a:t>Elements of Your Successful Résumé</a:t>
            </a:r>
            <a:endParaRPr lang="en-US" sz="3600" dirty="0">
              <a:solidFill>
                <a:schemeClr val="tx2"/>
              </a:solidFill>
              <a:cs typeface="Calibri Light" panose="020F0302020204030204"/>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p:cNvSpPr>
            <a:spLocks noGrp="1"/>
          </p:cNvSpPr>
          <p:nvPr>
            <p:ph idx="1"/>
          </p:nvPr>
        </p:nvSpPr>
        <p:spPr>
          <a:xfrm>
            <a:off x="3112104" y="2890979"/>
            <a:ext cx="7900670" cy="2693976"/>
          </a:xfrm>
        </p:spPr>
        <p:txBody>
          <a:bodyPr vert="horz" lIns="91440" tIns="45720" rIns="91440" bIns="45720" rtlCol="0" anchor="t">
            <a:normAutofit/>
          </a:bodyPr>
          <a:lstStyle/>
          <a:p>
            <a:pPr>
              <a:lnSpc>
                <a:spcPct val="150000"/>
              </a:lnSpc>
              <a:buFont typeface="Wingdings" panose="05000000000000000000" pitchFamily="2" charset="2"/>
              <a:buChar char="v"/>
            </a:pPr>
            <a:r>
              <a:rPr lang="en-US" sz="2000" dirty="0">
                <a:solidFill>
                  <a:schemeClr val="tx2"/>
                </a:solidFill>
              </a:rPr>
              <a:t>Reverse chronological résumé</a:t>
            </a:r>
            <a:endParaRPr lang="en-US" sz="2000" dirty="0">
              <a:solidFill>
                <a:schemeClr val="tx2"/>
              </a:solidFill>
              <a:cs typeface="Calibri"/>
            </a:endParaRPr>
          </a:p>
          <a:p>
            <a:pPr>
              <a:lnSpc>
                <a:spcPct val="150000"/>
              </a:lnSpc>
              <a:buFont typeface="Wingdings" panose="05000000000000000000" pitchFamily="2" charset="2"/>
              <a:buChar char="v"/>
            </a:pPr>
            <a:r>
              <a:rPr lang="en-US" sz="2000" dirty="0">
                <a:solidFill>
                  <a:schemeClr val="tx2"/>
                </a:solidFill>
              </a:rPr>
              <a:t>Functional résumé</a:t>
            </a:r>
            <a:endParaRPr lang="en-US" sz="2000" dirty="0">
              <a:solidFill>
                <a:schemeClr val="tx2"/>
              </a:solidFill>
              <a:cs typeface="Calibri"/>
            </a:endParaRPr>
          </a:p>
          <a:p>
            <a:pPr>
              <a:lnSpc>
                <a:spcPct val="150000"/>
              </a:lnSpc>
              <a:buFont typeface="Wingdings" panose="05000000000000000000" pitchFamily="2" charset="2"/>
              <a:buChar char="v"/>
            </a:pPr>
            <a:r>
              <a:rPr lang="en-US" sz="2000" dirty="0">
                <a:solidFill>
                  <a:schemeClr val="tx2"/>
                </a:solidFill>
              </a:rPr>
              <a:t>Hybrid résumé</a:t>
            </a:r>
            <a:endParaRPr lang="en-US" sz="2000" dirty="0">
              <a:solidFill>
                <a:schemeClr val="tx2"/>
              </a:solidFill>
              <a:cs typeface="Calibri"/>
            </a:endParaRPr>
          </a:p>
          <a:p>
            <a:pPr>
              <a:lnSpc>
                <a:spcPct val="150000"/>
              </a:lnSpc>
              <a:buFont typeface="Wingdings" panose="05000000000000000000" pitchFamily="2" charset="2"/>
              <a:buChar char="v"/>
            </a:pPr>
            <a:r>
              <a:rPr lang="en-US" sz="2000" dirty="0">
                <a:solidFill>
                  <a:schemeClr val="tx2"/>
                </a:solidFill>
              </a:rPr>
              <a:t>Video, infographic, and Web-site résumé</a:t>
            </a:r>
            <a:endParaRPr lang="en-US" sz="2000" dirty="0">
              <a:solidFill>
                <a:schemeClr val="tx2"/>
              </a:solidFill>
              <a:cs typeface="Calibri"/>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8695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698BA-E865-1703-230D-9F81F773BCE4}"/>
              </a:ext>
            </a:extLst>
          </p:cNvPr>
          <p:cNvSpPr>
            <a:spLocks noGrp="1"/>
          </p:cNvSpPr>
          <p:nvPr>
            <p:ph type="title"/>
          </p:nvPr>
        </p:nvSpPr>
        <p:spPr/>
        <p:txBody>
          <a:bodyPr>
            <a:normAutofit/>
          </a:bodyPr>
          <a:lstStyle/>
          <a:p>
            <a:r>
              <a:rPr lang="en-US" b="1" dirty="0">
                <a:ea typeface="+mj-lt"/>
                <a:cs typeface="+mj-lt"/>
              </a:rPr>
              <a:t>Elements of Your Successful Résumé </a:t>
            </a:r>
            <a:endParaRPr lang="en-US" b="1">
              <a:cs typeface="Calibri Light"/>
            </a:endParaRPr>
          </a:p>
        </p:txBody>
      </p:sp>
      <p:sp>
        <p:nvSpPr>
          <p:cNvPr id="3" name="Text Placeholder 2">
            <a:extLst>
              <a:ext uri="{FF2B5EF4-FFF2-40B4-BE49-F238E27FC236}">
                <a16:creationId xmlns:a16="http://schemas.microsoft.com/office/drawing/2014/main" id="{60514E6A-EBC2-9C38-0983-B53C0D45A787}"/>
              </a:ext>
            </a:extLst>
          </p:cNvPr>
          <p:cNvSpPr>
            <a:spLocks noGrp="1"/>
          </p:cNvSpPr>
          <p:nvPr>
            <p:ph type="body" idx="1"/>
          </p:nvPr>
        </p:nvSpPr>
        <p:spPr/>
        <p:txBody>
          <a:bodyPr/>
          <a:lstStyle/>
          <a:p>
            <a:r>
              <a:rPr lang="en-US" dirty="0">
                <a:ea typeface="+mn-lt"/>
                <a:cs typeface="+mn-lt"/>
              </a:rPr>
              <a:t>Opening</a:t>
            </a:r>
            <a:endParaRPr lang="en-US" dirty="0"/>
          </a:p>
        </p:txBody>
      </p:sp>
      <p:sp>
        <p:nvSpPr>
          <p:cNvPr id="4" name="Content Placeholder 3">
            <a:extLst>
              <a:ext uri="{FF2B5EF4-FFF2-40B4-BE49-F238E27FC236}">
                <a16:creationId xmlns:a16="http://schemas.microsoft.com/office/drawing/2014/main" id="{721268B2-A6B8-F498-51DF-289A43CF2212}"/>
              </a:ext>
            </a:extLst>
          </p:cNvPr>
          <p:cNvSpPr>
            <a:spLocks noGrp="1"/>
          </p:cNvSpPr>
          <p:nvPr>
            <p:ph sz="half" idx="2"/>
          </p:nvPr>
        </p:nvSpPr>
        <p:spPr/>
        <p:txBody>
          <a:bodyPr vert="horz" lIns="91440" tIns="45720" rIns="91440" bIns="45720" rtlCol="0" anchor="t">
            <a:normAutofit fontScale="85000" lnSpcReduction="20000"/>
          </a:bodyPr>
          <a:lstStyle/>
          <a:p>
            <a:pPr>
              <a:lnSpc>
                <a:spcPct val="150000"/>
              </a:lnSpc>
            </a:pPr>
            <a:r>
              <a:rPr lang="en-US" dirty="0">
                <a:ea typeface="+mn-lt"/>
                <a:cs typeface="+mn-lt"/>
              </a:rPr>
              <a:t>Heading</a:t>
            </a:r>
            <a:endParaRPr lang="en-US" dirty="0">
              <a:cs typeface="Calibri" panose="020F0502020204030204"/>
            </a:endParaRPr>
          </a:p>
          <a:p>
            <a:pPr>
              <a:lnSpc>
                <a:spcPct val="150000"/>
              </a:lnSpc>
            </a:pPr>
            <a:r>
              <a:rPr lang="en-US" dirty="0">
                <a:ea typeface="+mn-lt"/>
                <a:cs typeface="+mn-lt"/>
              </a:rPr>
              <a:t>Career objective</a:t>
            </a:r>
            <a:endParaRPr lang="en-US" dirty="0">
              <a:cs typeface="Calibri" panose="020F0502020204030204"/>
            </a:endParaRPr>
          </a:p>
          <a:p>
            <a:pPr>
              <a:lnSpc>
                <a:spcPct val="150000"/>
              </a:lnSpc>
            </a:pPr>
            <a:r>
              <a:rPr lang="en-US" dirty="0">
                <a:ea typeface="+mn-lt"/>
                <a:cs typeface="+mn-lt"/>
              </a:rPr>
              <a:t>Summary of qualifications</a:t>
            </a:r>
            <a:endParaRPr lang="en-US" dirty="0">
              <a:cs typeface="Calibri"/>
            </a:endParaRPr>
          </a:p>
          <a:p>
            <a:pPr>
              <a:lnSpc>
                <a:spcPct val="150000"/>
              </a:lnSpc>
            </a:pPr>
            <a:endParaRPr lang="en-US" dirty="0">
              <a:cs typeface="Calibri"/>
            </a:endParaRPr>
          </a:p>
        </p:txBody>
      </p:sp>
      <p:sp>
        <p:nvSpPr>
          <p:cNvPr id="5" name="Text Placeholder 4">
            <a:extLst>
              <a:ext uri="{FF2B5EF4-FFF2-40B4-BE49-F238E27FC236}">
                <a16:creationId xmlns:a16="http://schemas.microsoft.com/office/drawing/2014/main" id="{76697B50-7218-C28E-A513-4AE494A6CAB6}"/>
              </a:ext>
            </a:extLst>
          </p:cNvPr>
          <p:cNvSpPr>
            <a:spLocks noGrp="1"/>
          </p:cNvSpPr>
          <p:nvPr>
            <p:ph type="body" sz="quarter" idx="3"/>
          </p:nvPr>
        </p:nvSpPr>
        <p:spPr/>
        <p:txBody>
          <a:bodyPr/>
          <a:lstStyle/>
          <a:p>
            <a:r>
              <a:rPr lang="en-US" dirty="0">
                <a:ea typeface="+mn-lt"/>
                <a:cs typeface="+mn-lt"/>
              </a:rPr>
              <a:t>Education</a:t>
            </a:r>
            <a:endParaRPr lang="en-US" dirty="0"/>
          </a:p>
        </p:txBody>
      </p:sp>
      <p:sp>
        <p:nvSpPr>
          <p:cNvPr id="6" name="Content Placeholder 5">
            <a:extLst>
              <a:ext uri="{FF2B5EF4-FFF2-40B4-BE49-F238E27FC236}">
                <a16:creationId xmlns:a16="http://schemas.microsoft.com/office/drawing/2014/main" id="{C0B396E1-76CA-4943-1097-237FBF5E9787}"/>
              </a:ext>
            </a:extLst>
          </p:cNvPr>
          <p:cNvSpPr>
            <a:spLocks noGrp="1"/>
          </p:cNvSpPr>
          <p:nvPr>
            <p:ph sz="quarter" idx="4"/>
          </p:nvPr>
        </p:nvSpPr>
        <p:spPr/>
        <p:txBody>
          <a:bodyPr vert="horz" lIns="91440" tIns="45720" rIns="91440" bIns="45720" rtlCol="0" anchor="t">
            <a:normAutofit fontScale="85000" lnSpcReduction="20000"/>
          </a:bodyPr>
          <a:lstStyle/>
          <a:p>
            <a:pPr>
              <a:lnSpc>
                <a:spcPct val="150000"/>
              </a:lnSpc>
            </a:pPr>
            <a:r>
              <a:rPr lang="en-US" dirty="0">
                <a:ea typeface="+mn-lt"/>
                <a:cs typeface="+mn-lt"/>
              </a:rPr>
              <a:t>Most recent information first</a:t>
            </a:r>
            <a:endParaRPr lang="en-US" dirty="0">
              <a:cs typeface="Calibri" panose="020F0502020204030204"/>
            </a:endParaRPr>
          </a:p>
          <a:p>
            <a:pPr>
              <a:lnSpc>
                <a:spcPct val="150000"/>
              </a:lnSpc>
            </a:pPr>
            <a:r>
              <a:rPr lang="en-US" dirty="0">
                <a:ea typeface="+mn-lt"/>
                <a:cs typeface="+mn-lt"/>
              </a:rPr>
              <a:t>Name and location of each school </a:t>
            </a:r>
            <a:endParaRPr lang="en-US">
              <a:cs typeface="Calibri" panose="020F0502020204030204"/>
            </a:endParaRPr>
          </a:p>
          <a:p>
            <a:pPr>
              <a:lnSpc>
                <a:spcPct val="150000"/>
              </a:lnSpc>
            </a:pPr>
            <a:r>
              <a:rPr lang="en-US" dirty="0">
                <a:ea typeface="+mn-lt"/>
                <a:cs typeface="+mn-lt"/>
              </a:rPr>
              <a:t>Dates of attendance</a:t>
            </a:r>
            <a:endParaRPr lang="en-US" dirty="0">
              <a:cs typeface="Calibri" panose="020F0502020204030204"/>
            </a:endParaRPr>
          </a:p>
          <a:p>
            <a:pPr>
              <a:lnSpc>
                <a:spcPct val="150000"/>
              </a:lnSpc>
            </a:pPr>
            <a:r>
              <a:rPr lang="en-US" dirty="0">
                <a:ea typeface="+mn-lt"/>
                <a:cs typeface="+mn-lt"/>
              </a:rPr>
              <a:t>Degrees</a:t>
            </a:r>
            <a:endParaRPr lang="en-US" dirty="0">
              <a:cs typeface="Calibri" panose="020F0502020204030204"/>
            </a:endParaRPr>
          </a:p>
          <a:p>
            <a:pPr>
              <a:lnSpc>
                <a:spcPct val="150000"/>
              </a:lnSpc>
            </a:pPr>
            <a:r>
              <a:rPr lang="en-US" dirty="0">
                <a:ea typeface="+mn-lt"/>
                <a:cs typeface="+mn-lt"/>
              </a:rPr>
              <a:t>Major</a:t>
            </a:r>
            <a:endParaRPr lang="en-US" dirty="0">
              <a:cs typeface="Calibri" panose="020F0502020204030204"/>
            </a:endParaRPr>
          </a:p>
          <a:p>
            <a:pPr>
              <a:lnSpc>
                <a:spcPct val="150000"/>
              </a:lnSpc>
            </a:pPr>
            <a:r>
              <a:rPr lang="en-US" dirty="0">
                <a:ea typeface="+mn-lt"/>
                <a:cs typeface="+mn-lt"/>
              </a:rPr>
              <a:t>Achievements</a:t>
            </a:r>
            <a:endParaRPr lang="en-US" dirty="0">
              <a:cs typeface="Calibri" panose="020F0502020204030204"/>
            </a:endParaRPr>
          </a:p>
        </p:txBody>
      </p:sp>
      <p:pic>
        <p:nvPicPr>
          <p:cNvPr id="7" name="Picture 7" descr="Text&#10;&#10;Description automatically generated">
            <a:extLst>
              <a:ext uri="{FF2B5EF4-FFF2-40B4-BE49-F238E27FC236}">
                <a16:creationId xmlns:a16="http://schemas.microsoft.com/office/drawing/2014/main" id="{F2594FBE-4528-96E7-9C05-AE418A249C9C}"/>
              </a:ext>
            </a:extLst>
          </p:cNvPr>
          <p:cNvPicPr>
            <a:picLocks noChangeAspect="1"/>
          </p:cNvPicPr>
          <p:nvPr/>
        </p:nvPicPr>
        <p:blipFill>
          <a:blip r:embed="rId2"/>
          <a:stretch>
            <a:fillRect/>
          </a:stretch>
        </p:blipFill>
        <p:spPr>
          <a:xfrm>
            <a:off x="10216551" y="240986"/>
            <a:ext cx="1650521" cy="1775272"/>
          </a:xfrm>
          <a:prstGeom prst="rect">
            <a:avLst/>
          </a:prstGeom>
        </p:spPr>
      </p:pic>
    </p:spTree>
    <p:extLst>
      <p:ext uri="{BB962C8B-B14F-4D97-AF65-F5344CB8AC3E}">
        <p14:creationId xmlns:p14="http://schemas.microsoft.com/office/powerpoint/2010/main" val="1112390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698BA-E865-1703-230D-9F81F773BCE4}"/>
              </a:ext>
            </a:extLst>
          </p:cNvPr>
          <p:cNvSpPr>
            <a:spLocks noGrp="1"/>
          </p:cNvSpPr>
          <p:nvPr>
            <p:ph type="title"/>
          </p:nvPr>
        </p:nvSpPr>
        <p:spPr/>
        <p:txBody>
          <a:bodyPr>
            <a:normAutofit/>
          </a:bodyPr>
          <a:lstStyle/>
          <a:p>
            <a:r>
              <a:rPr lang="en-US" b="1" dirty="0">
                <a:ea typeface="+mj-lt"/>
                <a:cs typeface="+mj-lt"/>
              </a:rPr>
              <a:t>Elements of Your Successful Résumé </a:t>
            </a:r>
            <a:endParaRPr lang="en-US" b="1">
              <a:cs typeface="Calibri Light"/>
            </a:endParaRPr>
          </a:p>
        </p:txBody>
      </p:sp>
      <p:sp>
        <p:nvSpPr>
          <p:cNvPr id="3" name="Text Placeholder 2">
            <a:extLst>
              <a:ext uri="{FF2B5EF4-FFF2-40B4-BE49-F238E27FC236}">
                <a16:creationId xmlns:a16="http://schemas.microsoft.com/office/drawing/2014/main" id="{60514E6A-EBC2-9C38-0983-B53C0D45A787}"/>
              </a:ext>
            </a:extLst>
          </p:cNvPr>
          <p:cNvSpPr>
            <a:spLocks noGrp="1"/>
          </p:cNvSpPr>
          <p:nvPr>
            <p:ph type="body" idx="1"/>
          </p:nvPr>
        </p:nvSpPr>
        <p:spPr>
          <a:xfrm>
            <a:off x="839788" y="1690570"/>
            <a:ext cx="2984676" cy="635764"/>
          </a:xfrm>
        </p:spPr>
        <p:txBody>
          <a:bodyPr>
            <a:normAutofit lnSpcReduction="10000"/>
          </a:bodyPr>
          <a:lstStyle/>
          <a:p>
            <a:r>
              <a:rPr lang="en-US" dirty="0">
                <a:ea typeface="+mn-lt"/>
                <a:cs typeface="+mn-lt"/>
              </a:rPr>
              <a:t>Experience</a:t>
            </a:r>
          </a:p>
        </p:txBody>
      </p:sp>
      <p:sp>
        <p:nvSpPr>
          <p:cNvPr id="4" name="Content Placeholder 3">
            <a:extLst>
              <a:ext uri="{FF2B5EF4-FFF2-40B4-BE49-F238E27FC236}">
                <a16:creationId xmlns:a16="http://schemas.microsoft.com/office/drawing/2014/main" id="{721268B2-A6B8-F498-51DF-289A43CF2212}"/>
              </a:ext>
            </a:extLst>
          </p:cNvPr>
          <p:cNvSpPr>
            <a:spLocks noGrp="1"/>
          </p:cNvSpPr>
          <p:nvPr>
            <p:ph sz="half" idx="2"/>
          </p:nvPr>
        </p:nvSpPr>
        <p:spPr>
          <a:xfrm>
            <a:off x="839788" y="2505075"/>
            <a:ext cx="3346240" cy="3684588"/>
          </a:xfrm>
        </p:spPr>
        <p:txBody>
          <a:bodyPr vert="horz" lIns="91440" tIns="45720" rIns="91440" bIns="45720" rtlCol="0" anchor="t">
            <a:normAutofit fontScale="55000" lnSpcReduction="20000"/>
          </a:bodyPr>
          <a:lstStyle/>
          <a:p>
            <a:pPr>
              <a:lnSpc>
                <a:spcPct val="160000"/>
              </a:lnSpc>
            </a:pPr>
            <a:r>
              <a:rPr lang="en-US" dirty="0">
                <a:ea typeface="+mn-lt"/>
                <a:cs typeface="+mn-lt"/>
              </a:rPr>
              <a:t>Dates of employment</a:t>
            </a:r>
            <a:endParaRPr lang="en-US"/>
          </a:p>
          <a:p>
            <a:pPr>
              <a:lnSpc>
                <a:spcPct val="160000"/>
              </a:lnSpc>
            </a:pPr>
            <a:r>
              <a:rPr lang="en-US" dirty="0">
                <a:ea typeface="+mn-lt"/>
                <a:cs typeface="+mn-lt"/>
              </a:rPr>
              <a:t>Job title</a:t>
            </a:r>
            <a:endParaRPr lang="en-US" dirty="0">
              <a:cs typeface="Calibri" panose="020F0502020204030204"/>
            </a:endParaRPr>
          </a:p>
          <a:p>
            <a:pPr>
              <a:lnSpc>
                <a:spcPct val="160000"/>
              </a:lnSpc>
            </a:pPr>
            <a:r>
              <a:rPr lang="en-US" dirty="0">
                <a:ea typeface="+mn-lt"/>
                <a:cs typeface="+mn-lt"/>
              </a:rPr>
              <a:t>Employer</a:t>
            </a:r>
            <a:endParaRPr lang="en-US" dirty="0">
              <a:cs typeface="Calibri" panose="020F0502020204030204"/>
            </a:endParaRPr>
          </a:p>
          <a:p>
            <a:pPr>
              <a:lnSpc>
                <a:spcPct val="160000"/>
              </a:lnSpc>
            </a:pPr>
            <a:r>
              <a:rPr lang="en-US" dirty="0">
                <a:ea typeface="+mn-lt"/>
                <a:cs typeface="+mn-lt"/>
              </a:rPr>
              <a:t>Employer’s location</a:t>
            </a:r>
            <a:endParaRPr lang="en-US" dirty="0">
              <a:cs typeface="Calibri" panose="020F0502020204030204"/>
            </a:endParaRPr>
          </a:p>
          <a:p>
            <a:pPr>
              <a:lnSpc>
                <a:spcPct val="160000"/>
              </a:lnSpc>
            </a:pPr>
            <a:r>
              <a:rPr lang="en-US" dirty="0">
                <a:ea typeface="+mn-lt"/>
                <a:cs typeface="+mn-lt"/>
              </a:rPr>
              <a:t>Job responsibilities stated using action words and keywords</a:t>
            </a:r>
            <a:endParaRPr lang="en-US" dirty="0">
              <a:cs typeface="Calibri" panose="020F0502020204030204"/>
            </a:endParaRPr>
          </a:p>
        </p:txBody>
      </p:sp>
      <p:sp>
        <p:nvSpPr>
          <p:cNvPr id="5" name="Text Placeholder 4">
            <a:extLst>
              <a:ext uri="{FF2B5EF4-FFF2-40B4-BE49-F238E27FC236}">
                <a16:creationId xmlns:a16="http://schemas.microsoft.com/office/drawing/2014/main" id="{76697B50-7218-C28E-A513-4AE494A6CAB6}"/>
              </a:ext>
            </a:extLst>
          </p:cNvPr>
          <p:cNvSpPr>
            <a:spLocks noGrp="1"/>
          </p:cNvSpPr>
          <p:nvPr>
            <p:ph type="body" sz="quarter" idx="3"/>
          </p:nvPr>
        </p:nvSpPr>
        <p:spPr>
          <a:xfrm>
            <a:off x="4418162" y="1594899"/>
            <a:ext cx="2839679" cy="823912"/>
          </a:xfrm>
        </p:spPr>
        <p:txBody>
          <a:bodyPr>
            <a:normAutofit lnSpcReduction="10000"/>
          </a:bodyPr>
          <a:lstStyle/>
          <a:p>
            <a:r>
              <a:rPr lang="en-US" dirty="0">
                <a:ea typeface="+mn-lt"/>
                <a:cs typeface="+mn-lt"/>
              </a:rPr>
              <a:t>Activities/Honors/</a:t>
            </a:r>
          </a:p>
          <a:p>
            <a:r>
              <a:rPr lang="en-US" dirty="0">
                <a:ea typeface="+mn-lt"/>
                <a:cs typeface="+mn-lt"/>
              </a:rPr>
              <a:t>Special Skills</a:t>
            </a:r>
            <a:endParaRPr lang="en-US" dirty="0">
              <a:cs typeface="Calibri"/>
            </a:endParaRPr>
          </a:p>
        </p:txBody>
      </p:sp>
      <p:sp>
        <p:nvSpPr>
          <p:cNvPr id="6" name="Content Placeholder 5">
            <a:extLst>
              <a:ext uri="{FF2B5EF4-FFF2-40B4-BE49-F238E27FC236}">
                <a16:creationId xmlns:a16="http://schemas.microsoft.com/office/drawing/2014/main" id="{C0B396E1-76CA-4943-1097-237FBF5E9787}"/>
              </a:ext>
            </a:extLst>
          </p:cNvPr>
          <p:cNvSpPr>
            <a:spLocks noGrp="1"/>
          </p:cNvSpPr>
          <p:nvPr>
            <p:ph sz="quarter" idx="4"/>
          </p:nvPr>
        </p:nvSpPr>
        <p:spPr>
          <a:xfrm>
            <a:off x="4504426" y="2505075"/>
            <a:ext cx="3342887" cy="3684588"/>
          </a:xfrm>
        </p:spPr>
        <p:txBody>
          <a:bodyPr vert="horz" lIns="91440" tIns="45720" rIns="91440" bIns="45720" rtlCol="0" anchor="t">
            <a:normAutofit fontScale="55000" lnSpcReduction="20000"/>
          </a:bodyPr>
          <a:lstStyle/>
          <a:p>
            <a:pPr>
              <a:lnSpc>
                <a:spcPct val="160000"/>
              </a:lnSpc>
            </a:pPr>
            <a:r>
              <a:rPr lang="en-US" dirty="0">
                <a:ea typeface="+mn-lt"/>
                <a:cs typeface="+mn-lt"/>
              </a:rPr>
              <a:t>Special skills</a:t>
            </a:r>
            <a:endParaRPr lang="en-US"/>
          </a:p>
          <a:p>
            <a:pPr>
              <a:lnSpc>
                <a:spcPct val="160000"/>
              </a:lnSpc>
            </a:pPr>
            <a:r>
              <a:rPr lang="en-US" dirty="0">
                <a:ea typeface="+mn-lt"/>
                <a:cs typeface="+mn-lt"/>
              </a:rPr>
              <a:t>Computer competence</a:t>
            </a:r>
            <a:endParaRPr lang="en-US" dirty="0">
              <a:cs typeface="Calibri" panose="020F0502020204030204"/>
            </a:endParaRPr>
          </a:p>
          <a:p>
            <a:pPr>
              <a:lnSpc>
                <a:spcPct val="160000"/>
              </a:lnSpc>
            </a:pPr>
            <a:r>
              <a:rPr lang="en-US" dirty="0">
                <a:ea typeface="+mn-lt"/>
                <a:cs typeface="+mn-lt"/>
              </a:rPr>
              <a:t>Community service</a:t>
            </a:r>
            <a:endParaRPr lang="en-US" dirty="0">
              <a:cs typeface="Calibri" panose="020F0502020204030204"/>
            </a:endParaRPr>
          </a:p>
          <a:p>
            <a:pPr>
              <a:lnSpc>
                <a:spcPct val="160000"/>
              </a:lnSpc>
            </a:pPr>
            <a:r>
              <a:rPr lang="en-US" dirty="0">
                <a:ea typeface="+mn-lt"/>
                <a:cs typeface="+mn-lt"/>
              </a:rPr>
              <a:t>Published works</a:t>
            </a:r>
            <a:endParaRPr lang="en-US" dirty="0">
              <a:cs typeface="Calibri" panose="020F0502020204030204"/>
            </a:endParaRPr>
          </a:p>
          <a:p>
            <a:pPr>
              <a:lnSpc>
                <a:spcPct val="160000"/>
              </a:lnSpc>
            </a:pPr>
            <a:r>
              <a:rPr lang="en-US" dirty="0">
                <a:ea typeface="+mn-lt"/>
                <a:cs typeface="+mn-lt"/>
              </a:rPr>
              <a:t>Public presentations</a:t>
            </a:r>
            <a:endParaRPr lang="en-US" dirty="0">
              <a:cs typeface="Calibri" panose="020F0502020204030204"/>
            </a:endParaRPr>
          </a:p>
          <a:p>
            <a:pPr>
              <a:lnSpc>
                <a:spcPct val="160000"/>
              </a:lnSpc>
            </a:pPr>
            <a:r>
              <a:rPr lang="en-US" dirty="0">
                <a:ea typeface="+mn-lt"/>
                <a:cs typeface="+mn-lt"/>
              </a:rPr>
              <a:t>Military service</a:t>
            </a:r>
            <a:endParaRPr lang="en-US" dirty="0">
              <a:cs typeface="Calibri" panose="020F0502020204030204"/>
            </a:endParaRPr>
          </a:p>
          <a:p>
            <a:pPr>
              <a:lnSpc>
                <a:spcPct val="160000"/>
              </a:lnSpc>
            </a:pPr>
            <a:r>
              <a:rPr lang="en-US" dirty="0">
                <a:ea typeface="+mn-lt"/>
                <a:cs typeface="+mn-lt"/>
              </a:rPr>
              <a:t>Organization memberships</a:t>
            </a:r>
            <a:endParaRPr lang="en-US" dirty="0">
              <a:cs typeface="Calibri" panose="020F0502020204030204"/>
            </a:endParaRPr>
          </a:p>
          <a:p>
            <a:pPr>
              <a:lnSpc>
                <a:spcPct val="160000"/>
              </a:lnSpc>
            </a:pPr>
            <a:r>
              <a:rPr lang="en-US" dirty="0">
                <a:ea typeface="+mn-lt"/>
                <a:cs typeface="+mn-lt"/>
              </a:rPr>
              <a:t>Special interests</a:t>
            </a:r>
            <a:endParaRPr lang="en-US" dirty="0">
              <a:cs typeface="Calibri" panose="020F0502020204030204"/>
            </a:endParaRPr>
          </a:p>
        </p:txBody>
      </p:sp>
      <p:sp>
        <p:nvSpPr>
          <p:cNvPr id="9" name="Content Placeholder 3">
            <a:extLst>
              <a:ext uri="{FF2B5EF4-FFF2-40B4-BE49-F238E27FC236}">
                <a16:creationId xmlns:a16="http://schemas.microsoft.com/office/drawing/2014/main" id="{36539A57-753F-FA19-54AE-681B04C001BE}"/>
              </a:ext>
            </a:extLst>
          </p:cNvPr>
          <p:cNvSpPr txBox="1">
            <a:spLocks/>
          </p:cNvSpPr>
          <p:nvPr/>
        </p:nvSpPr>
        <p:spPr>
          <a:xfrm>
            <a:off x="7840781" y="2844381"/>
            <a:ext cx="3863647" cy="3684588"/>
          </a:xfrm>
          <a:prstGeom prst="rect">
            <a:avLst/>
          </a:prstGeom>
        </p:spPr>
        <p:txBody>
          <a:bodyPr vert="horz" lIns="91440" tIns="45720" rIns="91440" bIns="45720" rtlCol="0" anchor="t">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ea typeface="+mn-lt"/>
                <a:cs typeface="+mn-lt"/>
              </a:rPr>
              <a:t>Characteristics</a:t>
            </a:r>
            <a:endParaRPr lang="en-US" dirty="0"/>
          </a:p>
          <a:p>
            <a:pPr marL="0" indent="0">
              <a:buNone/>
            </a:pPr>
            <a:r>
              <a:rPr lang="en-US" dirty="0">
                <a:ea typeface="+mn-lt"/>
                <a:cs typeface="+mn-lt"/>
              </a:rPr>
              <a:t>Positive</a:t>
            </a:r>
            <a:endParaRPr lang="en-US" dirty="0">
              <a:cs typeface="Calibri" panose="020F0502020204030204"/>
            </a:endParaRPr>
          </a:p>
          <a:p>
            <a:pPr marL="0" indent="0">
              <a:lnSpc>
                <a:spcPct val="170000"/>
              </a:lnSpc>
              <a:buNone/>
            </a:pPr>
            <a:r>
              <a:rPr lang="en-US" i="1" dirty="0">
                <a:ea typeface="+mn-lt"/>
                <a:cs typeface="+mn-lt"/>
              </a:rPr>
              <a:t>Related to prospective job and its requirements</a:t>
            </a:r>
            <a:endParaRPr lang="en-US" i="1">
              <a:cs typeface="Calibri" panose="020F0502020204030204"/>
            </a:endParaRPr>
          </a:p>
          <a:p>
            <a:pPr marL="0" indent="0">
              <a:lnSpc>
                <a:spcPct val="170000"/>
              </a:lnSpc>
              <a:buNone/>
            </a:pPr>
            <a:r>
              <a:rPr lang="en-US" i="1" dirty="0">
                <a:ea typeface="+mn-lt"/>
                <a:cs typeface="+mn-lt"/>
              </a:rPr>
              <a:t>Complete and easy-to-use contact information on a separate sheet of paper</a:t>
            </a:r>
            <a:endParaRPr lang="en-US" i="1" dirty="0">
              <a:cs typeface="Calibri" panose="020F0502020204030204"/>
            </a:endParaRPr>
          </a:p>
          <a:p>
            <a:r>
              <a:rPr lang="en-US" dirty="0">
                <a:ea typeface="+mn-lt"/>
                <a:cs typeface="+mn-lt"/>
              </a:rPr>
              <a:t>Who</a:t>
            </a:r>
            <a:endParaRPr lang="en-US" dirty="0"/>
          </a:p>
          <a:p>
            <a:pPr marL="0" indent="0">
              <a:buNone/>
            </a:pPr>
            <a:r>
              <a:rPr lang="en-US" i="1" dirty="0">
                <a:ea typeface="+mn-lt"/>
                <a:cs typeface="+mn-lt"/>
              </a:rPr>
              <a:t>Previous employers</a:t>
            </a:r>
            <a:endParaRPr lang="en-US" i="1">
              <a:cs typeface="Calibri" panose="020F0502020204030204"/>
            </a:endParaRPr>
          </a:p>
          <a:p>
            <a:pPr marL="0" indent="0">
              <a:buNone/>
            </a:pPr>
            <a:r>
              <a:rPr lang="en-US" i="1" dirty="0">
                <a:ea typeface="+mn-lt"/>
                <a:cs typeface="+mn-lt"/>
              </a:rPr>
              <a:t>Instructors (college or high school)</a:t>
            </a:r>
            <a:endParaRPr lang="en-US" i="1" dirty="0">
              <a:cs typeface="Calibri"/>
            </a:endParaRPr>
          </a:p>
          <a:p>
            <a:endParaRPr lang="en-US" dirty="0">
              <a:cs typeface="Calibri"/>
            </a:endParaRPr>
          </a:p>
        </p:txBody>
      </p:sp>
      <p:sp>
        <p:nvSpPr>
          <p:cNvPr id="11" name="Text Placeholder 2">
            <a:extLst>
              <a:ext uri="{FF2B5EF4-FFF2-40B4-BE49-F238E27FC236}">
                <a16:creationId xmlns:a16="http://schemas.microsoft.com/office/drawing/2014/main" id="{F6D3639A-37FE-AB99-6089-03F1B8841ED9}"/>
              </a:ext>
            </a:extLst>
          </p:cNvPr>
          <p:cNvSpPr txBox="1">
            <a:spLocks/>
          </p:cNvSpPr>
          <p:nvPr/>
        </p:nvSpPr>
        <p:spPr>
          <a:xfrm>
            <a:off x="7921364" y="1718544"/>
            <a:ext cx="4612158" cy="5605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ea typeface="+mn-lt"/>
                <a:cs typeface="+mn-lt"/>
              </a:rPr>
              <a:t>References</a:t>
            </a:r>
            <a:endParaRPr lang="en-US" dirty="0"/>
          </a:p>
        </p:txBody>
      </p:sp>
    </p:spTree>
    <p:extLst>
      <p:ext uri="{BB962C8B-B14F-4D97-AF65-F5344CB8AC3E}">
        <p14:creationId xmlns:p14="http://schemas.microsoft.com/office/powerpoint/2010/main" val="20910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9"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F892E19-92E7-4BB2-8C3F-DBDFE8D9D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5" name="Group 24">
              <a:extLst>
                <a:ext uri="{FF2B5EF4-FFF2-40B4-BE49-F238E27FC236}">
                  <a16:creationId xmlns:a16="http://schemas.microsoft.com/office/drawing/2014/main" id="{81E493D3-31D9-4B80-9798-EEA082E12A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3" name="Freeform: Shape 32">
                <a:extLst>
                  <a:ext uri="{FF2B5EF4-FFF2-40B4-BE49-F238E27FC236}">
                    <a16:creationId xmlns:a16="http://schemas.microsoft.com/office/drawing/2014/main" id="{62E6AA4D-EC17-45B5-B621-DF0FD91FD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D56F11D0-7966-41FE-AAB9-EC0C54F11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26" name="Group 25">
              <a:extLst>
                <a:ext uri="{FF2B5EF4-FFF2-40B4-BE49-F238E27FC236}">
                  <a16:creationId xmlns:a16="http://schemas.microsoft.com/office/drawing/2014/main" id="{CEDE579A-0A12-4A10-85D4-A8DA1663B89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27" name="Group 26">
                <a:extLst>
                  <a:ext uri="{FF2B5EF4-FFF2-40B4-BE49-F238E27FC236}">
                    <a16:creationId xmlns:a16="http://schemas.microsoft.com/office/drawing/2014/main" id="{15CA79E3-BA58-419A-8541-7498AC2633F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1" name="Freeform: Shape 30">
                  <a:extLst>
                    <a:ext uri="{FF2B5EF4-FFF2-40B4-BE49-F238E27FC236}">
                      <a16:creationId xmlns:a16="http://schemas.microsoft.com/office/drawing/2014/main" id="{2348C622-BC44-4959-B64E-427015FD1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F8841A98-AA1D-4F65-A368-EF31110B0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8" name="Group 27">
                <a:extLst>
                  <a:ext uri="{FF2B5EF4-FFF2-40B4-BE49-F238E27FC236}">
                    <a16:creationId xmlns:a16="http://schemas.microsoft.com/office/drawing/2014/main" id="{E6609F08-9B2C-4879-AC68-E3E537BED7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29" name="Freeform: Shape 28">
                  <a:extLst>
                    <a:ext uri="{FF2B5EF4-FFF2-40B4-BE49-F238E27FC236}">
                      <a16:creationId xmlns:a16="http://schemas.microsoft.com/office/drawing/2014/main" id="{6910EFC9-D70D-42FD-BCCD-AB1F710BF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83BEF371-1E22-4C4F-A62F-AC6B92CAE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2" name="Title 1"/>
          <p:cNvSpPr>
            <a:spLocks noGrp="1"/>
          </p:cNvSpPr>
          <p:nvPr>
            <p:ph type="title"/>
          </p:nvPr>
        </p:nvSpPr>
        <p:spPr>
          <a:xfrm>
            <a:off x="827088" y="1641752"/>
            <a:ext cx="2655887" cy="3213277"/>
          </a:xfrm>
        </p:spPr>
        <p:txBody>
          <a:bodyPr anchor="t">
            <a:normAutofit/>
          </a:bodyPr>
          <a:lstStyle/>
          <a:p>
            <a:r>
              <a:rPr lang="en-US" sz="4000" b="1"/>
              <a:t>Avoid</a:t>
            </a:r>
            <a:endParaRPr lang="en-US" sz="4000"/>
          </a:p>
        </p:txBody>
      </p:sp>
      <p:sp>
        <p:nvSpPr>
          <p:cNvPr id="3" name="Content Placeholder 2"/>
          <p:cNvSpPr>
            <a:spLocks noGrp="1"/>
          </p:cNvSpPr>
          <p:nvPr>
            <p:ph idx="1"/>
          </p:nvPr>
        </p:nvSpPr>
        <p:spPr>
          <a:xfrm>
            <a:off x="5232401" y="1721579"/>
            <a:ext cx="6140449" cy="3952648"/>
          </a:xfrm>
        </p:spPr>
        <p:txBody>
          <a:bodyPr vert="horz" lIns="91440" tIns="45720" rIns="91440" bIns="45720" rtlCol="0" anchor="t">
            <a:normAutofit/>
          </a:bodyPr>
          <a:lstStyle/>
          <a:p>
            <a:pPr>
              <a:lnSpc>
                <a:spcPct val="150000"/>
              </a:lnSpc>
              <a:buFont typeface="Arial" panose="05000000000000000000" pitchFamily="2" charset="2"/>
              <a:buChar char="•"/>
            </a:pPr>
            <a:r>
              <a:rPr lang="en-US" sz="2400" dirty="0">
                <a:solidFill>
                  <a:schemeClr val="tx1">
                    <a:alpha val="80000"/>
                  </a:schemeClr>
                </a:solidFill>
                <a:ea typeface="+mn-lt"/>
                <a:cs typeface="+mn-lt"/>
              </a:rPr>
              <a:t>Typos –spelling mistake </a:t>
            </a:r>
            <a:endParaRPr lang="en-US" sz="2400">
              <a:solidFill>
                <a:srgbClr val="FFFFFF">
                  <a:alpha val="80000"/>
                </a:srgbClr>
              </a:solidFill>
              <a:cs typeface="Calibri" panose="020F0502020204030204"/>
            </a:endParaRPr>
          </a:p>
          <a:p>
            <a:pPr>
              <a:lnSpc>
                <a:spcPct val="150000"/>
              </a:lnSpc>
              <a:buFont typeface="Arial" panose="05000000000000000000" pitchFamily="2" charset="2"/>
              <a:buChar char="•"/>
            </a:pPr>
            <a:r>
              <a:rPr lang="en-US" sz="2400" dirty="0">
                <a:solidFill>
                  <a:schemeClr val="tx1">
                    <a:alpha val="80000"/>
                  </a:schemeClr>
                </a:solidFill>
                <a:ea typeface="+mn-lt"/>
                <a:cs typeface="+mn-lt"/>
              </a:rPr>
              <a:t>Discrimination religion, politics, gender, marital status, color, race</a:t>
            </a:r>
            <a:endParaRPr lang="en-US" sz="2400" dirty="0">
              <a:solidFill>
                <a:schemeClr val="tx1">
                  <a:alpha val="80000"/>
                </a:schemeClr>
              </a:solidFill>
              <a:cs typeface="Calibri" panose="020F0502020204030204"/>
            </a:endParaRPr>
          </a:p>
          <a:p>
            <a:pPr>
              <a:lnSpc>
                <a:spcPct val="150000"/>
              </a:lnSpc>
              <a:buFont typeface="Arial" panose="05000000000000000000" pitchFamily="2" charset="2"/>
              <a:buChar char="•"/>
            </a:pPr>
            <a:r>
              <a:rPr lang="en-US" sz="2400" dirty="0">
                <a:solidFill>
                  <a:schemeClr val="tx1">
                    <a:alpha val="80000"/>
                  </a:schemeClr>
                </a:solidFill>
                <a:ea typeface="+mn-lt"/>
                <a:cs typeface="+mn-lt"/>
              </a:rPr>
              <a:t>Too much for the eyes</a:t>
            </a:r>
            <a:endParaRPr lang="en-US" sz="2400" dirty="0">
              <a:solidFill>
                <a:schemeClr val="tx1">
                  <a:alpha val="80000"/>
                </a:schemeClr>
              </a:solidFill>
              <a:cs typeface="Calibri" panose="020F0502020204030204"/>
            </a:endParaRPr>
          </a:p>
          <a:p>
            <a:pPr>
              <a:lnSpc>
                <a:spcPct val="150000"/>
              </a:lnSpc>
              <a:buFont typeface="Arial" panose="05000000000000000000" pitchFamily="2" charset="2"/>
              <a:buChar char="•"/>
            </a:pPr>
            <a:r>
              <a:rPr lang="en-US" sz="2400" dirty="0">
                <a:solidFill>
                  <a:schemeClr val="tx1">
                    <a:alpha val="80000"/>
                  </a:schemeClr>
                </a:solidFill>
                <a:ea typeface="+mn-lt"/>
                <a:cs typeface="+mn-lt"/>
              </a:rPr>
              <a:t>Sensitive/non job-related photos </a:t>
            </a:r>
            <a:endParaRPr lang="en-US" sz="2400">
              <a:solidFill>
                <a:srgbClr val="FFFFFF">
                  <a:alpha val="80000"/>
                </a:srgbClr>
              </a:solidFill>
              <a:cs typeface="Calibri" panose="020F0502020204030204"/>
            </a:endParaRPr>
          </a:p>
          <a:p>
            <a:pPr>
              <a:lnSpc>
                <a:spcPct val="150000"/>
              </a:lnSpc>
              <a:buFont typeface="Arial" panose="05000000000000000000" pitchFamily="2" charset="2"/>
              <a:buChar char="•"/>
            </a:pPr>
            <a:r>
              <a:rPr lang="en-US" sz="2400" dirty="0">
                <a:solidFill>
                  <a:schemeClr val="tx1">
                    <a:alpha val="80000"/>
                  </a:schemeClr>
                </a:solidFill>
                <a:ea typeface="+mn-lt"/>
                <a:cs typeface="+mn-lt"/>
              </a:rPr>
              <a:t>Abbreviations.</a:t>
            </a:r>
            <a:endParaRPr lang="en-US" sz="2400" dirty="0">
              <a:solidFill>
                <a:srgbClr val="FFFFFF">
                  <a:alpha val="80000"/>
                </a:srgbClr>
              </a:solidFill>
              <a:ea typeface="+mn-lt"/>
              <a:cs typeface="+mn-lt"/>
            </a:endParaRPr>
          </a:p>
        </p:txBody>
      </p:sp>
    </p:spTree>
    <p:extLst>
      <p:ext uri="{BB962C8B-B14F-4D97-AF65-F5344CB8AC3E}">
        <p14:creationId xmlns:p14="http://schemas.microsoft.com/office/powerpoint/2010/main" val="148823817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DDFD2F-659E-BAD0-880A-31FBBA245832}"/>
              </a:ext>
            </a:extLst>
          </p:cNvPr>
          <p:cNvSpPr>
            <a:spLocks noGrp="1"/>
          </p:cNvSpPr>
          <p:nvPr>
            <p:ph type="title"/>
          </p:nvPr>
        </p:nvSpPr>
        <p:spPr>
          <a:xfrm>
            <a:off x="1115568" y="548640"/>
            <a:ext cx="10168128" cy="1179576"/>
          </a:xfrm>
        </p:spPr>
        <p:txBody>
          <a:bodyPr>
            <a:normAutofit/>
          </a:bodyPr>
          <a:lstStyle/>
          <a:p>
            <a:r>
              <a:rPr lang="en-US" sz="4000" b="1" dirty="0">
                <a:ea typeface="+mj-lt"/>
                <a:cs typeface="+mj-lt"/>
              </a:rPr>
              <a:t>Refining Your Résumé</a:t>
            </a:r>
            <a:endParaRPr lang="en-US" sz="4000" b="1" dirty="0">
              <a:cs typeface="Calibri Light"/>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8CE134F-466C-9668-2AE0-EE08758C7E1D}"/>
              </a:ext>
            </a:extLst>
          </p:cNvPr>
          <p:cNvSpPr>
            <a:spLocks noGrp="1"/>
          </p:cNvSpPr>
          <p:nvPr>
            <p:ph idx="1"/>
          </p:nvPr>
        </p:nvSpPr>
        <p:spPr>
          <a:xfrm>
            <a:off x="1115568" y="2481943"/>
            <a:ext cx="10168128" cy="3695020"/>
          </a:xfrm>
        </p:spPr>
        <p:txBody>
          <a:bodyPr vert="horz" lIns="91440" tIns="45720" rIns="91440" bIns="45720" rtlCol="0">
            <a:normAutofit/>
          </a:bodyPr>
          <a:lstStyle/>
          <a:p>
            <a:r>
              <a:rPr lang="en-US" sz="2200">
                <a:ea typeface="+mn-lt"/>
                <a:cs typeface="+mn-lt"/>
              </a:rPr>
              <a:t>Print on light-colored paper with a laser printer.</a:t>
            </a:r>
            <a:endParaRPr lang="en-US" sz="2200">
              <a:cs typeface="Calibri" panose="020F0502020204030204"/>
            </a:endParaRPr>
          </a:p>
          <a:p>
            <a:r>
              <a:rPr lang="en-US" sz="2200">
                <a:ea typeface="+mn-lt"/>
                <a:cs typeface="+mn-lt"/>
              </a:rPr>
              <a:t>Arrange information simply but attractively.</a:t>
            </a:r>
            <a:endParaRPr lang="en-US" sz="2200"/>
          </a:p>
          <a:p>
            <a:r>
              <a:rPr lang="en-US" sz="2200">
                <a:ea typeface="+mn-lt"/>
                <a:cs typeface="+mn-lt"/>
              </a:rPr>
              <a:t>Use action verbs and strong phrases.</a:t>
            </a:r>
            <a:endParaRPr lang="en-US" sz="2200"/>
          </a:p>
          <a:p>
            <a:r>
              <a:rPr lang="en-US" sz="2200">
                <a:ea typeface="+mn-lt"/>
                <a:cs typeface="+mn-lt"/>
              </a:rPr>
              <a:t>Show a clear match between qualifications and job requirements.</a:t>
            </a:r>
            <a:endParaRPr lang="en-US" sz="2200"/>
          </a:p>
          <a:p>
            <a:r>
              <a:rPr lang="en-US" sz="2200">
                <a:ea typeface="+mn-lt"/>
                <a:cs typeface="+mn-lt"/>
              </a:rPr>
              <a:t>Ask for a peer review.</a:t>
            </a:r>
            <a:endParaRPr lang="en-US" sz="2200"/>
          </a:p>
          <a:p>
            <a:r>
              <a:rPr lang="en-US" sz="2200">
                <a:ea typeface="+mn-lt"/>
                <a:cs typeface="+mn-lt"/>
              </a:rPr>
              <a:t>Proofread carefully.</a:t>
            </a:r>
            <a:endParaRPr lang="en-US" sz="2200"/>
          </a:p>
          <a:p>
            <a:r>
              <a:rPr lang="en-US" sz="2200">
                <a:ea typeface="+mn-lt"/>
                <a:cs typeface="+mn-lt"/>
              </a:rPr>
              <a:t>Use a Summary of Qualifications to highlight accomplishments.</a:t>
            </a:r>
            <a:endParaRPr lang="en-US" sz="2200"/>
          </a:p>
        </p:txBody>
      </p:sp>
    </p:spTree>
    <p:extLst>
      <p:ext uri="{BB962C8B-B14F-4D97-AF65-F5344CB8AC3E}">
        <p14:creationId xmlns:p14="http://schemas.microsoft.com/office/powerpoint/2010/main" val="3188598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2963" y="1238080"/>
            <a:ext cx="9849751" cy="1349671"/>
          </a:xfrm>
        </p:spPr>
        <p:txBody>
          <a:bodyPr anchor="b">
            <a:normAutofit/>
          </a:bodyPr>
          <a:lstStyle/>
          <a:p>
            <a:r>
              <a:rPr lang="en-US" sz="4200" b="1"/>
              <a:t>Résumé Contents and Structure</a:t>
            </a:r>
            <a:br>
              <a:rPr lang="en-US" sz="4200" b="1"/>
            </a:br>
            <a:endParaRPr lang="en-US" sz="4200"/>
          </a:p>
        </p:txBody>
      </p:sp>
      <p:sp>
        <p:nvSpPr>
          <p:cNvPr id="3" name="Content Placeholder 2"/>
          <p:cNvSpPr>
            <a:spLocks noGrp="1"/>
          </p:cNvSpPr>
          <p:nvPr>
            <p:ph idx="1"/>
          </p:nvPr>
        </p:nvSpPr>
        <p:spPr>
          <a:xfrm>
            <a:off x="1280012" y="2029401"/>
            <a:ext cx="9849751" cy="3905680"/>
          </a:xfrm>
        </p:spPr>
        <p:txBody>
          <a:bodyPr anchor="ctr">
            <a:normAutofit/>
          </a:bodyPr>
          <a:lstStyle/>
          <a:p>
            <a:pPr marL="457200" indent="-457200" fontAlgn="base">
              <a:buFont typeface="+mj-lt"/>
              <a:buAutoNum type="arabicPeriod"/>
            </a:pPr>
            <a:r>
              <a:rPr lang="en-US" sz="1600" b="1" dirty="0"/>
              <a:t>Your contact information</a:t>
            </a:r>
            <a:r>
              <a:rPr lang="en-US" sz="1600" dirty="0"/>
              <a:t>: name, address, phone number, professional email address</a:t>
            </a:r>
            <a:endParaRPr lang="en-US" sz="1600" dirty="0">
              <a:cs typeface="Calibri"/>
            </a:endParaRPr>
          </a:p>
          <a:p>
            <a:pPr marL="457200" indent="-457200" fontAlgn="base">
              <a:buFont typeface="+mj-lt"/>
              <a:buAutoNum type="arabicPeriod"/>
            </a:pPr>
            <a:r>
              <a:rPr lang="en-US" sz="1600" b="1" dirty="0"/>
              <a:t>A summary of your skills</a:t>
            </a:r>
            <a:r>
              <a:rPr lang="en-US" sz="1600" dirty="0"/>
              <a:t>: 5–10 skills you have gained in your field; you can list hard skills as well as soft skills (refer to the Professional Skill Building topic in this course)</a:t>
            </a:r>
            <a:endParaRPr lang="en-US" sz="1600" dirty="0">
              <a:cs typeface="Calibri"/>
            </a:endParaRPr>
          </a:p>
          <a:p>
            <a:pPr marL="457200" indent="-457200" fontAlgn="base">
              <a:buFont typeface="+mj-lt"/>
              <a:buAutoNum type="arabicPeriod"/>
            </a:pPr>
            <a:r>
              <a:rPr lang="en-US" sz="1600" b="1" dirty="0"/>
              <a:t>Work experience</a:t>
            </a:r>
            <a:r>
              <a:rPr lang="en-US" sz="1600" dirty="0"/>
              <a:t>: depending on the résumé format you choose, you may list your most recent job first; include the title of the position, employer’s name, location, employment dates (beginning, ending)</a:t>
            </a:r>
            <a:endParaRPr lang="en-US" sz="1600" dirty="0">
              <a:cs typeface="Calibri"/>
            </a:endParaRPr>
          </a:p>
          <a:p>
            <a:pPr marL="457200" indent="-457200" fontAlgn="base">
              <a:buFont typeface="+mj-lt"/>
              <a:buAutoNum type="arabicPeriod"/>
            </a:pPr>
            <a:r>
              <a:rPr lang="en-US" sz="1600" b="1" dirty="0"/>
              <a:t>Volunteer experience</a:t>
            </a:r>
            <a:endParaRPr lang="en-US" sz="1600" dirty="0">
              <a:cs typeface="Calibri"/>
            </a:endParaRPr>
          </a:p>
          <a:p>
            <a:pPr marL="457200" indent="-457200" fontAlgn="base">
              <a:buFont typeface="+mj-lt"/>
              <a:buAutoNum type="arabicPeriod"/>
            </a:pPr>
            <a:r>
              <a:rPr lang="en-US" sz="1600" b="1" dirty="0"/>
              <a:t>Education and training</a:t>
            </a:r>
            <a:r>
              <a:rPr lang="en-US" sz="1600" dirty="0"/>
              <a:t>: formal and informal experiences matter; include academic degrees, professional development, certificates, internships, etc.</a:t>
            </a:r>
            <a:endParaRPr lang="en-US" sz="1600" dirty="0">
              <a:cs typeface="Calibri"/>
            </a:endParaRPr>
          </a:p>
          <a:p>
            <a:pPr marL="457200" indent="-457200" fontAlgn="base">
              <a:buFont typeface="+mj-lt"/>
              <a:buAutoNum type="arabicPeriod"/>
            </a:pPr>
            <a:r>
              <a:rPr lang="en-US" sz="1600" b="1" dirty="0"/>
              <a:t>References statement</a:t>
            </a:r>
            <a:r>
              <a:rPr lang="en-US" sz="1600" dirty="0"/>
              <a:t> (optional): “References available upon request” is a standard phrase used on résumés, although it is often implied</a:t>
            </a:r>
            <a:endParaRPr lang="en-US" sz="1600" dirty="0">
              <a:cs typeface="Calibri"/>
            </a:endParaRPr>
          </a:p>
          <a:p>
            <a:pPr marL="457200" indent="-457200" fontAlgn="base">
              <a:buFont typeface="+mj-lt"/>
              <a:buAutoNum type="arabicPeriod"/>
            </a:pPr>
            <a:r>
              <a:rPr lang="en-US" sz="1600" b="1" dirty="0"/>
              <a:t>Other sections</a:t>
            </a:r>
            <a:r>
              <a:rPr lang="en-US" sz="1600" dirty="0"/>
              <a:t>: may include a job objective, a brief profile, a branding statement, a summary statement, additional accomplishments, and any other related experiences</a:t>
            </a:r>
            <a:endParaRPr lang="en-US" sz="1600" dirty="0">
              <a:cs typeface="Calibri"/>
            </a:endParaRPr>
          </a:p>
        </p:txBody>
      </p:sp>
    </p:spTree>
    <p:extLst>
      <p:ext uri="{BB962C8B-B14F-4D97-AF65-F5344CB8AC3E}">
        <p14:creationId xmlns:p14="http://schemas.microsoft.com/office/powerpoint/2010/main" val="418649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7">
            <a:extLst>
              <a:ext uri="{FF2B5EF4-FFF2-40B4-BE49-F238E27FC236}">
                <a16:creationId xmlns:a16="http://schemas.microsoft.com/office/drawing/2014/main" id="{FA3C7DEA-BCC2-4295-8850-147993296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9">
            <a:extLst>
              <a:ext uri="{FF2B5EF4-FFF2-40B4-BE49-F238E27FC236}">
                <a16:creationId xmlns:a16="http://schemas.microsoft.com/office/drawing/2014/main" id="{C289949D-B9F6-468A-86FE-2694DC5AE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9226" y="1429830"/>
            <a:ext cx="9833548" cy="1038924"/>
          </a:xfrm>
        </p:spPr>
        <p:txBody>
          <a:bodyPr anchor="b">
            <a:normAutofit/>
          </a:bodyPr>
          <a:lstStyle/>
          <a:p>
            <a:r>
              <a:rPr lang="en-US" sz="3600" b="1">
                <a:solidFill>
                  <a:schemeClr val="tx2"/>
                </a:solidFill>
              </a:rPr>
              <a:t>Top Ten Tips for a Successful Résumé</a:t>
            </a:r>
            <a:endParaRPr lang="en-US" sz="3600">
              <a:solidFill>
                <a:schemeClr val="tx2"/>
              </a:solidFill>
            </a:endParaRPr>
          </a:p>
        </p:txBody>
      </p:sp>
      <p:grpSp>
        <p:nvGrpSpPr>
          <p:cNvPr id="19" name="Group 11">
            <a:extLst>
              <a:ext uri="{FF2B5EF4-FFF2-40B4-BE49-F238E27FC236}">
                <a16:creationId xmlns:a16="http://schemas.microsoft.com/office/drawing/2014/main" id="{E4DF0958-0C87-4C28-9554-2FADC788C2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DEC53B48-7B73-49D1-A6FD-9DBF5141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DEDDC41-2C98-4AF1-A0EA-AEEC34827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2208F20-F93C-4530-8370-FC7818BAB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52F51E0-B50B-43EA-B6AC-C16BD29C3E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p:cNvSpPr>
            <a:spLocks noGrp="1"/>
          </p:cNvSpPr>
          <p:nvPr>
            <p:ph idx="1"/>
          </p:nvPr>
        </p:nvSpPr>
        <p:spPr>
          <a:xfrm>
            <a:off x="1179226" y="3049325"/>
            <a:ext cx="9833548" cy="2945574"/>
          </a:xfrm>
        </p:spPr>
        <p:txBody>
          <a:bodyPr anchor="ctr">
            <a:normAutofit/>
          </a:bodyPr>
          <a:lstStyle/>
          <a:p>
            <a:pPr marL="457200" indent="-457200" fontAlgn="base">
              <a:buFont typeface="+mj-lt"/>
              <a:buAutoNum type="arabicPeriod"/>
            </a:pPr>
            <a:r>
              <a:rPr lang="en-US" sz="1200" dirty="0">
                <a:solidFill>
                  <a:schemeClr val="tx2"/>
                </a:solidFill>
              </a:rPr>
              <a:t>Aim to make a résumé that’s 1–2 pages long on letter-size paper.</a:t>
            </a:r>
            <a:endParaRPr lang="en-US" sz="1200" dirty="0">
              <a:solidFill>
                <a:schemeClr val="tx2"/>
              </a:solidFill>
              <a:cs typeface="Calibri"/>
            </a:endParaRPr>
          </a:p>
          <a:p>
            <a:pPr marL="457200" indent="-457200" fontAlgn="base">
              <a:buFont typeface="+mj-lt"/>
              <a:buAutoNum type="arabicPeriod"/>
            </a:pPr>
            <a:r>
              <a:rPr lang="en-US" sz="1200" dirty="0">
                <a:solidFill>
                  <a:schemeClr val="tx2"/>
                </a:solidFill>
              </a:rPr>
              <a:t>Make it visually appealing.</a:t>
            </a:r>
            <a:endParaRPr lang="en-US" sz="1200" dirty="0">
              <a:solidFill>
                <a:schemeClr val="tx2"/>
              </a:solidFill>
              <a:cs typeface="Calibri"/>
            </a:endParaRPr>
          </a:p>
          <a:p>
            <a:pPr marL="457200" indent="-457200" fontAlgn="base">
              <a:buFont typeface="+mj-lt"/>
              <a:buAutoNum type="arabicPeriod"/>
            </a:pPr>
            <a:r>
              <a:rPr lang="en-US" sz="1200" dirty="0">
                <a:solidFill>
                  <a:schemeClr val="tx2"/>
                </a:solidFill>
              </a:rPr>
              <a:t>Use action verbs and phrases. See </a:t>
            </a:r>
            <a:r>
              <a:rPr lang="en-US" sz="1200" b="1" u="sng" dirty="0">
                <a:solidFill>
                  <a:schemeClr val="tx2"/>
                </a:solidFill>
                <a:hlinkClick r:id="rId2">
                  <a:extLst>
                    <a:ext uri="{A12FA001-AC4F-418D-AE19-62706E023703}">
                      <ahyp:hlinkClr xmlns:ahyp="http://schemas.microsoft.com/office/drawing/2018/hyperlinkcolor" val="tx"/>
                    </a:ext>
                  </a:extLst>
                </a:hlinkClick>
              </a:rPr>
              <a:t>Action Words and Phrases for Résumé Development</a:t>
            </a:r>
            <a:r>
              <a:rPr lang="en-US" sz="1200" dirty="0">
                <a:solidFill>
                  <a:schemeClr val="tx2"/>
                </a:solidFill>
              </a:rPr>
              <a:t>.</a:t>
            </a:r>
            <a:endParaRPr lang="en-US" sz="1200" dirty="0">
              <a:solidFill>
                <a:schemeClr val="tx2"/>
              </a:solidFill>
              <a:cs typeface="Calibri"/>
            </a:endParaRPr>
          </a:p>
          <a:p>
            <a:pPr marL="457200" indent="-457200" fontAlgn="base">
              <a:buFont typeface="+mj-lt"/>
              <a:buAutoNum type="arabicPeriod"/>
            </a:pPr>
            <a:r>
              <a:rPr lang="en-US" sz="1200" dirty="0">
                <a:solidFill>
                  <a:schemeClr val="tx2"/>
                </a:solidFill>
              </a:rPr>
              <a:t>Proofread carefully to eliminate any spelling, grammar, punctuation, and typographical errors.</a:t>
            </a:r>
            <a:endParaRPr lang="en-US" sz="1200" dirty="0">
              <a:solidFill>
                <a:schemeClr val="tx2"/>
              </a:solidFill>
              <a:cs typeface="Calibri"/>
            </a:endParaRPr>
          </a:p>
          <a:p>
            <a:pPr marL="457200" indent="-457200" fontAlgn="base">
              <a:buFont typeface="+mj-lt"/>
              <a:buAutoNum type="arabicPeriod"/>
            </a:pPr>
            <a:r>
              <a:rPr lang="en-US" sz="1200" dirty="0">
                <a:solidFill>
                  <a:schemeClr val="tx2"/>
                </a:solidFill>
              </a:rPr>
              <a:t>Include highlights of your qualifications or skills to attract an employer’s attention.</a:t>
            </a:r>
            <a:endParaRPr lang="en-US" sz="1200" dirty="0">
              <a:solidFill>
                <a:schemeClr val="tx2"/>
              </a:solidFill>
              <a:cs typeface="Calibri"/>
            </a:endParaRPr>
          </a:p>
          <a:p>
            <a:pPr marL="457200" indent="-457200" fontAlgn="base">
              <a:buFont typeface="+mj-lt"/>
              <a:buAutoNum type="arabicPeriod"/>
            </a:pPr>
            <a:r>
              <a:rPr lang="en-US" sz="1200" dirty="0">
                <a:solidFill>
                  <a:schemeClr val="tx2"/>
                </a:solidFill>
              </a:rPr>
              <a:t>Craft your letter as a pitch to people in the profession you plan to work in.</a:t>
            </a:r>
            <a:endParaRPr lang="en-US" sz="1200" dirty="0">
              <a:solidFill>
                <a:schemeClr val="tx2"/>
              </a:solidFill>
              <a:cs typeface="Calibri"/>
            </a:endParaRPr>
          </a:p>
          <a:p>
            <a:pPr marL="457200" indent="-457200" fontAlgn="base">
              <a:buFont typeface="+mj-lt"/>
              <a:buAutoNum type="arabicPeriod"/>
            </a:pPr>
            <a:r>
              <a:rPr lang="en-US" sz="1200" dirty="0">
                <a:solidFill>
                  <a:schemeClr val="tx2"/>
                </a:solidFill>
              </a:rPr>
              <a:t>Stand out as different, courageous.</a:t>
            </a:r>
            <a:endParaRPr lang="en-US" sz="1200" dirty="0">
              <a:solidFill>
                <a:schemeClr val="tx2"/>
              </a:solidFill>
              <a:cs typeface="Calibri"/>
            </a:endParaRPr>
          </a:p>
          <a:p>
            <a:pPr marL="457200" indent="-457200" fontAlgn="base">
              <a:buFont typeface="+mj-lt"/>
              <a:buAutoNum type="arabicPeriod"/>
            </a:pPr>
            <a:r>
              <a:rPr lang="en-US" sz="1200" dirty="0">
                <a:solidFill>
                  <a:schemeClr val="tx2"/>
                </a:solidFill>
              </a:rPr>
              <a:t>Be positive and reflect only the truth.</a:t>
            </a:r>
            <a:endParaRPr lang="en-US" sz="1200" dirty="0">
              <a:solidFill>
                <a:schemeClr val="tx2"/>
              </a:solidFill>
              <a:cs typeface="Calibri"/>
            </a:endParaRPr>
          </a:p>
          <a:p>
            <a:pPr marL="457200" indent="-457200" fontAlgn="base">
              <a:buFont typeface="+mj-lt"/>
              <a:buAutoNum type="arabicPeriod"/>
            </a:pPr>
            <a:r>
              <a:rPr lang="en-US" sz="1200" dirty="0">
                <a:solidFill>
                  <a:schemeClr val="tx2"/>
                </a:solidFill>
              </a:rPr>
              <a:t>Be excited and optimistic about your job prospects!</a:t>
            </a:r>
            <a:endParaRPr lang="en-US" sz="1200" dirty="0">
              <a:solidFill>
                <a:schemeClr val="tx2"/>
              </a:solidFill>
              <a:cs typeface="Calibri"/>
            </a:endParaRPr>
          </a:p>
          <a:p>
            <a:pPr marL="457200" indent="-457200" fontAlgn="base">
              <a:buFont typeface="+mj-lt"/>
              <a:buAutoNum type="arabicPeriod"/>
            </a:pPr>
            <a:r>
              <a:rPr lang="en-US" sz="1200" dirty="0">
                <a:solidFill>
                  <a:schemeClr val="tx2"/>
                </a:solidFill>
              </a:rPr>
              <a:t>Keep refining and reworking your résumé; it’s an ongoing project.</a:t>
            </a:r>
            <a:endParaRPr lang="en-US" sz="1200" dirty="0">
              <a:solidFill>
                <a:schemeClr val="tx2"/>
              </a:solidFill>
              <a:cs typeface="Calibri"/>
            </a:endParaRPr>
          </a:p>
          <a:p>
            <a:pPr marL="457200" indent="-457200">
              <a:buFont typeface="+mj-lt"/>
              <a:buAutoNum type="arabicPeriod"/>
            </a:pPr>
            <a:endParaRPr lang="en-US" sz="1200" dirty="0">
              <a:solidFill>
                <a:schemeClr val="tx2"/>
              </a:solidFill>
              <a:cs typeface="Calibri"/>
            </a:endParaRPr>
          </a:p>
        </p:txBody>
      </p:sp>
    </p:spTree>
    <p:extLst>
      <p:ext uri="{BB962C8B-B14F-4D97-AF65-F5344CB8AC3E}">
        <p14:creationId xmlns:p14="http://schemas.microsoft.com/office/powerpoint/2010/main" val="536798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US" sz="4800" b="1"/>
              <a:t>Caution</a:t>
            </a:r>
            <a:endParaRPr lang="en-US" sz="4800"/>
          </a:p>
        </p:txBody>
      </p:sp>
      <p:sp>
        <p:nvSpPr>
          <p:cNvPr id="3" name="Content Placeholder 2"/>
          <p:cNvSpPr>
            <a:spLocks noGrp="1"/>
          </p:cNvSpPr>
          <p:nvPr>
            <p:ph idx="1"/>
          </p:nvPr>
        </p:nvSpPr>
        <p:spPr>
          <a:xfrm>
            <a:off x="1045028" y="3017522"/>
            <a:ext cx="9941319" cy="3124658"/>
          </a:xfrm>
        </p:spPr>
        <p:txBody>
          <a:bodyPr anchor="ctr">
            <a:normAutofit/>
          </a:bodyPr>
          <a:lstStyle/>
          <a:p>
            <a:pPr fontAlgn="base">
              <a:buFont typeface="Wingdings" panose="05000000000000000000" pitchFamily="2" charset="2"/>
              <a:buChar char="v"/>
            </a:pPr>
            <a:r>
              <a:rPr lang="en-US" sz="1500"/>
              <a:t>Do not mention your age, gender, height or weight.</a:t>
            </a:r>
          </a:p>
          <a:p>
            <a:pPr fontAlgn="base">
              <a:buFont typeface="Wingdings" panose="05000000000000000000" pitchFamily="2" charset="2"/>
              <a:buChar char="v"/>
            </a:pPr>
            <a:r>
              <a:rPr lang="en-US" sz="1500"/>
              <a:t>Do not include your social security number.</a:t>
            </a:r>
          </a:p>
          <a:p>
            <a:pPr fontAlgn="base">
              <a:buFont typeface="Wingdings" panose="05000000000000000000" pitchFamily="2" charset="2"/>
              <a:buChar char="v"/>
            </a:pPr>
            <a:r>
              <a:rPr lang="en-US" sz="1500"/>
              <a:t>Do not mention religious beliefs or political affiliations, unless they are relevant to the position.</a:t>
            </a:r>
          </a:p>
          <a:p>
            <a:pPr fontAlgn="base">
              <a:buFont typeface="Wingdings" panose="05000000000000000000" pitchFamily="2" charset="2"/>
              <a:buChar char="v"/>
            </a:pPr>
            <a:r>
              <a:rPr lang="en-US" sz="1500"/>
              <a:t>Do not include a photograph of yourself or a physical description.</a:t>
            </a:r>
          </a:p>
          <a:p>
            <a:pPr fontAlgn="base">
              <a:buFont typeface="Wingdings" panose="05000000000000000000" pitchFamily="2" charset="2"/>
              <a:buChar char="v"/>
            </a:pPr>
            <a:r>
              <a:rPr lang="en-US" sz="1500"/>
              <a:t>Do not mention health issues.</a:t>
            </a:r>
          </a:p>
          <a:p>
            <a:pPr fontAlgn="base">
              <a:buFont typeface="Wingdings" panose="05000000000000000000" pitchFamily="2" charset="2"/>
              <a:buChar char="v"/>
            </a:pPr>
            <a:r>
              <a:rPr lang="en-US" sz="1500"/>
              <a:t>Do not use first-person references. (I, me).</a:t>
            </a:r>
          </a:p>
          <a:p>
            <a:pPr fontAlgn="base">
              <a:buFont typeface="Wingdings" panose="05000000000000000000" pitchFamily="2" charset="2"/>
              <a:buChar char="v"/>
            </a:pPr>
            <a:r>
              <a:rPr lang="en-US" sz="1500"/>
              <a:t>Do not include wage/salary expectations.</a:t>
            </a:r>
          </a:p>
          <a:p>
            <a:pPr fontAlgn="base">
              <a:buFont typeface="Wingdings" panose="05000000000000000000" pitchFamily="2" charset="2"/>
              <a:buChar char="v"/>
            </a:pPr>
            <a:r>
              <a:rPr lang="en-US" sz="1500"/>
              <a:t>Do not use abbreviations.</a:t>
            </a:r>
          </a:p>
          <a:p>
            <a:pPr fontAlgn="base">
              <a:buFont typeface="Wingdings" panose="05000000000000000000" pitchFamily="2" charset="2"/>
              <a:buChar char="v"/>
            </a:pPr>
            <a:r>
              <a:rPr lang="en-US" sz="1500"/>
              <a:t>Proofread carefully—absolutely no spelling mistakes are acceptable.</a:t>
            </a:r>
          </a:p>
          <a:p>
            <a:pPr>
              <a:buFont typeface="Wingdings" panose="05000000000000000000" pitchFamily="2" charset="2"/>
              <a:buChar char="v"/>
            </a:pPr>
            <a:endParaRPr lang="en-US" sz="15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937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Pen placed on top of a signature line">
            <a:extLst>
              <a:ext uri="{FF2B5EF4-FFF2-40B4-BE49-F238E27FC236}">
                <a16:creationId xmlns:a16="http://schemas.microsoft.com/office/drawing/2014/main" id="{A71C10B2-F4DD-12E5-3536-D34864A9020A}"/>
              </a:ext>
            </a:extLst>
          </p:cNvPr>
          <p:cNvPicPr>
            <a:picLocks noChangeAspect="1"/>
          </p:cNvPicPr>
          <p:nvPr/>
        </p:nvPicPr>
        <p:blipFill rotWithShape="1">
          <a:blip r:embed="rId2"/>
          <a:srcRect l="52388" r="421" b="-3"/>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1"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27048" y="407987"/>
            <a:ext cx="5721484" cy="1325563"/>
          </a:xfrm>
        </p:spPr>
        <p:txBody>
          <a:bodyPr>
            <a:normAutofit/>
          </a:bodyPr>
          <a:lstStyle/>
          <a:p>
            <a:r>
              <a:rPr lang="en-US" b="1"/>
              <a:t>Your Résumé: It’s Like Online Dating</a:t>
            </a:r>
            <a:endParaRPr lang="en-US"/>
          </a:p>
        </p:txBody>
      </p:sp>
      <p:sp>
        <p:nvSpPr>
          <p:cNvPr id="3" name="Content Placeholder 2"/>
          <p:cNvSpPr>
            <a:spLocks noGrp="1"/>
          </p:cNvSpPr>
          <p:nvPr>
            <p:ph idx="1"/>
          </p:nvPr>
        </p:nvSpPr>
        <p:spPr>
          <a:xfrm>
            <a:off x="5827048" y="1868487"/>
            <a:ext cx="5721484" cy="4351338"/>
          </a:xfrm>
        </p:spPr>
        <p:txBody>
          <a:bodyPr vert="horz" lIns="91440" tIns="45720" rIns="91440" bIns="45720" rtlCol="0" anchor="t">
            <a:normAutofit/>
          </a:bodyPr>
          <a:lstStyle/>
          <a:p>
            <a:pPr marL="0" indent="0">
              <a:buNone/>
            </a:pPr>
            <a:r>
              <a:rPr lang="en-US" sz="1100" b="1" cap="all" dirty="0"/>
              <a:t>ACTIVITY: CREATE YOUR RÉSUMÉ</a:t>
            </a:r>
            <a:endParaRPr lang="en-US" dirty="0"/>
          </a:p>
          <a:p>
            <a:pPr marL="0" indent="0" fontAlgn="base">
              <a:buNone/>
            </a:pPr>
            <a:r>
              <a:rPr lang="en-US" sz="1100" b="1" dirty="0"/>
              <a:t>Objectives:</a:t>
            </a:r>
            <a:endParaRPr lang="en-US" sz="1100" b="1" dirty="0">
              <a:cs typeface="Calibri" panose="020F0502020204030204"/>
            </a:endParaRPr>
          </a:p>
          <a:p>
            <a:pPr fontAlgn="base"/>
            <a:r>
              <a:rPr lang="en-US" sz="1100" dirty="0"/>
              <a:t>Compile data reflecting your professional and educational skills and accomplishments.</a:t>
            </a:r>
            <a:endParaRPr lang="en-US" sz="1100" dirty="0">
              <a:cs typeface="Calibri"/>
            </a:endParaRPr>
          </a:p>
          <a:p>
            <a:pPr fontAlgn="base"/>
            <a:r>
              <a:rPr lang="en-US" sz="1100" dirty="0"/>
              <a:t>Assess the main résumé formats and select one that meets your needs.</a:t>
            </a:r>
            <a:endParaRPr lang="en-US" sz="1100" dirty="0">
              <a:cs typeface="Calibri"/>
            </a:endParaRPr>
          </a:p>
          <a:p>
            <a:pPr fontAlgn="base"/>
            <a:r>
              <a:rPr lang="en-US" sz="1100" dirty="0"/>
              <a:t>Create a first draft of your professional résumé.</a:t>
            </a:r>
            <a:endParaRPr lang="en-US" sz="1100" dirty="0">
              <a:cs typeface="Calibri"/>
            </a:endParaRPr>
          </a:p>
          <a:p>
            <a:pPr marL="0" indent="0" fontAlgn="base">
              <a:buNone/>
            </a:pPr>
            <a:r>
              <a:rPr lang="en-US" sz="1100" b="1" dirty="0"/>
              <a:t>Directions:</a:t>
            </a:r>
            <a:endParaRPr lang="en-US" sz="1100" b="1" dirty="0">
              <a:cs typeface="Calibri" panose="020F0502020204030204"/>
            </a:endParaRPr>
          </a:p>
          <a:p>
            <a:pPr fontAlgn="base"/>
            <a:r>
              <a:rPr lang="en-US" sz="1100" dirty="0"/>
              <a:t>Compile all needed information for your résumé, including your contact information, a summary of your skills, your work experience and volunteer experience, education and training (including your intended degree, professional development activities, certificates, internships, etc.). Optionally you may wish to include job objective, a brief profile, a branding statement, additional accomplishments, and any other related experiences.</a:t>
            </a:r>
            <a:endParaRPr lang="en-US" sz="1100" dirty="0">
              <a:cs typeface="Calibri"/>
            </a:endParaRPr>
          </a:p>
          <a:p>
            <a:pPr fontAlgn="base"/>
            <a:r>
              <a:rPr lang="en-US" sz="1100" dirty="0"/>
              <a:t>Select one of the résumé builder tools listed above in the Résumé Writing Resources table.</a:t>
            </a:r>
            <a:endParaRPr lang="en-US" sz="1100" dirty="0">
              <a:cs typeface="Calibri"/>
            </a:endParaRPr>
          </a:p>
          <a:p>
            <a:pPr fontAlgn="base"/>
            <a:r>
              <a:rPr lang="en-US" sz="1100" dirty="0"/>
              <a:t>Create your résumé, following instructions at your selected site.</a:t>
            </a:r>
            <a:endParaRPr lang="en-US" sz="1100" dirty="0">
              <a:cs typeface="Calibri"/>
            </a:endParaRPr>
          </a:p>
          <a:p>
            <a:pPr fontAlgn="base"/>
            <a:r>
              <a:rPr lang="en-US" sz="1100" dirty="0"/>
              <a:t>Save your document as a PDF file.</a:t>
            </a:r>
            <a:endParaRPr lang="en-US" sz="1100" dirty="0">
              <a:cs typeface="Calibri"/>
            </a:endParaRPr>
          </a:p>
          <a:p>
            <a:pPr fontAlgn="base"/>
            <a:r>
              <a:rPr lang="en-US" sz="1100" dirty="0"/>
              <a:t>Follow instructions from your instructor on how to submit your work.</a:t>
            </a:r>
            <a:endParaRPr lang="en-US" sz="1100" dirty="0">
              <a:cs typeface="Calibri"/>
            </a:endParaRPr>
          </a:p>
          <a:p>
            <a:endParaRPr lang="en-US" sz="1100"/>
          </a:p>
        </p:txBody>
      </p:sp>
    </p:spTree>
    <p:extLst>
      <p:ext uri="{BB962C8B-B14F-4D97-AF65-F5344CB8AC3E}">
        <p14:creationId xmlns:p14="http://schemas.microsoft.com/office/powerpoint/2010/main" val="2307952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lowchart: Document 7">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695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3167B7-8874-7CDF-CD32-1BED7F7F9DC2}"/>
              </a:ext>
            </a:extLst>
          </p:cNvPr>
          <p:cNvSpPr>
            <a:spLocks noGrp="1"/>
          </p:cNvSpPr>
          <p:nvPr>
            <p:ph type="title"/>
          </p:nvPr>
        </p:nvSpPr>
        <p:spPr>
          <a:xfrm>
            <a:off x="838200" y="171162"/>
            <a:ext cx="2840182" cy="2371148"/>
          </a:xfrm>
        </p:spPr>
        <p:txBody>
          <a:bodyPr>
            <a:normAutofit/>
          </a:bodyPr>
          <a:lstStyle/>
          <a:p>
            <a:r>
              <a:rPr lang="en-US" sz="3200">
                <a:solidFill>
                  <a:srgbClr val="FFFFFF"/>
                </a:solidFill>
                <a:ea typeface="+mj-lt"/>
                <a:cs typeface="+mj-lt"/>
              </a:rPr>
              <a:t>2. Cover Letter</a:t>
            </a:r>
            <a:endParaRPr lang="en-US" sz="3200">
              <a:solidFill>
                <a:srgbClr val="FFFFFF"/>
              </a:solidFill>
            </a:endParaRPr>
          </a:p>
        </p:txBody>
      </p:sp>
      <p:pic>
        <p:nvPicPr>
          <p:cNvPr id="3" name="Picture 3" descr="Text, letter&#10;&#10;Description automatically generated">
            <a:extLst>
              <a:ext uri="{FF2B5EF4-FFF2-40B4-BE49-F238E27FC236}">
                <a16:creationId xmlns:a16="http://schemas.microsoft.com/office/drawing/2014/main" id="{0F74DDFC-1C97-E7C3-9455-6089A279B78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513084" y="56821"/>
            <a:ext cx="4756048" cy="6726519"/>
          </a:xfrm>
          <a:prstGeom prst="rect">
            <a:avLst/>
          </a:prstGeom>
        </p:spPr>
      </p:pic>
    </p:spTree>
    <p:extLst>
      <p:ext uri="{BB962C8B-B14F-4D97-AF65-F5344CB8AC3E}">
        <p14:creationId xmlns:p14="http://schemas.microsoft.com/office/powerpoint/2010/main" val="2813100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Piles of paperwork">
            <a:extLst>
              <a:ext uri="{FF2B5EF4-FFF2-40B4-BE49-F238E27FC236}">
                <a16:creationId xmlns:a16="http://schemas.microsoft.com/office/drawing/2014/main" id="{B96934D2-A25C-1981-D71D-CCDC7AE0434E}"/>
              </a:ext>
            </a:extLst>
          </p:cNvPr>
          <p:cNvPicPr>
            <a:picLocks noChangeAspect="1"/>
          </p:cNvPicPr>
          <p:nvPr/>
        </p:nvPicPr>
        <p:blipFill rotWithShape="1">
          <a:blip r:embed="rId2"/>
          <a:srcRect t="9092" r="13812" b="-7"/>
          <a:stretch/>
        </p:blipFill>
        <p:spPr>
          <a:xfrm>
            <a:off x="3523488" y="10"/>
            <a:ext cx="8668512" cy="6857990"/>
          </a:xfrm>
          <a:prstGeom prst="rect">
            <a:avLst/>
          </a:prstGeom>
        </p:spPr>
      </p:pic>
      <p:sp>
        <p:nvSpPr>
          <p:cNvPr id="20" name="Rectangle 1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14A8F02-BA71-3B30-0BE1-8876D5D48276}"/>
              </a:ext>
            </a:extLst>
          </p:cNvPr>
          <p:cNvSpPr>
            <a:spLocks noGrp="1"/>
          </p:cNvSpPr>
          <p:nvPr>
            <p:ph type="title"/>
          </p:nvPr>
        </p:nvSpPr>
        <p:spPr>
          <a:xfrm>
            <a:off x="477981" y="1122363"/>
            <a:ext cx="3994606" cy="3448549"/>
          </a:xfrm>
        </p:spPr>
        <p:txBody>
          <a:bodyPr vert="horz" lIns="91440" tIns="45720" rIns="91440" bIns="45720" rtlCol="0" anchor="b">
            <a:normAutofit fontScale="90000"/>
          </a:bodyPr>
          <a:lstStyle/>
          <a:p>
            <a:pPr>
              <a:lnSpc>
                <a:spcPct val="150000"/>
              </a:lnSpc>
            </a:pPr>
            <a:r>
              <a:rPr lang="en-US" sz="3000" dirty="0"/>
              <a:t>Cover letters matter. When you have to go through a pile of them, they are probably more important than the résumé itself. </a:t>
            </a:r>
            <a:endParaRPr lang="en-US" dirty="0"/>
          </a:p>
          <a:p>
            <a:pPr>
              <a:lnSpc>
                <a:spcPct val="150000"/>
              </a:lnSpc>
            </a:pPr>
            <a:r>
              <a:rPr lang="en-US" sz="2000" dirty="0" err="1"/>
              <a:t>woodleywonderworks</a:t>
            </a:r>
            <a:endParaRPr lang="en-US" sz="2000" dirty="0">
              <a:cs typeface="Calibri Light"/>
            </a:endParaRPr>
          </a:p>
          <a:p>
            <a:pPr>
              <a:lnSpc>
                <a:spcPct val="150000"/>
              </a:lnSpc>
            </a:pPr>
            <a:endParaRPr lang="en-US" sz="2000" dirty="0">
              <a:cs typeface="Calibri Light"/>
            </a:endParaRPr>
          </a:p>
        </p:txBody>
      </p:sp>
      <p:sp>
        <p:nvSpPr>
          <p:cNvPr id="22" name="Rectangle 2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1828019"/>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les">
            <a:extLst>
              <a:ext uri="{FF2B5EF4-FFF2-40B4-BE49-F238E27FC236}">
                <a16:creationId xmlns:a16="http://schemas.microsoft.com/office/drawing/2014/main" id="{AA9369BE-A058-F73A-0D28-B2EE79711CF9}"/>
              </a:ext>
            </a:extLst>
          </p:cNvPr>
          <p:cNvPicPr>
            <a:picLocks noChangeAspect="1"/>
          </p:cNvPicPr>
          <p:nvPr/>
        </p:nvPicPr>
        <p:blipFill rotWithShape="1">
          <a:blip r:embed="rId2">
            <a:alphaModFix amt="40000"/>
          </a:blip>
          <a:srcRect r="-2" b="15726"/>
          <a:stretch/>
        </p:blipFill>
        <p:spPr>
          <a:xfrm>
            <a:off x="20" y="10"/>
            <a:ext cx="12191979" cy="6857990"/>
          </a:xfrm>
          <a:prstGeom prst="rect">
            <a:avLst/>
          </a:prstGeom>
        </p:spPr>
      </p:pic>
      <p:sp>
        <p:nvSpPr>
          <p:cNvPr id="2" name="Title 1">
            <a:extLst>
              <a:ext uri="{FF2B5EF4-FFF2-40B4-BE49-F238E27FC236}">
                <a16:creationId xmlns:a16="http://schemas.microsoft.com/office/drawing/2014/main" id="{9B05933A-D53C-AA4E-0DBA-896856DB6243}"/>
              </a:ext>
            </a:extLst>
          </p:cNvPr>
          <p:cNvSpPr>
            <a:spLocks noGrp="1"/>
          </p:cNvSpPr>
          <p:nvPr>
            <p:ph type="title"/>
          </p:nvPr>
        </p:nvSpPr>
        <p:spPr>
          <a:xfrm>
            <a:off x="841249" y="941832"/>
            <a:ext cx="10506456" cy="2057400"/>
          </a:xfrm>
        </p:spPr>
        <p:txBody>
          <a:bodyPr anchor="b">
            <a:normAutofit/>
          </a:bodyPr>
          <a:lstStyle/>
          <a:p>
            <a:r>
              <a:rPr lang="en-US" sz="5000" dirty="0">
                <a:ea typeface="+mj-lt"/>
                <a:cs typeface="+mj-lt"/>
              </a:rPr>
              <a:t>A cover letter is... </a:t>
            </a:r>
            <a:endParaRPr lang="en-US" dirty="0"/>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0A02331-3566-7B84-F38B-96E815DB1E8F}"/>
              </a:ext>
            </a:extLst>
          </p:cNvPr>
          <p:cNvSpPr>
            <a:spLocks noGrp="1"/>
          </p:cNvSpPr>
          <p:nvPr>
            <p:ph idx="1"/>
          </p:nvPr>
        </p:nvSpPr>
        <p:spPr>
          <a:xfrm>
            <a:off x="841248" y="3502152"/>
            <a:ext cx="10506456" cy="2670048"/>
          </a:xfrm>
        </p:spPr>
        <p:txBody>
          <a:bodyPr vert="horz" lIns="91440" tIns="45720" rIns="91440" bIns="45720" rtlCol="0" anchor="t">
            <a:normAutofit/>
          </a:bodyPr>
          <a:lstStyle/>
          <a:p>
            <a:r>
              <a:rPr lang="en-US" dirty="0">
                <a:ea typeface="+mn-lt"/>
                <a:cs typeface="+mn-lt"/>
              </a:rPr>
              <a:t>Cover letter is to introduce yourself to an employer and explaining why you are suited for a position. </a:t>
            </a:r>
            <a:endParaRPr lang="en-US">
              <a:cs typeface="Calibri" panose="020F0502020204030204"/>
            </a:endParaRPr>
          </a:p>
          <a:p>
            <a:r>
              <a:rPr lang="en-US" dirty="0">
                <a:ea typeface="+mn-lt"/>
                <a:cs typeface="+mn-lt"/>
              </a:rPr>
              <a:t>A marketing tool that highlights your most attractive qualifications as a potential employee</a:t>
            </a:r>
            <a:endParaRPr lang="en-US">
              <a:cs typeface="Calibri"/>
            </a:endParaRPr>
          </a:p>
        </p:txBody>
      </p:sp>
    </p:spTree>
    <p:extLst>
      <p:ext uri="{BB962C8B-B14F-4D97-AF65-F5344CB8AC3E}">
        <p14:creationId xmlns:p14="http://schemas.microsoft.com/office/powerpoint/2010/main" val="3734760973"/>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reaching for a paper on a table full of paper and sticky notes">
            <a:extLst>
              <a:ext uri="{FF2B5EF4-FFF2-40B4-BE49-F238E27FC236}">
                <a16:creationId xmlns:a16="http://schemas.microsoft.com/office/drawing/2014/main" id="{E8FF9313-C596-B158-3E3F-58862AF24228}"/>
              </a:ext>
            </a:extLst>
          </p:cNvPr>
          <p:cNvPicPr>
            <a:picLocks noChangeAspect="1"/>
          </p:cNvPicPr>
          <p:nvPr/>
        </p:nvPicPr>
        <p:blipFill rotWithShape="1">
          <a:blip r:embed="rId2">
            <a:duotone>
              <a:prstClr val="black"/>
              <a:schemeClr val="tx2">
                <a:tint val="45000"/>
                <a:satMod val="400000"/>
              </a:schemeClr>
            </a:duotone>
          </a:blip>
          <a:srcRect t="10835" r="-2" b="4892"/>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B4147794-66B7-4CDE-BC75-BBDC48B2F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481" y="0"/>
            <a:ext cx="7718119" cy="68580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2" name="Title 1">
            <a:extLst>
              <a:ext uri="{FF2B5EF4-FFF2-40B4-BE49-F238E27FC236}">
                <a16:creationId xmlns:a16="http://schemas.microsoft.com/office/drawing/2014/main" id="{15CF52A6-45C7-D2AA-6674-E665063CC987}"/>
              </a:ext>
            </a:extLst>
          </p:cNvPr>
          <p:cNvSpPr>
            <a:spLocks noGrp="1"/>
          </p:cNvSpPr>
          <p:nvPr>
            <p:ph type="title"/>
          </p:nvPr>
        </p:nvSpPr>
        <p:spPr>
          <a:xfrm>
            <a:off x="4050889" y="365758"/>
            <a:ext cx="6784259" cy="1828800"/>
          </a:xfrm>
        </p:spPr>
        <p:txBody>
          <a:bodyPr>
            <a:normAutofit/>
          </a:bodyPr>
          <a:lstStyle/>
          <a:p>
            <a:r>
              <a:rPr lang="en-US" sz="4800">
                <a:solidFill>
                  <a:schemeClr val="tx1">
                    <a:lumMod val="85000"/>
                    <a:lumOff val="15000"/>
                  </a:schemeClr>
                </a:solidFill>
                <a:ea typeface="+mj-lt"/>
                <a:cs typeface="+mj-lt"/>
              </a:rPr>
              <a:t>Characteristics of an Effective Cover Letter</a:t>
            </a:r>
            <a:endParaRPr lang="en-US" sz="480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34864DE1-F434-3269-2DD3-BBBADE18A42B}"/>
              </a:ext>
            </a:extLst>
          </p:cNvPr>
          <p:cNvSpPr>
            <a:spLocks noGrp="1"/>
          </p:cNvSpPr>
          <p:nvPr>
            <p:ph idx="1"/>
          </p:nvPr>
        </p:nvSpPr>
        <p:spPr>
          <a:xfrm>
            <a:off x="4050889" y="2324100"/>
            <a:ext cx="6784259" cy="3961352"/>
          </a:xfrm>
        </p:spPr>
        <p:txBody>
          <a:bodyPr vert="horz" lIns="91440" tIns="45720" rIns="91440" bIns="45720" rtlCol="0" anchor="t">
            <a:normAutofit fontScale="92500"/>
          </a:bodyPr>
          <a:lstStyle/>
          <a:p>
            <a:pPr>
              <a:lnSpc>
                <a:spcPct val="150000"/>
              </a:lnSpc>
            </a:pPr>
            <a:r>
              <a:rPr lang="en-US" sz="2400" dirty="0">
                <a:ea typeface="+mn-lt"/>
                <a:cs typeface="+mn-lt"/>
              </a:rPr>
              <a:t>Get the attention of the prospective employer</a:t>
            </a:r>
            <a:endParaRPr lang="en-US" sz="2400" dirty="0">
              <a:cs typeface="Calibri" panose="020F0502020204030204"/>
            </a:endParaRPr>
          </a:p>
          <a:p>
            <a:pPr>
              <a:lnSpc>
                <a:spcPct val="150000"/>
              </a:lnSpc>
            </a:pPr>
            <a:r>
              <a:rPr lang="en-US" sz="2400" dirty="0">
                <a:ea typeface="+mn-lt"/>
                <a:cs typeface="+mn-lt"/>
              </a:rPr>
              <a:t>Set you apart from any possible competition</a:t>
            </a:r>
            <a:endParaRPr lang="en-US" sz="2400" dirty="0">
              <a:cs typeface="Calibri" panose="020F0502020204030204"/>
            </a:endParaRPr>
          </a:p>
          <a:p>
            <a:pPr>
              <a:lnSpc>
                <a:spcPct val="150000"/>
              </a:lnSpc>
            </a:pPr>
            <a:r>
              <a:rPr lang="en-US" sz="2400" dirty="0">
                <a:ea typeface="+mn-lt"/>
                <a:cs typeface="+mn-lt"/>
              </a:rPr>
              <a:t>Identify the position you are interested in</a:t>
            </a:r>
            <a:endParaRPr lang="en-US" sz="2400" dirty="0">
              <a:cs typeface="Calibri" panose="020F0502020204030204"/>
            </a:endParaRPr>
          </a:p>
          <a:p>
            <a:pPr>
              <a:lnSpc>
                <a:spcPct val="150000"/>
              </a:lnSpc>
            </a:pPr>
            <a:r>
              <a:rPr lang="en-US" sz="2400" dirty="0">
                <a:ea typeface="+mn-lt"/>
                <a:cs typeface="+mn-lt"/>
              </a:rPr>
              <a:t>Specify how you learned about the position or company</a:t>
            </a:r>
            <a:endParaRPr lang="en-US" sz="2400" dirty="0">
              <a:cs typeface="Calibri" panose="020F0502020204030204"/>
            </a:endParaRPr>
          </a:p>
          <a:p>
            <a:pPr>
              <a:lnSpc>
                <a:spcPct val="150000"/>
              </a:lnSpc>
            </a:pPr>
            <a:r>
              <a:rPr lang="en-US" sz="2400" dirty="0">
                <a:ea typeface="+mn-lt"/>
                <a:cs typeface="+mn-lt"/>
              </a:rPr>
              <a:t>Present highlights of your skills and accomplishments</a:t>
            </a:r>
            <a:endParaRPr lang="en-US" sz="2400" dirty="0">
              <a:cs typeface="Calibri" panose="020F0502020204030204"/>
            </a:endParaRPr>
          </a:p>
        </p:txBody>
      </p:sp>
      <p:sp>
        <p:nvSpPr>
          <p:cNvPr id="11" name="Rectangle 10">
            <a:extLst>
              <a:ext uri="{FF2B5EF4-FFF2-40B4-BE49-F238E27FC236}">
                <a16:creationId xmlns:a16="http://schemas.microsoft.com/office/drawing/2014/main" id="{41202E79-1236-4DF8-9921-F47A0B079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1">
              <a:lumMod val="85000"/>
              <a:lumOff val="1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62516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reaching for a paper on a table full of paper and sticky notes">
            <a:extLst>
              <a:ext uri="{FF2B5EF4-FFF2-40B4-BE49-F238E27FC236}">
                <a16:creationId xmlns:a16="http://schemas.microsoft.com/office/drawing/2014/main" id="{E8FF9313-C596-B158-3E3F-58862AF24228}"/>
              </a:ext>
            </a:extLst>
          </p:cNvPr>
          <p:cNvPicPr>
            <a:picLocks noChangeAspect="1"/>
          </p:cNvPicPr>
          <p:nvPr/>
        </p:nvPicPr>
        <p:blipFill rotWithShape="1">
          <a:blip r:embed="rId2">
            <a:duotone>
              <a:prstClr val="black"/>
              <a:schemeClr val="tx2">
                <a:tint val="45000"/>
                <a:satMod val="400000"/>
              </a:schemeClr>
            </a:duotone>
          </a:blip>
          <a:srcRect t="10835" r="-2" b="4892"/>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B4147794-66B7-4CDE-BC75-BBDC48B2F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481" y="0"/>
            <a:ext cx="7718119" cy="68580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2" name="Title 1">
            <a:extLst>
              <a:ext uri="{FF2B5EF4-FFF2-40B4-BE49-F238E27FC236}">
                <a16:creationId xmlns:a16="http://schemas.microsoft.com/office/drawing/2014/main" id="{15CF52A6-45C7-D2AA-6674-E665063CC987}"/>
              </a:ext>
            </a:extLst>
          </p:cNvPr>
          <p:cNvSpPr>
            <a:spLocks noGrp="1"/>
          </p:cNvSpPr>
          <p:nvPr>
            <p:ph type="title"/>
          </p:nvPr>
        </p:nvSpPr>
        <p:spPr>
          <a:xfrm>
            <a:off x="4050889" y="365758"/>
            <a:ext cx="6784259" cy="1828800"/>
          </a:xfrm>
        </p:spPr>
        <p:txBody>
          <a:bodyPr>
            <a:normAutofit/>
          </a:bodyPr>
          <a:lstStyle/>
          <a:p>
            <a:r>
              <a:rPr lang="en-US" sz="4800" dirty="0">
                <a:solidFill>
                  <a:schemeClr val="tx1">
                    <a:lumMod val="85000"/>
                    <a:lumOff val="15000"/>
                  </a:schemeClr>
                </a:solidFill>
                <a:ea typeface="+mj-lt"/>
                <a:cs typeface="+mj-lt"/>
              </a:rPr>
              <a:t>Characteristics of an Effective Cover Letter </a:t>
            </a:r>
            <a:r>
              <a:rPr lang="en-US" sz="3100" dirty="0">
                <a:solidFill>
                  <a:schemeClr val="tx1">
                    <a:lumMod val="85000"/>
                    <a:lumOff val="15000"/>
                  </a:schemeClr>
                </a:solidFill>
                <a:ea typeface="+mj-lt"/>
                <a:cs typeface="+mj-lt"/>
              </a:rPr>
              <a:t>(Cont.)</a:t>
            </a:r>
            <a:endParaRPr lang="en-US" sz="3100"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34864DE1-F434-3269-2DD3-BBBADE18A42B}"/>
              </a:ext>
            </a:extLst>
          </p:cNvPr>
          <p:cNvSpPr>
            <a:spLocks noGrp="1"/>
          </p:cNvSpPr>
          <p:nvPr>
            <p:ph idx="1"/>
          </p:nvPr>
        </p:nvSpPr>
        <p:spPr>
          <a:xfrm>
            <a:off x="4050889" y="2324100"/>
            <a:ext cx="6784259" cy="3961352"/>
          </a:xfrm>
        </p:spPr>
        <p:txBody>
          <a:bodyPr vert="horz" lIns="91440" tIns="45720" rIns="91440" bIns="45720" rtlCol="0" anchor="t">
            <a:normAutofit/>
          </a:bodyPr>
          <a:lstStyle/>
          <a:p>
            <a:pPr>
              <a:lnSpc>
                <a:spcPct val="150000"/>
              </a:lnSpc>
            </a:pPr>
            <a:r>
              <a:rPr lang="en-US" sz="2400" dirty="0">
                <a:ea typeface="+mn-lt"/>
                <a:cs typeface="+mn-lt"/>
              </a:rPr>
              <a:t>Reflect your genuine interest</a:t>
            </a:r>
            <a:endParaRPr lang="en-US" dirty="0"/>
          </a:p>
          <a:p>
            <a:pPr>
              <a:lnSpc>
                <a:spcPct val="150000"/>
              </a:lnSpc>
            </a:pPr>
            <a:r>
              <a:rPr lang="en-US" sz="2400" dirty="0">
                <a:ea typeface="+mn-lt"/>
                <a:cs typeface="+mn-lt"/>
              </a:rPr>
              <a:t>Please the eye and ear</a:t>
            </a:r>
            <a:endParaRPr lang="en-US" dirty="0">
              <a:cs typeface="Calibri" panose="020F0502020204030204"/>
            </a:endParaRPr>
          </a:p>
          <a:p>
            <a:pPr>
              <a:lnSpc>
                <a:spcPct val="150000"/>
              </a:lnSpc>
            </a:pPr>
            <a:r>
              <a:rPr lang="en-US" sz="2400" dirty="0">
                <a:ea typeface="+mn-lt"/>
                <a:cs typeface="+mn-lt"/>
              </a:rPr>
              <a:t>Complete information for comparison to skills required for the position</a:t>
            </a:r>
            <a:endParaRPr lang="en-US" dirty="0">
              <a:ea typeface="+mn-lt"/>
              <a:cs typeface="+mn-lt"/>
            </a:endParaRPr>
          </a:p>
          <a:p>
            <a:pPr>
              <a:lnSpc>
                <a:spcPct val="150000"/>
              </a:lnSpc>
            </a:pPr>
            <a:r>
              <a:rPr lang="en-US" sz="2400" dirty="0">
                <a:ea typeface="+mn-lt"/>
                <a:cs typeface="+mn-lt"/>
              </a:rPr>
              <a:t>Integrity (accuracy) of the information</a:t>
            </a:r>
            <a:endParaRPr lang="en-US" dirty="0">
              <a:cs typeface="Calibri" panose="020F0502020204030204"/>
            </a:endParaRPr>
          </a:p>
          <a:p>
            <a:pPr>
              <a:lnSpc>
                <a:spcPct val="150000"/>
              </a:lnSpc>
            </a:pPr>
            <a:r>
              <a:rPr lang="en-US" sz="2400" dirty="0">
                <a:ea typeface="+mn-lt"/>
                <a:cs typeface="+mn-lt"/>
              </a:rPr>
              <a:t>Legibility of the application</a:t>
            </a:r>
            <a:endParaRPr lang="en-US" dirty="0">
              <a:cs typeface="Calibri" panose="020F0502020204030204"/>
            </a:endParaRPr>
          </a:p>
        </p:txBody>
      </p:sp>
      <p:sp>
        <p:nvSpPr>
          <p:cNvPr id="11" name="Rectangle 10">
            <a:extLst>
              <a:ext uri="{FF2B5EF4-FFF2-40B4-BE49-F238E27FC236}">
                <a16:creationId xmlns:a16="http://schemas.microsoft.com/office/drawing/2014/main" id="{41202E79-1236-4DF8-9921-F47A0B079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1">
              <a:lumMod val="85000"/>
              <a:lumOff val="1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33239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35" name="Rectangle 34">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36" name="Straight Connector 35">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39" name="Rectangle 38">
            <a:extLst>
              <a:ext uri="{FF2B5EF4-FFF2-40B4-BE49-F238E27FC236}">
                <a16:creationId xmlns:a16="http://schemas.microsoft.com/office/drawing/2014/main" id="{DD8EACB7-D372-470B-B76E-A829D0031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descr="Waterfalls in Nature in Indonesia image - Free stock photo ...">
            <a:extLst>
              <a:ext uri="{FF2B5EF4-FFF2-40B4-BE49-F238E27FC236}">
                <a16:creationId xmlns:a16="http://schemas.microsoft.com/office/drawing/2014/main" id="{92036C98-D351-4E02-A2CF-BDD074512033}"/>
              </a:ext>
            </a:extLst>
          </p:cNvPr>
          <p:cNvPicPr>
            <a:picLocks noChangeAspect="1"/>
          </p:cNvPicPr>
          <p:nvPr/>
        </p:nvPicPr>
        <p:blipFill rotWithShape="1">
          <a:blip r:embed="rId2"/>
          <a:srcRect t="3218" r="-1" b="21969"/>
          <a:stretch/>
        </p:blipFill>
        <p:spPr>
          <a:xfrm>
            <a:off x="6096000" y="10"/>
            <a:ext cx="6096000" cy="6857989"/>
          </a:xfrm>
          <a:prstGeom prst="rect">
            <a:avLst/>
          </a:prstGeom>
        </p:spPr>
      </p:pic>
      <p:pic>
        <p:nvPicPr>
          <p:cNvPr id="3" name="Picture 3" descr="Text, letter&#10;&#10;Description automatically generated">
            <a:extLst>
              <a:ext uri="{FF2B5EF4-FFF2-40B4-BE49-F238E27FC236}">
                <a16:creationId xmlns:a16="http://schemas.microsoft.com/office/drawing/2014/main" id="{F8CD37E4-997D-42A5-97C5-270DA0C2BAAB}"/>
              </a:ext>
            </a:extLst>
          </p:cNvPr>
          <p:cNvPicPr>
            <a:picLocks noChangeAspect="1"/>
          </p:cNvPicPr>
          <p:nvPr/>
        </p:nvPicPr>
        <p:blipFill rotWithShape="1">
          <a:blip r:embed="rId3"/>
          <a:srcRect t="7161" b="5932"/>
          <a:stretch/>
        </p:blipFill>
        <p:spPr>
          <a:xfrm>
            <a:off x="20" y="10"/>
            <a:ext cx="6095980" cy="6857989"/>
          </a:xfrm>
          <a:prstGeom prst="rect">
            <a:avLst/>
          </a:prstGeom>
        </p:spPr>
      </p:pic>
      <p:sp>
        <p:nvSpPr>
          <p:cNvPr id="41" name="Rectangle 5">
            <a:extLst>
              <a:ext uri="{FF2B5EF4-FFF2-40B4-BE49-F238E27FC236}">
                <a16:creationId xmlns:a16="http://schemas.microsoft.com/office/drawing/2014/main" id="{C7EA4B13-46D3-41EE-95DA-7B2100DE9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7548" y="1028700"/>
            <a:ext cx="4035752" cy="484107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DCEEEBE1-DC7B-4168-90C6-DB88876E3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711682" y="4550150"/>
            <a:ext cx="867485" cy="115439"/>
            <a:chOff x="8910933" y="1861308"/>
            <a:chExt cx="867485" cy="115439"/>
          </a:xfrm>
        </p:grpSpPr>
        <p:sp>
          <p:nvSpPr>
            <p:cNvPr id="44" name="Rectangle 43">
              <a:extLst>
                <a:ext uri="{FF2B5EF4-FFF2-40B4-BE49-F238E27FC236}">
                  <a16:creationId xmlns:a16="http://schemas.microsoft.com/office/drawing/2014/main" id="{43418E74-781F-419C-8C63-91C14AF8D8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9B0F0D1C-98D5-4C46-961A-0E36168C31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3E9C99B-47BB-461B-AEDE-0B227C5B25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565AEDD-E825-414F-9D92-F7C2D2F62043}"/>
              </a:ext>
            </a:extLst>
          </p:cNvPr>
          <p:cNvSpPr>
            <a:spLocks noGrp="1"/>
          </p:cNvSpPr>
          <p:nvPr>
            <p:ph type="title"/>
          </p:nvPr>
        </p:nvSpPr>
        <p:spPr>
          <a:xfrm>
            <a:off x="7504348" y="1398850"/>
            <a:ext cx="3282152" cy="2030150"/>
          </a:xfrm>
        </p:spPr>
        <p:txBody>
          <a:bodyPr vert="horz" lIns="91440" tIns="45720" rIns="91440" bIns="45720" rtlCol="0" anchor="b">
            <a:normAutofit/>
          </a:bodyPr>
          <a:lstStyle/>
          <a:p>
            <a:pPr algn="ctr"/>
            <a:r>
              <a:rPr lang="en-US" sz="2800" kern="1200" cap="all" spc="390" baseline="0" dirty="0">
                <a:latin typeface="Calibri"/>
                <a:cs typeface="Calibri"/>
              </a:rPr>
              <a:t>Example of student cover letter</a:t>
            </a:r>
          </a:p>
        </p:txBody>
      </p:sp>
    </p:spTree>
    <p:extLst>
      <p:ext uri="{BB962C8B-B14F-4D97-AF65-F5344CB8AC3E}">
        <p14:creationId xmlns:p14="http://schemas.microsoft.com/office/powerpoint/2010/main" val="4094443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54" name="Rectangle 53">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55" name="Straight Connector 54">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58" name="Rectangle 57">
            <a:extLst>
              <a:ext uri="{FF2B5EF4-FFF2-40B4-BE49-F238E27FC236}">
                <a16:creationId xmlns:a16="http://schemas.microsoft.com/office/drawing/2014/main" id="{DD8EACB7-D372-470B-B76E-A829D0031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descr="Waterfalls in Nature in Indonesia image - Free stock photo ...">
            <a:extLst>
              <a:ext uri="{FF2B5EF4-FFF2-40B4-BE49-F238E27FC236}">
                <a16:creationId xmlns:a16="http://schemas.microsoft.com/office/drawing/2014/main" id="{92036C98-D351-4E02-A2CF-BDD074512033}"/>
              </a:ext>
            </a:extLst>
          </p:cNvPr>
          <p:cNvPicPr>
            <a:picLocks noChangeAspect="1"/>
          </p:cNvPicPr>
          <p:nvPr/>
        </p:nvPicPr>
        <p:blipFill rotWithShape="1">
          <a:blip r:embed="rId2"/>
          <a:srcRect t="3218" r="-1" b="21969"/>
          <a:stretch/>
        </p:blipFill>
        <p:spPr>
          <a:xfrm>
            <a:off x="6096000" y="10"/>
            <a:ext cx="6096000" cy="6857989"/>
          </a:xfrm>
          <a:prstGeom prst="rect">
            <a:avLst/>
          </a:prstGeom>
        </p:spPr>
      </p:pic>
      <p:pic>
        <p:nvPicPr>
          <p:cNvPr id="4" name="Picture 4" descr="Text, letter&#10;&#10;Description automatically generated">
            <a:extLst>
              <a:ext uri="{FF2B5EF4-FFF2-40B4-BE49-F238E27FC236}">
                <a16:creationId xmlns:a16="http://schemas.microsoft.com/office/drawing/2014/main" id="{48550ADA-8A24-4EC7-84DF-7210E734D3B8}"/>
              </a:ext>
            </a:extLst>
          </p:cNvPr>
          <p:cNvPicPr>
            <a:picLocks noChangeAspect="1"/>
          </p:cNvPicPr>
          <p:nvPr/>
        </p:nvPicPr>
        <p:blipFill rotWithShape="1">
          <a:blip r:embed="rId3"/>
          <a:srcRect r="1235"/>
          <a:stretch/>
        </p:blipFill>
        <p:spPr>
          <a:xfrm>
            <a:off x="20" y="10"/>
            <a:ext cx="6095980" cy="6857989"/>
          </a:xfrm>
          <a:prstGeom prst="rect">
            <a:avLst/>
          </a:prstGeom>
        </p:spPr>
      </p:pic>
      <p:sp>
        <p:nvSpPr>
          <p:cNvPr id="60" name="Rectangle 5">
            <a:extLst>
              <a:ext uri="{FF2B5EF4-FFF2-40B4-BE49-F238E27FC236}">
                <a16:creationId xmlns:a16="http://schemas.microsoft.com/office/drawing/2014/main" id="{C7EA4B13-46D3-41EE-95DA-7B2100DE9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7548" y="1028700"/>
            <a:ext cx="4035752" cy="484107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DCEEEBE1-DC7B-4168-90C6-DB88876E3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711682" y="4550150"/>
            <a:ext cx="867485" cy="115439"/>
            <a:chOff x="8910933" y="1861308"/>
            <a:chExt cx="867485" cy="115439"/>
          </a:xfrm>
        </p:grpSpPr>
        <p:sp>
          <p:nvSpPr>
            <p:cNvPr id="63" name="Rectangle 62">
              <a:extLst>
                <a:ext uri="{FF2B5EF4-FFF2-40B4-BE49-F238E27FC236}">
                  <a16:creationId xmlns:a16="http://schemas.microsoft.com/office/drawing/2014/main" id="{43418E74-781F-419C-8C63-91C14AF8D8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9B0F0D1C-98D5-4C46-961A-0E36168C31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3E9C99B-47BB-461B-AEDE-0B227C5B25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565AEDD-E825-414F-9D92-F7C2D2F62043}"/>
              </a:ext>
            </a:extLst>
          </p:cNvPr>
          <p:cNvSpPr>
            <a:spLocks noGrp="1"/>
          </p:cNvSpPr>
          <p:nvPr>
            <p:ph type="title"/>
          </p:nvPr>
        </p:nvSpPr>
        <p:spPr>
          <a:xfrm>
            <a:off x="7504348" y="1398850"/>
            <a:ext cx="3282152" cy="2030150"/>
          </a:xfrm>
        </p:spPr>
        <p:txBody>
          <a:bodyPr vert="horz" lIns="91440" tIns="45720" rIns="91440" bIns="45720" rtlCol="0" anchor="b">
            <a:normAutofit/>
          </a:bodyPr>
          <a:lstStyle/>
          <a:p>
            <a:pPr algn="ctr">
              <a:lnSpc>
                <a:spcPct val="100000"/>
              </a:lnSpc>
            </a:pPr>
            <a:r>
              <a:rPr lang="en-US" sz="2400" kern="1200" cap="all" spc="390" baseline="0" dirty="0">
                <a:latin typeface="Calibri"/>
                <a:cs typeface="Calibri"/>
              </a:rPr>
              <a:t>College Graduate Cover Letter Example</a:t>
            </a:r>
          </a:p>
        </p:txBody>
      </p:sp>
    </p:spTree>
    <p:extLst>
      <p:ext uri="{BB962C8B-B14F-4D97-AF65-F5344CB8AC3E}">
        <p14:creationId xmlns:p14="http://schemas.microsoft.com/office/powerpoint/2010/main" val="156523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B22176A-41DB-4D9A-9B6F-F2296F1ED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9A636D-9CEC-4A76-A113-104B10543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A53EEF0-2806-4C52-A779-F5B786040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070288-3991-4998-BB3E-87A2513A1326}"/>
              </a:ext>
            </a:extLst>
          </p:cNvPr>
          <p:cNvSpPr>
            <a:spLocks noGrp="1"/>
          </p:cNvSpPr>
          <p:nvPr>
            <p:ph type="title"/>
          </p:nvPr>
        </p:nvSpPr>
        <p:spPr>
          <a:xfrm>
            <a:off x="1906656" y="1359628"/>
            <a:ext cx="8378688" cy="1160052"/>
          </a:xfrm>
        </p:spPr>
        <p:txBody>
          <a:bodyPr anchor="b">
            <a:normAutofit/>
          </a:bodyPr>
          <a:lstStyle/>
          <a:p>
            <a:pPr algn="ctr"/>
            <a:r>
              <a:rPr lang="en-US" dirty="0">
                <a:latin typeface="Calibri"/>
                <a:ea typeface="+mj-lt"/>
                <a:cs typeface="+mj-lt"/>
              </a:rPr>
              <a:t>LinkedIn Cover Letter</a:t>
            </a:r>
            <a:endParaRPr lang="en-US" dirty="0">
              <a:latin typeface="Calibri"/>
              <a:cs typeface="Calibri"/>
            </a:endParaRPr>
          </a:p>
        </p:txBody>
      </p:sp>
      <p:sp>
        <p:nvSpPr>
          <p:cNvPr id="3" name="Content Placeholder 2">
            <a:extLst>
              <a:ext uri="{FF2B5EF4-FFF2-40B4-BE49-F238E27FC236}">
                <a16:creationId xmlns:a16="http://schemas.microsoft.com/office/drawing/2014/main" id="{2B84B3D5-2C38-4143-AAEE-5A13C3FC545B}"/>
              </a:ext>
            </a:extLst>
          </p:cNvPr>
          <p:cNvSpPr>
            <a:spLocks noGrp="1"/>
          </p:cNvSpPr>
          <p:nvPr>
            <p:ph idx="1"/>
          </p:nvPr>
        </p:nvSpPr>
        <p:spPr>
          <a:xfrm>
            <a:off x="2985078" y="2641600"/>
            <a:ext cx="6221845" cy="3492499"/>
          </a:xfrm>
        </p:spPr>
        <p:txBody>
          <a:bodyPr vert="horz" lIns="91440" tIns="45720" rIns="91440" bIns="45720" rtlCol="0" anchor="ctr">
            <a:normAutofit/>
          </a:bodyPr>
          <a:lstStyle/>
          <a:p>
            <a:pPr algn="ctr"/>
            <a:r>
              <a:rPr lang="en-US" dirty="0">
                <a:latin typeface="Calibri"/>
                <a:ea typeface="+mn-lt"/>
                <a:cs typeface="+mn-lt"/>
              </a:rPr>
              <a:t>This site contains articles, experts, jobs, and more: get all the professional insights you need on LinkedIn: </a:t>
            </a:r>
            <a:r>
              <a:rPr lang="en-US" dirty="0">
                <a:latin typeface="Calibri"/>
                <a:ea typeface="+mn-lt"/>
                <a:cs typeface="+mn-lt"/>
                <a:hlinkClick r:id="rId2"/>
              </a:rPr>
              <a:t>https://www.linkedin.com/</a:t>
            </a:r>
            <a:endParaRPr lang="en-US" dirty="0">
              <a:latin typeface="Calibri"/>
              <a:cs typeface="Calibri"/>
            </a:endParaRPr>
          </a:p>
        </p:txBody>
      </p:sp>
      <p:grpSp>
        <p:nvGrpSpPr>
          <p:cNvPr id="14" name="Group 13">
            <a:extLst>
              <a:ext uri="{FF2B5EF4-FFF2-40B4-BE49-F238E27FC236}">
                <a16:creationId xmlns:a16="http://schemas.microsoft.com/office/drawing/2014/main" id="{1148C992-36DE-4449-B92D-49AE04B5D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1016086"/>
            <a:ext cx="867485" cy="115439"/>
            <a:chOff x="8910933" y="1861308"/>
            <a:chExt cx="867485" cy="115439"/>
          </a:xfrm>
        </p:grpSpPr>
        <p:sp>
          <p:nvSpPr>
            <p:cNvPr id="15" name="Rectangle 14">
              <a:extLst>
                <a:ext uri="{FF2B5EF4-FFF2-40B4-BE49-F238E27FC236}">
                  <a16:creationId xmlns:a16="http://schemas.microsoft.com/office/drawing/2014/main" id="{D765B2C1-DF41-437F-9F2D-C33E46FA2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B6AA37ED-ED19-4857-9B2C-777E8F707C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45F6E87-86FB-440C-9EB4-A48D11C72C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32344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248A2-DE0F-7514-C60F-8C051EBFD473}"/>
              </a:ext>
            </a:extLst>
          </p:cNvPr>
          <p:cNvSpPr>
            <a:spLocks noGrp="1"/>
          </p:cNvSpPr>
          <p:nvPr>
            <p:ph type="title"/>
          </p:nvPr>
        </p:nvSpPr>
        <p:spPr/>
        <p:txBody>
          <a:bodyPr/>
          <a:lstStyle/>
          <a:p>
            <a:r>
              <a:rPr lang="en-US" dirty="0">
                <a:ea typeface="+mj-lt"/>
                <a:cs typeface="+mj-lt"/>
              </a:rPr>
              <a:t>An Application Letter Achieves: </a:t>
            </a:r>
          </a:p>
        </p:txBody>
      </p:sp>
      <p:graphicFrame>
        <p:nvGraphicFramePr>
          <p:cNvPr id="5" name="Content Placeholder 2">
            <a:extLst>
              <a:ext uri="{FF2B5EF4-FFF2-40B4-BE49-F238E27FC236}">
                <a16:creationId xmlns:a16="http://schemas.microsoft.com/office/drawing/2014/main" id="{DA9EDA6F-3FA3-2CD6-393F-522B50C9FA8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645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4D79F4-B6F4-5957-84B7-59F0F4F2C806}"/>
              </a:ext>
            </a:extLst>
          </p:cNvPr>
          <p:cNvSpPr>
            <a:spLocks noGrp="1"/>
          </p:cNvSpPr>
          <p:nvPr>
            <p:ph type="title"/>
          </p:nvPr>
        </p:nvSpPr>
        <p:spPr>
          <a:xfrm>
            <a:off x="838200" y="620742"/>
            <a:ext cx="10515600" cy="1325563"/>
          </a:xfrm>
        </p:spPr>
        <p:txBody>
          <a:bodyPr>
            <a:normAutofit/>
          </a:bodyPr>
          <a:lstStyle/>
          <a:p>
            <a:r>
              <a:rPr lang="en-US">
                <a:solidFill>
                  <a:srgbClr val="FFFFFF"/>
                </a:solidFill>
                <a:ea typeface="+mj-lt"/>
                <a:cs typeface="+mj-lt"/>
              </a:rPr>
              <a:t>An Application Letter Achieves:</a:t>
            </a:r>
          </a:p>
        </p:txBody>
      </p:sp>
      <p:cxnSp>
        <p:nvCxnSpPr>
          <p:cNvPr id="24" name="Straight Connector 23">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AE4B5F-3547-E6B6-0578-D96517EDB6AD}"/>
              </a:ext>
            </a:extLst>
          </p:cNvPr>
          <p:cNvSpPr>
            <a:spLocks noGrp="1"/>
          </p:cNvSpPr>
          <p:nvPr>
            <p:ph sz="half" idx="1"/>
          </p:nvPr>
        </p:nvSpPr>
        <p:spPr>
          <a:xfrm>
            <a:off x="838200" y="2266345"/>
            <a:ext cx="5097780" cy="3910617"/>
          </a:xfrm>
        </p:spPr>
        <p:txBody>
          <a:bodyPr vert="horz" lIns="91440" tIns="45720" rIns="91440" bIns="45720" rtlCol="0" anchor="t">
            <a:normAutofit/>
          </a:bodyPr>
          <a:lstStyle/>
          <a:p>
            <a:pPr marL="0" indent="0">
              <a:buNone/>
            </a:pPr>
            <a:r>
              <a:rPr lang="en-US" sz="3200" b="1" dirty="0">
                <a:solidFill>
                  <a:srgbClr val="FFFFFF"/>
                </a:solidFill>
                <a:ea typeface="+mn-lt"/>
                <a:cs typeface="+mn-lt"/>
              </a:rPr>
              <a:t>Attention </a:t>
            </a:r>
            <a:endParaRPr lang="en-US" sz="3200">
              <a:solidFill>
                <a:srgbClr val="FFFFFF"/>
              </a:solidFill>
              <a:cs typeface="Calibri"/>
            </a:endParaRPr>
          </a:p>
          <a:p>
            <a:r>
              <a:rPr lang="en-US" sz="3200" dirty="0">
                <a:solidFill>
                  <a:srgbClr val="FFFFFF"/>
                </a:solidFill>
                <a:ea typeface="+mn-lt"/>
                <a:cs typeface="+mn-lt"/>
              </a:rPr>
              <a:t>Gain favorable attention.</a:t>
            </a:r>
            <a:endParaRPr lang="en-US" sz="3200" dirty="0">
              <a:solidFill>
                <a:srgbClr val="FFFFFF"/>
              </a:solidFill>
              <a:cs typeface="Calibri"/>
            </a:endParaRPr>
          </a:p>
          <a:p>
            <a:r>
              <a:rPr lang="en-US" sz="3200" dirty="0">
                <a:solidFill>
                  <a:srgbClr val="FFFFFF"/>
                </a:solidFill>
                <a:ea typeface="+mn-lt"/>
                <a:cs typeface="+mn-lt"/>
              </a:rPr>
              <a:t>Express interest in the position.</a:t>
            </a:r>
            <a:endParaRPr lang="en-US" sz="3200">
              <a:solidFill>
                <a:srgbClr val="FFFFFF"/>
              </a:solidFill>
              <a:cs typeface="Calibri"/>
            </a:endParaRPr>
          </a:p>
          <a:p>
            <a:r>
              <a:rPr lang="en-US" sz="3200" dirty="0">
                <a:solidFill>
                  <a:srgbClr val="FFFFFF"/>
                </a:solidFill>
                <a:ea typeface="+mn-lt"/>
                <a:cs typeface="+mn-lt"/>
              </a:rPr>
              <a:t>Motivate the receiver to read the entire application letter.</a:t>
            </a:r>
            <a:endParaRPr lang="en-US" sz="3200">
              <a:solidFill>
                <a:srgbClr val="FFFFFF"/>
              </a:solidFill>
              <a:cs typeface="Calibri"/>
            </a:endParaRPr>
          </a:p>
          <a:p>
            <a:endParaRPr lang="en-US" sz="3200" dirty="0">
              <a:solidFill>
                <a:srgbClr val="FFFFFF"/>
              </a:solidFill>
              <a:cs typeface="Calibri"/>
            </a:endParaRPr>
          </a:p>
        </p:txBody>
      </p:sp>
      <p:sp>
        <p:nvSpPr>
          <p:cNvPr id="4" name="Content Placeholder 3">
            <a:extLst>
              <a:ext uri="{FF2B5EF4-FFF2-40B4-BE49-F238E27FC236}">
                <a16:creationId xmlns:a16="http://schemas.microsoft.com/office/drawing/2014/main" id="{24C6E8D7-C87B-9706-D580-9C66E0F3447C}"/>
              </a:ext>
            </a:extLst>
          </p:cNvPr>
          <p:cNvSpPr>
            <a:spLocks noGrp="1"/>
          </p:cNvSpPr>
          <p:nvPr>
            <p:ph sz="half" idx="2"/>
          </p:nvPr>
        </p:nvSpPr>
        <p:spPr>
          <a:xfrm>
            <a:off x="6256020" y="2266345"/>
            <a:ext cx="5097780" cy="3910618"/>
          </a:xfrm>
        </p:spPr>
        <p:txBody>
          <a:bodyPr vert="horz" lIns="91440" tIns="45720" rIns="91440" bIns="45720" rtlCol="0" anchor="t">
            <a:normAutofit/>
          </a:bodyPr>
          <a:lstStyle/>
          <a:p>
            <a:pPr marL="0" indent="0">
              <a:buNone/>
            </a:pPr>
            <a:r>
              <a:rPr lang="en-US" sz="3200" b="1" dirty="0">
                <a:solidFill>
                  <a:srgbClr val="FFFFFF"/>
                </a:solidFill>
                <a:ea typeface="+mn-lt"/>
                <a:cs typeface="+mn-lt"/>
              </a:rPr>
              <a:t>Interest </a:t>
            </a:r>
            <a:endParaRPr lang="en-US" sz="3200" dirty="0">
              <a:solidFill>
                <a:srgbClr val="FFFFFF"/>
              </a:solidFill>
              <a:cs typeface="Calibri"/>
            </a:endParaRPr>
          </a:p>
          <a:p>
            <a:r>
              <a:rPr lang="en-US" sz="3200" dirty="0">
                <a:solidFill>
                  <a:srgbClr val="FFFFFF"/>
                </a:solidFill>
                <a:ea typeface="+mn-lt"/>
                <a:cs typeface="+mn-lt"/>
              </a:rPr>
              <a:t>Market your qualifications</a:t>
            </a:r>
            <a:endParaRPr lang="en-US" sz="3200" dirty="0">
              <a:solidFill>
                <a:srgbClr val="FFFFFF"/>
              </a:solidFill>
              <a:cs typeface="Calibri"/>
            </a:endParaRPr>
          </a:p>
          <a:p>
            <a:r>
              <a:rPr lang="en-US" sz="3200" dirty="0">
                <a:solidFill>
                  <a:srgbClr val="FFFFFF"/>
                </a:solidFill>
                <a:ea typeface="+mn-lt"/>
                <a:cs typeface="+mn-lt"/>
              </a:rPr>
              <a:t>Identify special strengths and attributes and relate how they meet job requirements.</a:t>
            </a:r>
            <a:endParaRPr lang="en-US" sz="3200" dirty="0">
              <a:solidFill>
                <a:srgbClr val="FFFFFF"/>
              </a:solidFill>
              <a:cs typeface="Calibri"/>
            </a:endParaRPr>
          </a:p>
        </p:txBody>
      </p:sp>
    </p:spTree>
    <p:extLst>
      <p:ext uri="{BB962C8B-B14F-4D97-AF65-F5344CB8AC3E}">
        <p14:creationId xmlns:p14="http://schemas.microsoft.com/office/powerpoint/2010/main" val="1787293146"/>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4D79F4-B6F4-5957-84B7-59F0F4F2C806}"/>
              </a:ext>
            </a:extLst>
          </p:cNvPr>
          <p:cNvSpPr>
            <a:spLocks noGrp="1"/>
          </p:cNvSpPr>
          <p:nvPr>
            <p:ph type="title"/>
          </p:nvPr>
        </p:nvSpPr>
        <p:spPr>
          <a:xfrm>
            <a:off x="838200" y="620742"/>
            <a:ext cx="10515600" cy="1325563"/>
          </a:xfrm>
        </p:spPr>
        <p:txBody>
          <a:bodyPr>
            <a:normAutofit/>
          </a:bodyPr>
          <a:lstStyle/>
          <a:p>
            <a:r>
              <a:rPr lang="en-US">
                <a:solidFill>
                  <a:srgbClr val="FFFFFF"/>
                </a:solidFill>
                <a:ea typeface="+mj-lt"/>
                <a:cs typeface="+mj-lt"/>
              </a:rPr>
              <a:t>An Application Letter Achieves:</a:t>
            </a:r>
          </a:p>
        </p:txBody>
      </p:sp>
      <p:cxnSp>
        <p:nvCxnSpPr>
          <p:cNvPr id="24" name="Straight Connector 23">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AE4B5F-3547-E6B6-0578-D96517EDB6AD}"/>
              </a:ext>
            </a:extLst>
          </p:cNvPr>
          <p:cNvSpPr>
            <a:spLocks noGrp="1"/>
          </p:cNvSpPr>
          <p:nvPr>
            <p:ph sz="half" idx="1"/>
          </p:nvPr>
        </p:nvSpPr>
        <p:spPr>
          <a:xfrm>
            <a:off x="838200" y="2266345"/>
            <a:ext cx="5097780" cy="3910617"/>
          </a:xfrm>
        </p:spPr>
        <p:txBody>
          <a:bodyPr vert="horz" lIns="91440" tIns="45720" rIns="91440" bIns="45720" rtlCol="0" anchor="t">
            <a:normAutofit/>
          </a:bodyPr>
          <a:lstStyle/>
          <a:p>
            <a:pPr marL="0" indent="0">
              <a:buNone/>
            </a:pPr>
            <a:r>
              <a:rPr lang="en-US" sz="3200" b="1" dirty="0">
                <a:ea typeface="+mn-lt"/>
                <a:cs typeface="+mn-lt"/>
              </a:rPr>
              <a:t>Desire </a:t>
            </a:r>
            <a:endParaRPr lang="en-US" sz="3200" dirty="0">
              <a:ea typeface="+mn-lt"/>
              <a:cs typeface="+mn-lt"/>
            </a:endParaRPr>
          </a:p>
          <a:p>
            <a:pPr>
              <a:buFont typeface="Arial"/>
            </a:pPr>
            <a:r>
              <a:rPr lang="en-US" sz="3200" dirty="0">
                <a:ea typeface="+mn-lt"/>
                <a:cs typeface="+mn-lt"/>
              </a:rPr>
              <a:t>Describe selected accomplishments that show how you can benefit the company.</a:t>
            </a:r>
          </a:p>
          <a:p>
            <a:pPr>
              <a:buFont typeface="Arial"/>
            </a:pPr>
            <a:r>
              <a:rPr lang="en-US" sz="3200" dirty="0">
                <a:ea typeface="+mn-lt"/>
                <a:cs typeface="+mn-lt"/>
              </a:rPr>
              <a:t>Motivate the receiver to look closely at your résumé.</a:t>
            </a:r>
          </a:p>
        </p:txBody>
      </p:sp>
      <p:sp>
        <p:nvSpPr>
          <p:cNvPr id="4" name="Content Placeholder 3">
            <a:extLst>
              <a:ext uri="{FF2B5EF4-FFF2-40B4-BE49-F238E27FC236}">
                <a16:creationId xmlns:a16="http://schemas.microsoft.com/office/drawing/2014/main" id="{24C6E8D7-C87B-9706-D580-9C66E0F3447C}"/>
              </a:ext>
            </a:extLst>
          </p:cNvPr>
          <p:cNvSpPr>
            <a:spLocks noGrp="1"/>
          </p:cNvSpPr>
          <p:nvPr>
            <p:ph sz="half" idx="2"/>
          </p:nvPr>
        </p:nvSpPr>
        <p:spPr>
          <a:xfrm>
            <a:off x="6256020" y="2266345"/>
            <a:ext cx="5097780" cy="3910618"/>
          </a:xfrm>
        </p:spPr>
        <p:txBody>
          <a:bodyPr vert="horz" lIns="91440" tIns="45720" rIns="91440" bIns="45720" rtlCol="0" anchor="t">
            <a:normAutofit/>
          </a:bodyPr>
          <a:lstStyle/>
          <a:p>
            <a:pPr marL="0" indent="0">
              <a:buNone/>
            </a:pPr>
            <a:r>
              <a:rPr lang="en-US" sz="3200" b="1" dirty="0">
                <a:ea typeface="+mn-lt"/>
                <a:cs typeface="+mn-lt"/>
              </a:rPr>
              <a:t>Action </a:t>
            </a:r>
            <a:endParaRPr lang="en-US" b="1">
              <a:ea typeface="+mn-lt"/>
              <a:cs typeface="+mn-lt"/>
            </a:endParaRPr>
          </a:p>
          <a:p>
            <a:r>
              <a:rPr lang="en-US" sz="3200" dirty="0">
                <a:ea typeface="+mn-lt"/>
                <a:cs typeface="+mn-lt"/>
              </a:rPr>
              <a:t>Request an interview or propose a future meeting. </a:t>
            </a:r>
            <a:endParaRPr lang="en-US">
              <a:ea typeface="+mn-lt"/>
              <a:cs typeface="+mn-lt"/>
            </a:endParaRPr>
          </a:p>
          <a:p>
            <a:r>
              <a:rPr lang="en-US" sz="3200" dirty="0">
                <a:ea typeface="+mn-lt"/>
                <a:cs typeface="+mn-lt"/>
              </a:rPr>
              <a:t>Provide easy-to-use contact information.</a:t>
            </a:r>
            <a:endParaRPr lang="en-US" dirty="0">
              <a:ea typeface="+mn-lt"/>
              <a:cs typeface="+mn-lt"/>
            </a:endParaRPr>
          </a:p>
          <a:p>
            <a:r>
              <a:rPr lang="en-US" sz="3200" dirty="0">
                <a:ea typeface="+mn-lt"/>
                <a:cs typeface="+mn-lt"/>
              </a:rPr>
              <a:t>Suggest scheduling alternatives. </a:t>
            </a:r>
            <a:endParaRPr lang="en-US" dirty="0">
              <a:ea typeface="+mn-lt"/>
              <a:cs typeface="+mn-lt"/>
            </a:endParaRPr>
          </a:p>
          <a:p>
            <a:pPr marL="0" indent="0">
              <a:buNone/>
            </a:pPr>
            <a:endParaRPr lang="en-US" sz="3200" dirty="0">
              <a:cs typeface="Calibri"/>
            </a:endParaRPr>
          </a:p>
        </p:txBody>
      </p:sp>
    </p:spTree>
    <p:extLst>
      <p:ext uri="{BB962C8B-B14F-4D97-AF65-F5344CB8AC3E}">
        <p14:creationId xmlns:p14="http://schemas.microsoft.com/office/powerpoint/2010/main" val="1856821269"/>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9D408-7C3E-4A90-9152-FCC0C5421E8E}"/>
              </a:ext>
            </a:extLst>
          </p:cNvPr>
          <p:cNvSpPr>
            <a:spLocks noGrp="1"/>
          </p:cNvSpPr>
          <p:nvPr>
            <p:ph type="title"/>
          </p:nvPr>
        </p:nvSpPr>
        <p:spPr/>
        <p:txBody>
          <a:bodyPr>
            <a:normAutofit/>
          </a:bodyPr>
          <a:lstStyle/>
          <a:p>
            <a:r>
              <a:rPr lang="en-US" sz="4400" dirty="0">
                <a:latin typeface="Calibri"/>
                <a:ea typeface="+mj-lt"/>
                <a:cs typeface="+mj-lt"/>
              </a:rPr>
              <a:t>Anatomy of a Cover Letter</a:t>
            </a:r>
            <a:endParaRPr lang="en-US" sz="4400">
              <a:latin typeface="Calibri"/>
              <a:cs typeface="Calibri"/>
            </a:endParaRPr>
          </a:p>
        </p:txBody>
      </p:sp>
      <p:sp>
        <p:nvSpPr>
          <p:cNvPr id="3" name="Content Placeholder 2">
            <a:extLst>
              <a:ext uri="{FF2B5EF4-FFF2-40B4-BE49-F238E27FC236}">
                <a16:creationId xmlns:a16="http://schemas.microsoft.com/office/drawing/2014/main" id="{0FFF919B-FF76-4EFC-9A75-6370BEBF95DB}"/>
              </a:ext>
            </a:extLst>
          </p:cNvPr>
          <p:cNvSpPr>
            <a:spLocks noGrp="1"/>
          </p:cNvSpPr>
          <p:nvPr>
            <p:ph idx="1"/>
          </p:nvPr>
        </p:nvSpPr>
        <p:spPr/>
        <p:txBody>
          <a:bodyPr vert="horz" lIns="91440" tIns="45720" rIns="91440" bIns="45720" rtlCol="0" anchor="t">
            <a:normAutofit lnSpcReduction="10000"/>
          </a:bodyPr>
          <a:lstStyle/>
          <a:p>
            <a:r>
              <a:rPr lang="en-US" b="1" dirty="0">
                <a:latin typeface="Calibri"/>
                <a:ea typeface="+mn-lt"/>
                <a:cs typeface="+mn-lt"/>
              </a:rPr>
              <a:t>A basic formula for cover letters is as follows:</a:t>
            </a:r>
            <a:endParaRPr lang="en-US" b="1">
              <a:latin typeface="Calibri"/>
              <a:cs typeface="Calibri"/>
            </a:endParaRPr>
          </a:p>
          <a:p>
            <a:pPr marL="342900" indent="-342900">
              <a:buFont typeface="Arial"/>
              <a:buChar char="•"/>
            </a:pPr>
            <a:r>
              <a:rPr lang="en-US" b="1" dirty="0">
                <a:latin typeface="Calibri"/>
                <a:ea typeface="+mn-lt"/>
                <a:cs typeface="+mn-lt"/>
              </a:rPr>
              <a:t>Standard business letter address format</a:t>
            </a:r>
            <a:r>
              <a:rPr lang="en-US" dirty="0">
                <a:latin typeface="Calibri"/>
                <a:ea typeface="+mn-lt"/>
                <a:cs typeface="+mn-lt"/>
              </a:rPr>
              <a:t>—prospect name, title, company, address—top left</a:t>
            </a:r>
            <a:endParaRPr lang="en-US">
              <a:latin typeface="Calibri"/>
              <a:cs typeface="Calibri"/>
            </a:endParaRPr>
          </a:p>
          <a:p>
            <a:pPr marL="342900" indent="-342900">
              <a:buFont typeface="Arial"/>
              <a:buChar char="•"/>
            </a:pPr>
            <a:r>
              <a:rPr lang="en-US" b="1" dirty="0">
                <a:latin typeface="Calibri"/>
                <a:ea typeface="+mn-lt"/>
                <a:cs typeface="+mn-lt"/>
              </a:rPr>
              <a:t>Salutation</a:t>
            </a:r>
            <a:r>
              <a:rPr lang="en-US" dirty="0">
                <a:latin typeface="Calibri"/>
                <a:ea typeface="+mn-lt"/>
                <a:cs typeface="+mn-lt"/>
              </a:rPr>
              <a:t> (yes, it should be to a real person—take time to know your target)</a:t>
            </a:r>
            <a:endParaRPr lang="en-US">
              <a:latin typeface="Calibri"/>
              <a:cs typeface="Calibri"/>
            </a:endParaRPr>
          </a:p>
          <a:p>
            <a:pPr marL="342900" indent="-342900">
              <a:buFont typeface="Arial"/>
              <a:buChar char="•"/>
            </a:pPr>
            <a:r>
              <a:rPr lang="en-US" b="1" dirty="0">
                <a:latin typeface="Calibri"/>
                <a:ea typeface="+mn-lt"/>
                <a:cs typeface="+mn-lt"/>
              </a:rPr>
              <a:t>First paragraph</a:t>
            </a:r>
            <a:r>
              <a:rPr lang="en-US" dirty="0">
                <a:latin typeface="Calibri"/>
                <a:ea typeface="+mn-lt"/>
                <a:cs typeface="+mn-lt"/>
              </a:rPr>
              <a:t>—why you are writing? To meet that company's specific need(s)!</a:t>
            </a:r>
            <a:endParaRPr lang="en-US">
              <a:latin typeface="Calibri"/>
              <a:cs typeface="Calibri"/>
            </a:endParaRPr>
          </a:p>
          <a:p>
            <a:pPr marL="342900" indent="-342900">
              <a:buFont typeface="Arial"/>
              <a:buChar char="•"/>
            </a:pPr>
            <a:r>
              <a:rPr lang="en-US" b="1" dirty="0">
                <a:latin typeface="Calibri"/>
                <a:ea typeface="+mn-lt"/>
                <a:cs typeface="+mn-lt"/>
              </a:rPr>
              <a:t>Second paragraph</a:t>
            </a:r>
            <a:r>
              <a:rPr lang="en-US" dirty="0">
                <a:latin typeface="Calibri"/>
                <a:ea typeface="+mn-lt"/>
                <a:cs typeface="+mn-lt"/>
              </a:rPr>
              <a:t>—briefly state two or three top skills (from the Summary section of your resume), then immediately follow with the benefits these features (and you as a person) will provide to the company.</a:t>
            </a:r>
            <a:endParaRPr lang="en-US">
              <a:latin typeface="Calibri"/>
              <a:cs typeface="Calibri"/>
            </a:endParaRPr>
          </a:p>
          <a:p>
            <a:pPr marL="342900" indent="-342900">
              <a:buFont typeface="Arial"/>
              <a:buChar char="•"/>
            </a:pPr>
            <a:r>
              <a:rPr lang="en-US" b="1" dirty="0">
                <a:latin typeface="Calibri"/>
                <a:ea typeface="+mn-lt"/>
                <a:cs typeface="+mn-lt"/>
              </a:rPr>
              <a:t>Third paragraph</a:t>
            </a:r>
            <a:r>
              <a:rPr lang="en-US" dirty="0">
                <a:latin typeface="Calibri"/>
                <a:ea typeface="+mn-lt"/>
                <a:cs typeface="+mn-lt"/>
              </a:rPr>
              <a:t>—close! Not just the ending of the letter, but the "sales closer" to the letter. Close the sale. Give your target contact a specific action to take and a backup action you will take if you do not get a response.</a:t>
            </a:r>
            <a:endParaRPr lang="en-US">
              <a:latin typeface="Calibri"/>
              <a:cs typeface="Calibri"/>
            </a:endParaRPr>
          </a:p>
        </p:txBody>
      </p:sp>
    </p:spTree>
    <p:extLst>
      <p:ext uri="{BB962C8B-B14F-4D97-AF65-F5344CB8AC3E}">
        <p14:creationId xmlns:p14="http://schemas.microsoft.com/office/powerpoint/2010/main" val="317493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9D408-7C3E-4A90-9152-FCC0C5421E8E}"/>
              </a:ext>
            </a:extLst>
          </p:cNvPr>
          <p:cNvSpPr>
            <a:spLocks noGrp="1"/>
          </p:cNvSpPr>
          <p:nvPr>
            <p:ph type="title"/>
          </p:nvPr>
        </p:nvSpPr>
        <p:spPr/>
        <p:txBody>
          <a:bodyPr>
            <a:normAutofit/>
          </a:bodyPr>
          <a:lstStyle/>
          <a:p>
            <a:r>
              <a:rPr lang="en-US" sz="4400" dirty="0">
                <a:latin typeface="Calibri"/>
                <a:ea typeface="+mj-lt"/>
                <a:cs typeface="+mj-lt"/>
              </a:rPr>
              <a:t>Anatomy of a Cover Letter</a:t>
            </a:r>
            <a:endParaRPr lang="en-US" sz="4400">
              <a:latin typeface="Calibri"/>
              <a:cs typeface="Calibri"/>
            </a:endParaRPr>
          </a:p>
        </p:txBody>
      </p:sp>
      <p:sp>
        <p:nvSpPr>
          <p:cNvPr id="3" name="Content Placeholder 2">
            <a:extLst>
              <a:ext uri="{FF2B5EF4-FFF2-40B4-BE49-F238E27FC236}">
                <a16:creationId xmlns:a16="http://schemas.microsoft.com/office/drawing/2014/main" id="{0FFF919B-FF76-4EFC-9A75-6370BEBF95DB}"/>
              </a:ext>
            </a:extLst>
          </p:cNvPr>
          <p:cNvSpPr>
            <a:spLocks noGrp="1"/>
          </p:cNvSpPr>
          <p:nvPr>
            <p:ph idx="1"/>
          </p:nvPr>
        </p:nvSpPr>
        <p:spPr/>
        <p:txBody>
          <a:bodyPr vert="horz" lIns="91440" tIns="45720" rIns="91440" bIns="45720" rtlCol="0" anchor="t">
            <a:normAutofit lnSpcReduction="10000"/>
          </a:bodyPr>
          <a:lstStyle/>
          <a:p>
            <a:r>
              <a:rPr lang="en-US" b="1" dirty="0">
                <a:latin typeface="Calibri"/>
                <a:ea typeface="+mn-lt"/>
                <a:cs typeface="+mn-lt"/>
              </a:rPr>
              <a:t>A basic formula for cover letters is as follows:</a:t>
            </a:r>
            <a:endParaRPr lang="en-US" b="1">
              <a:latin typeface="Calibri"/>
              <a:cs typeface="Calibri"/>
            </a:endParaRPr>
          </a:p>
          <a:p>
            <a:pPr marL="342900" indent="-342900">
              <a:buFont typeface="Arial"/>
              <a:buChar char="•"/>
            </a:pPr>
            <a:r>
              <a:rPr lang="en-US" b="1" dirty="0">
                <a:latin typeface="Calibri"/>
                <a:ea typeface="+mn-lt"/>
                <a:cs typeface="+mn-lt"/>
              </a:rPr>
              <a:t>Standard business letter address format</a:t>
            </a:r>
            <a:r>
              <a:rPr lang="en-US" dirty="0">
                <a:latin typeface="Calibri"/>
                <a:ea typeface="+mn-lt"/>
                <a:cs typeface="+mn-lt"/>
              </a:rPr>
              <a:t>—prospect name, title, company, address—top left</a:t>
            </a:r>
            <a:endParaRPr lang="en-US">
              <a:latin typeface="Calibri"/>
              <a:cs typeface="Calibri"/>
            </a:endParaRPr>
          </a:p>
          <a:p>
            <a:pPr marL="342900" indent="-342900">
              <a:buFont typeface="Arial"/>
              <a:buChar char="•"/>
            </a:pPr>
            <a:r>
              <a:rPr lang="en-US" b="1" dirty="0">
                <a:latin typeface="Calibri"/>
                <a:ea typeface="+mn-lt"/>
                <a:cs typeface="+mn-lt"/>
              </a:rPr>
              <a:t>Salutation</a:t>
            </a:r>
            <a:r>
              <a:rPr lang="en-US" dirty="0">
                <a:latin typeface="Calibri"/>
                <a:ea typeface="+mn-lt"/>
                <a:cs typeface="+mn-lt"/>
              </a:rPr>
              <a:t> (yes, it should be to a real person—take time to know your target)</a:t>
            </a:r>
            <a:endParaRPr lang="en-US">
              <a:latin typeface="Calibri"/>
              <a:cs typeface="Calibri"/>
            </a:endParaRPr>
          </a:p>
          <a:p>
            <a:pPr marL="342900" indent="-342900">
              <a:buFont typeface="Arial"/>
              <a:buChar char="•"/>
            </a:pPr>
            <a:r>
              <a:rPr lang="en-US" b="1" dirty="0">
                <a:latin typeface="Calibri"/>
                <a:ea typeface="+mn-lt"/>
                <a:cs typeface="+mn-lt"/>
              </a:rPr>
              <a:t>First paragraph</a:t>
            </a:r>
            <a:r>
              <a:rPr lang="en-US" dirty="0">
                <a:latin typeface="Calibri"/>
                <a:ea typeface="+mn-lt"/>
                <a:cs typeface="+mn-lt"/>
              </a:rPr>
              <a:t>—why you are writing? To meet that company's specific need(s)!</a:t>
            </a:r>
            <a:endParaRPr lang="en-US">
              <a:latin typeface="Calibri"/>
              <a:cs typeface="Calibri"/>
            </a:endParaRPr>
          </a:p>
          <a:p>
            <a:pPr marL="342900" indent="-342900">
              <a:buFont typeface="Arial"/>
              <a:buChar char="•"/>
            </a:pPr>
            <a:r>
              <a:rPr lang="en-US" b="1" dirty="0">
                <a:latin typeface="Calibri"/>
                <a:ea typeface="+mn-lt"/>
                <a:cs typeface="+mn-lt"/>
              </a:rPr>
              <a:t>Second paragraph</a:t>
            </a:r>
            <a:r>
              <a:rPr lang="en-US" dirty="0">
                <a:latin typeface="Calibri"/>
                <a:ea typeface="+mn-lt"/>
                <a:cs typeface="+mn-lt"/>
              </a:rPr>
              <a:t>—briefly state two or three top skills (from the Summary section of your resume), then immediately follow with the benefits these features (and you as a person) will provide to the company.</a:t>
            </a:r>
            <a:endParaRPr lang="en-US">
              <a:latin typeface="Calibri"/>
              <a:cs typeface="Calibri"/>
            </a:endParaRPr>
          </a:p>
          <a:p>
            <a:pPr marL="342900" indent="-342900">
              <a:buFont typeface="Arial"/>
              <a:buChar char="•"/>
            </a:pPr>
            <a:r>
              <a:rPr lang="en-US" b="1" dirty="0">
                <a:latin typeface="Calibri"/>
                <a:ea typeface="+mn-lt"/>
                <a:cs typeface="+mn-lt"/>
              </a:rPr>
              <a:t>Third paragraph</a:t>
            </a:r>
            <a:r>
              <a:rPr lang="en-US" dirty="0">
                <a:latin typeface="Calibri"/>
                <a:ea typeface="+mn-lt"/>
                <a:cs typeface="+mn-lt"/>
              </a:rPr>
              <a:t>—close! Not just the ending of the letter, but the "sales closer" to the letter. Close the sale. Give your target contact a specific action to take and a backup action you will take if you do not get a response.</a:t>
            </a:r>
            <a:endParaRPr lang="en-US">
              <a:latin typeface="Calibri"/>
              <a:cs typeface="Calibri"/>
            </a:endParaRPr>
          </a:p>
        </p:txBody>
      </p:sp>
    </p:spTree>
    <p:extLst>
      <p:ext uri="{BB962C8B-B14F-4D97-AF65-F5344CB8AC3E}">
        <p14:creationId xmlns:p14="http://schemas.microsoft.com/office/powerpoint/2010/main" val="112153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otebook and ballpen">
            <a:extLst>
              <a:ext uri="{FF2B5EF4-FFF2-40B4-BE49-F238E27FC236}">
                <a16:creationId xmlns:a16="http://schemas.microsoft.com/office/drawing/2014/main" id="{DEE9FC75-36AD-2D43-0B1F-1D5150F374F7}"/>
              </a:ext>
            </a:extLst>
          </p:cNvPr>
          <p:cNvPicPr>
            <a:picLocks noChangeAspect="1"/>
          </p:cNvPicPr>
          <p:nvPr/>
        </p:nvPicPr>
        <p:blipFill rotWithShape="1">
          <a:blip r:embed="rId2"/>
          <a:srcRect l="23402" t="9090" r="8" b="8"/>
          <a:stretch/>
        </p:blipFill>
        <p:spPr>
          <a:xfrm>
            <a:off x="3522468" y="10"/>
            <a:ext cx="8669532" cy="6857990"/>
          </a:xfrm>
          <a:prstGeom prst="rect">
            <a:avLst/>
          </a:prstGeom>
        </p:spPr>
      </p:pic>
      <p:sp>
        <p:nvSpPr>
          <p:cNvPr id="11" name="Rectangle 10">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BCD6E20-1EA4-3771-B779-3F2AD3D55FFA}"/>
              </a:ext>
            </a:extLst>
          </p:cNvPr>
          <p:cNvSpPr>
            <a:spLocks noGrp="1"/>
          </p:cNvSpPr>
          <p:nvPr>
            <p:ph type="title"/>
          </p:nvPr>
        </p:nvSpPr>
        <p:spPr>
          <a:xfrm>
            <a:off x="371094" y="1161288"/>
            <a:ext cx="3438144" cy="1124712"/>
          </a:xfrm>
        </p:spPr>
        <p:txBody>
          <a:bodyPr anchor="b">
            <a:normAutofit/>
          </a:bodyPr>
          <a:lstStyle/>
          <a:p>
            <a:r>
              <a:rPr lang="en-US" sz="2800">
                <a:ea typeface="+mj-lt"/>
                <a:cs typeface="+mj-lt"/>
              </a:rPr>
              <a:t>Activity</a:t>
            </a:r>
            <a:endParaRPr lang="en-US" sz="2800"/>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0588FBE-63CA-E4FD-4255-7C4D498CC69A}"/>
              </a:ext>
            </a:extLst>
          </p:cNvPr>
          <p:cNvSpPr>
            <a:spLocks noGrp="1"/>
          </p:cNvSpPr>
          <p:nvPr>
            <p:ph idx="1"/>
          </p:nvPr>
        </p:nvSpPr>
        <p:spPr>
          <a:xfrm>
            <a:off x="371094" y="2718054"/>
            <a:ext cx="3739943" cy="3207258"/>
          </a:xfrm>
        </p:spPr>
        <p:txBody>
          <a:bodyPr vert="horz" lIns="91440" tIns="45720" rIns="91440" bIns="45720" rtlCol="0" anchor="t">
            <a:noAutofit/>
          </a:bodyPr>
          <a:lstStyle/>
          <a:p>
            <a:pPr>
              <a:lnSpc>
                <a:spcPct val="150000"/>
              </a:lnSpc>
            </a:pPr>
            <a:r>
              <a:rPr lang="en-US" sz="2000">
                <a:ea typeface="+mn-lt"/>
                <a:cs typeface="+mn-lt"/>
              </a:rPr>
              <a:t>Write a cover letter, think about where you want to work, the job you really enjoy and are capable of.</a:t>
            </a:r>
            <a:endParaRPr lang="en-US" sz="2000">
              <a:cs typeface="Calibri" panose="020F0502020204030204"/>
            </a:endParaRPr>
          </a:p>
          <a:p>
            <a:pPr>
              <a:lnSpc>
                <a:spcPct val="150000"/>
              </a:lnSpc>
            </a:pPr>
            <a:r>
              <a:rPr lang="en-US" sz="2000" dirty="0">
                <a:ea typeface="+mn-lt"/>
                <a:cs typeface="+mn-lt"/>
              </a:rPr>
              <a:t>Draft and finalize your cover letter and share it with your classmates.</a:t>
            </a:r>
            <a:endParaRPr lang="en-US" sz="2000" dirty="0">
              <a:cs typeface="Calibri" panose="020F0502020204030204"/>
            </a:endParaRPr>
          </a:p>
        </p:txBody>
      </p:sp>
    </p:spTree>
    <p:extLst>
      <p:ext uri="{BB962C8B-B14F-4D97-AF65-F5344CB8AC3E}">
        <p14:creationId xmlns:p14="http://schemas.microsoft.com/office/powerpoint/2010/main" val="1759233629"/>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10650BA-D090-4A23-98E3-B48BBAEA9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5628" r="29330" b="2"/>
          <a:stretch/>
        </p:blipFill>
        <p:spPr>
          <a:xfrm>
            <a:off x="-9527" y="3725"/>
            <a:ext cx="5846165" cy="6850548"/>
          </a:xfrm>
          <a:prstGeom prst="rect">
            <a:avLst/>
          </a:prstGeom>
        </p:spPr>
      </p:pic>
      <p:grpSp>
        <p:nvGrpSpPr>
          <p:cNvPr id="11" name="Group 10">
            <a:extLst>
              <a:ext uri="{FF2B5EF4-FFF2-40B4-BE49-F238E27FC236}">
                <a16:creationId xmlns:a16="http://schemas.microsoft.com/office/drawing/2014/main" id="{FFB939B9-73CE-4644-87BB-72AEBF0011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27" y="-6558"/>
            <a:ext cx="6254832" cy="6874766"/>
            <a:chOff x="-9149" y="3725"/>
            <a:chExt cx="6254832" cy="6887203"/>
          </a:xfrm>
        </p:grpSpPr>
        <p:sp>
          <p:nvSpPr>
            <p:cNvPr id="12" name="Freeform: Shape 11">
              <a:extLst>
                <a:ext uri="{FF2B5EF4-FFF2-40B4-BE49-F238E27FC236}">
                  <a16:creationId xmlns:a16="http://schemas.microsoft.com/office/drawing/2014/main" id="{15F2A0CF-7879-4629-AC2B-4069D77A3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8645"/>
              <a:ext cx="5933139" cy="6387893"/>
            </a:xfrm>
            <a:custGeom>
              <a:avLst/>
              <a:gdLst>
                <a:gd name="connsiteX0" fmla="*/ 5852909 w 5933139"/>
                <a:gd name="connsiteY0" fmla="*/ 2469528 h 6335678"/>
                <a:gd name="connsiteX1" fmla="*/ 5830799 w 5933139"/>
                <a:gd name="connsiteY1" fmla="*/ 2394015 h 6335678"/>
                <a:gd name="connsiteX2" fmla="*/ 5805878 w 5933139"/>
                <a:gd name="connsiteY2" fmla="*/ 2319439 h 6335678"/>
                <a:gd name="connsiteX3" fmla="*/ 5778708 w 5933139"/>
                <a:gd name="connsiteY3" fmla="*/ 2245800 h 6335678"/>
                <a:gd name="connsiteX4" fmla="*/ 5652978 w 5933139"/>
                <a:gd name="connsiteY4" fmla="*/ 1959675 h 6335678"/>
                <a:gd name="connsiteX5" fmla="*/ 5327691 w 5933139"/>
                <a:gd name="connsiteY5" fmla="*/ 1432958 h 6335678"/>
                <a:gd name="connsiteX6" fmla="*/ 4921458 w 5933139"/>
                <a:gd name="connsiteY6" fmla="*/ 973322 h 6335678"/>
                <a:gd name="connsiteX7" fmla="*/ 4450018 w 5933139"/>
                <a:gd name="connsiteY7" fmla="*/ 586764 h 6335678"/>
                <a:gd name="connsiteX8" fmla="*/ 4193311 w 5933139"/>
                <a:gd name="connsiteY8" fmla="*/ 423558 h 6335678"/>
                <a:gd name="connsiteX9" fmla="*/ 3924237 w 5933139"/>
                <a:gd name="connsiteY9" fmla="*/ 281901 h 6335678"/>
                <a:gd name="connsiteX10" fmla="*/ 3352175 w 5933139"/>
                <a:gd name="connsiteY10" fmla="*/ 75786 h 6335678"/>
                <a:gd name="connsiteX11" fmla="*/ 3051997 w 5933139"/>
                <a:gd name="connsiteY11" fmla="*/ 19011 h 6335678"/>
                <a:gd name="connsiteX12" fmla="*/ 2745823 w 5933139"/>
                <a:gd name="connsiteY12" fmla="*/ 86 h 6335678"/>
                <a:gd name="connsiteX13" fmla="*/ 2141720 w 5933139"/>
                <a:gd name="connsiteY13" fmla="*/ 55550 h 6335678"/>
                <a:gd name="connsiteX14" fmla="*/ 1551295 w 5933139"/>
                <a:gd name="connsiteY14" fmla="*/ 216319 h 6335678"/>
                <a:gd name="connsiteX15" fmla="*/ 1001718 w 5933139"/>
                <a:gd name="connsiteY15" fmla="*/ 498134 h 6335678"/>
                <a:gd name="connsiteX16" fmla="*/ 754755 w 5933139"/>
                <a:gd name="connsiteY16" fmla="*/ 685886 h 6335678"/>
                <a:gd name="connsiteX17" fmla="*/ 533462 w 5933139"/>
                <a:gd name="connsiteY17" fmla="*/ 903056 h 6335678"/>
                <a:gd name="connsiteX18" fmla="*/ 0 w 5933139"/>
                <a:gd name="connsiteY18" fmla="*/ 1646568 h 6335678"/>
                <a:gd name="connsiteX19" fmla="*/ 0 w 5933139"/>
                <a:gd name="connsiteY19" fmla="*/ 4709059 h 6335678"/>
                <a:gd name="connsiteX20" fmla="*/ 120671 w 5933139"/>
                <a:gd name="connsiteY20" fmla="*/ 4907491 h 6335678"/>
                <a:gd name="connsiteX21" fmla="*/ 507979 w 5933139"/>
                <a:gd name="connsiteY21" fmla="*/ 5384178 h 6335678"/>
                <a:gd name="connsiteX22" fmla="*/ 972112 w 5933139"/>
                <a:gd name="connsiteY22" fmla="*/ 5778607 h 6335678"/>
                <a:gd name="connsiteX23" fmla="*/ 1229943 w 5933139"/>
                <a:gd name="connsiteY23" fmla="*/ 5939939 h 6335678"/>
                <a:gd name="connsiteX24" fmla="*/ 1502389 w 5933139"/>
                <a:gd name="connsiteY24" fmla="*/ 6073913 h 6335678"/>
                <a:gd name="connsiteX25" fmla="*/ 2673870 w 5933139"/>
                <a:gd name="connsiteY25" fmla="*/ 6333993 h 6335678"/>
                <a:gd name="connsiteX26" fmla="*/ 2749196 w 5933139"/>
                <a:gd name="connsiteY26" fmla="*/ 6335679 h 6335678"/>
                <a:gd name="connsiteX27" fmla="*/ 2787983 w 5933139"/>
                <a:gd name="connsiteY27" fmla="*/ 6335492 h 6335678"/>
                <a:gd name="connsiteX28" fmla="*/ 2826770 w 5933139"/>
                <a:gd name="connsiteY28" fmla="*/ 6334368 h 6335678"/>
                <a:gd name="connsiteX29" fmla="*/ 2981918 w 5933139"/>
                <a:gd name="connsiteY29" fmla="*/ 6319939 h 6335678"/>
                <a:gd name="connsiteX30" fmla="*/ 3285282 w 5933139"/>
                <a:gd name="connsiteY30" fmla="*/ 6241803 h 6335678"/>
                <a:gd name="connsiteX31" fmla="*/ 3566347 w 5933139"/>
                <a:gd name="connsiteY31" fmla="*/ 6104831 h 6335678"/>
                <a:gd name="connsiteX32" fmla="*/ 3818369 w 5933139"/>
                <a:gd name="connsiteY32" fmla="*/ 5926823 h 6335678"/>
                <a:gd name="connsiteX33" fmla="*/ 4044908 w 5933139"/>
                <a:gd name="connsiteY33" fmla="*/ 5726329 h 6335678"/>
                <a:gd name="connsiteX34" fmla="*/ 4151151 w 5933139"/>
                <a:gd name="connsiteY34" fmla="*/ 5622147 h 6335678"/>
                <a:gd name="connsiteX35" fmla="*/ 4253834 w 5933139"/>
                <a:gd name="connsiteY35" fmla="*/ 5516841 h 6335678"/>
                <a:gd name="connsiteX36" fmla="*/ 4452453 w 5933139"/>
                <a:gd name="connsiteY36" fmla="*/ 5306979 h 6335678"/>
                <a:gd name="connsiteX37" fmla="*/ 4548578 w 5933139"/>
                <a:gd name="connsiteY37" fmla="*/ 5202797 h 6335678"/>
                <a:gd name="connsiteX38" fmla="*/ 4596546 w 5933139"/>
                <a:gd name="connsiteY38" fmla="*/ 5151456 h 6335678"/>
                <a:gd name="connsiteX39" fmla="*/ 4643016 w 5933139"/>
                <a:gd name="connsiteY39" fmla="*/ 5103300 h 6335678"/>
                <a:gd name="connsiteX40" fmla="*/ 4739515 w 5933139"/>
                <a:gd name="connsiteY40" fmla="*/ 5013172 h 6335678"/>
                <a:gd name="connsiteX41" fmla="*/ 4842198 w 5933139"/>
                <a:gd name="connsiteY41" fmla="*/ 4930164 h 6335678"/>
                <a:gd name="connsiteX42" fmla="*/ 5071360 w 5933139"/>
                <a:gd name="connsiteY42" fmla="*/ 4780449 h 6335678"/>
                <a:gd name="connsiteX43" fmla="*/ 5332001 w 5933139"/>
                <a:gd name="connsiteY43" fmla="*/ 4615932 h 6335678"/>
                <a:gd name="connsiteX44" fmla="*/ 5397396 w 5933139"/>
                <a:gd name="connsiteY44" fmla="*/ 4563655 h 6335678"/>
                <a:gd name="connsiteX45" fmla="*/ 5459417 w 5933139"/>
                <a:gd name="connsiteY45" fmla="*/ 4505380 h 6335678"/>
                <a:gd name="connsiteX46" fmla="*/ 5567159 w 5933139"/>
                <a:gd name="connsiteY46" fmla="*/ 4374029 h 6335678"/>
                <a:gd name="connsiteX47" fmla="*/ 5651292 w 5933139"/>
                <a:gd name="connsiteY47" fmla="*/ 4231810 h 6335678"/>
                <a:gd name="connsiteX48" fmla="*/ 5716686 w 5933139"/>
                <a:gd name="connsiteY48" fmla="*/ 4085655 h 6335678"/>
                <a:gd name="connsiteX49" fmla="*/ 5820681 w 5933139"/>
                <a:gd name="connsiteY49" fmla="*/ 3791848 h 6335678"/>
                <a:gd name="connsiteX50" fmla="*/ 5898629 w 5933139"/>
                <a:gd name="connsiteY50" fmla="*/ 3487922 h 6335678"/>
                <a:gd name="connsiteX51" fmla="*/ 5932170 w 5933139"/>
                <a:gd name="connsiteY51" fmla="*/ 3174066 h 6335678"/>
                <a:gd name="connsiteX52" fmla="*/ 5872209 w 5933139"/>
                <a:gd name="connsiteY52" fmla="*/ 2545978 h 6335678"/>
                <a:gd name="connsiteX53" fmla="*/ 5852909 w 5933139"/>
                <a:gd name="connsiteY53" fmla="*/ 2469528 h 6335678"/>
                <a:gd name="connsiteX54" fmla="*/ 5507386 w 5933139"/>
                <a:gd name="connsiteY54" fmla="*/ 3724580 h 6335678"/>
                <a:gd name="connsiteX55" fmla="*/ 5453609 w 5933139"/>
                <a:gd name="connsiteY55" fmla="*/ 3989906 h 6335678"/>
                <a:gd name="connsiteX56" fmla="*/ 5344181 w 5933139"/>
                <a:gd name="connsiteY56" fmla="*/ 4220380 h 6335678"/>
                <a:gd name="connsiteX57" fmla="*/ 5171419 w 5933139"/>
                <a:gd name="connsiteY57" fmla="*/ 4388644 h 6335678"/>
                <a:gd name="connsiteX58" fmla="*/ 5057868 w 5933139"/>
                <a:gd name="connsiteY58" fmla="*/ 4453851 h 6335678"/>
                <a:gd name="connsiteX59" fmla="*/ 4930265 w 5933139"/>
                <a:gd name="connsiteY59" fmla="*/ 4516810 h 6335678"/>
                <a:gd name="connsiteX60" fmla="*/ 4660067 w 5933139"/>
                <a:gd name="connsiteY60" fmla="*/ 4664276 h 6335678"/>
                <a:gd name="connsiteX61" fmla="*/ 4408794 w 5933139"/>
                <a:gd name="connsiteY61" fmla="*/ 4857836 h 6335678"/>
                <a:gd name="connsiteX62" fmla="*/ 4352207 w 5933139"/>
                <a:gd name="connsiteY62" fmla="*/ 4911988 h 6335678"/>
                <a:gd name="connsiteX63" fmla="*/ 4299366 w 5933139"/>
                <a:gd name="connsiteY63" fmla="*/ 4965390 h 6335678"/>
                <a:gd name="connsiteX64" fmla="*/ 4197621 w 5933139"/>
                <a:gd name="connsiteY64" fmla="*/ 5074257 h 6335678"/>
                <a:gd name="connsiteX65" fmla="*/ 4008744 w 5933139"/>
                <a:gd name="connsiteY65" fmla="*/ 5297985 h 6335678"/>
                <a:gd name="connsiteX66" fmla="*/ 3917304 w 5933139"/>
                <a:gd name="connsiteY66" fmla="*/ 5409100 h 6335678"/>
                <a:gd name="connsiteX67" fmla="*/ 3826052 w 5933139"/>
                <a:gd name="connsiteY67" fmla="*/ 5518153 h 6335678"/>
                <a:gd name="connsiteX68" fmla="*/ 3637925 w 5933139"/>
                <a:gd name="connsiteY68" fmla="*/ 5725017 h 6335678"/>
                <a:gd name="connsiteX69" fmla="*/ 3433497 w 5933139"/>
                <a:gd name="connsiteY69" fmla="*/ 5906586 h 6335678"/>
                <a:gd name="connsiteX70" fmla="*/ 3204522 w 5933139"/>
                <a:gd name="connsiteY70" fmla="*/ 6046744 h 6335678"/>
                <a:gd name="connsiteX71" fmla="*/ 2950439 w 5933139"/>
                <a:gd name="connsiteY71" fmla="*/ 6129190 h 6335678"/>
                <a:gd name="connsiteX72" fmla="*/ 2816839 w 5933139"/>
                <a:gd name="connsiteY72" fmla="*/ 6146428 h 6335678"/>
                <a:gd name="connsiteX73" fmla="*/ 2749009 w 5933139"/>
                <a:gd name="connsiteY73" fmla="*/ 6149051 h 6335678"/>
                <a:gd name="connsiteX74" fmla="*/ 2678930 w 5933139"/>
                <a:gd name="connsiteY74" fmla="*/ 6148677 h 6335678"/>
                <a:gd name="connsiteX75" fmla="*/ 2125793 w 5933139"/>
                <a:gd name="connsiteY75" fmla="*/ 6065481 h 6335678"/>
                <a:gd name="connsiteX76" fmla="*/ 1610506 w 5933139"/>
                <a:gd name="connsiteY76" fmla="*/ 5851310 h 6335678"/>
                <a:gd name="connsiteX77" fmla="*/ 1373099 w 5933139"/>
                <a:gd name="connsiteY77" fmla="*/ 5706279 h 6335678"/>
                <a:gd name="connsiteX78" fmla="*/ 1315949 w 5933139"/>
                <a:gd name="connsiteY78" fmla="*/ 5666743 h 6335678"/>
                <a:gd name="connsiteX79" fmla="*/ 1259923 w 5933139"/>
                <a:gd name="connsiteY79" fmla="*/ 5625894 h 6335678"/>
                <a:gd name="connsiteX80" fmla="*/ 1204647 w 5933139"/>
                <a:gd name="connsiteY80" fmla="*/ 5583922 h 6335678"/>
                <a:gd name="connsiteX81" fmla="*/ 1150308 w 5933139"/>
                <a:gd name="connsiteY81" fmla="*/ 5540826 h 6335678"/>
                <a:gd name="connsiteX82" fmla="*/ 751569 w 5933139"/>
                <a:gd name="connsiteY82" fmla="*/ 5158015 h 6335678"/>
                <a:gd name="connsiteX83" fmla="*/ 663315 w 5933139"/>
                <a:gd name="connsiteY83" fmla="*/ 5052146 h 6335678"/>
                <a:gd name="connsiteX84" fmla="*/ 580869 w 5933139"/>
                <a:gd name="connsiteY84" fmla="*/ 4942718 h 6335678"/>
                <a:gd name="connsiteX85" fmla="*/ 432279 w 5933139"/>
                <a:gd name="connsiteY85" fmla="*/ 4713369 h 6335678"/>
                <a:gd name="connsiteX86" fmla="*/ 205553 w 5933139"/>
                <a:gd name="connsiteY86" fmla="*/ 4219443 h 6335678"/>
                <a:gd name="connsiteX87" fmla="*/ 79448 w 5933139"/>
                <a:gd name="connsiteY87" fmla="*/ 3693850 h 6335678"/>
                <a:gd name="connsiteX88" fmla="*/ 53590 w 5933139"/>
                <a:gd name="connsiteY88" fmla="*/ 3425339 h 6335678"/>
                <a:gd name="connsiteX89" fmla="*/ 49655 w 5933139"/>
                <a:gd name="connsiteY89" fmla="*/ 3155890 h 6335678"/>
                <a:gd name="connsiteX90" fmla="*/ 67830 w 5933139"/>
                <a:gd name="connsiteY90" fmla="*/ 2886817 h 6335678"/>
                <a:gd name="connsiteX91" fmla="*/ 108679 w 5933139"/>
                <a:gd name="connsiteY91" fmla="*/ 2619992 h 6335678"/>
                <a:gd name="connsiteX92" fmla="*/ 263077 w 5933139"/>
                <a:gd name="connsiteY92" fmla="*/ 2101520 h 6335678"/>
                <a:gd name="connsiteX93" fmla="*/ 837575 w 5933139"/>
                <a:gd name="connsiteY93" fmla="*/ 1186370 h 6335678"/>
                <a:gd name="connsiteX94" fmla="*/ 1031698 w 5933139"/>
                <a:gd name="connsiteY94" fmla="*/ 996932 h 6335678"/>
                <a:gd name="connsiteX95" fmla="*/ 1236688 w 5933139"/>
                <a:gd name="connsiteY95" fmla="*/ 819298 h 6335678"/>
                <a:gd name="connsiteX96" fmla="*/ 1687143 w 5933139"/>
                <a:gd name="connsiteY96" fmla="*/ 511438 h 6335678"/>
                <a:gd name="connsiteX97" fmla="*/ 2196246 w 5933139"/>
                <a:gd name="connsiteY97" fmla="*/ 300639 h 6335678"/>
                <a:gd name="connsiteX98" fmla="*/ 2745823 w 5933139"/>
                <a:gd name="connsiteY98" fmla="*/ 229248 h 6335678"/>
                <a:gd name="connsiteX99" fmla="*/ 3019206 w 5933139"/>
                <a:gd name="connsiteY99" fmla="*/ 252108 h 6335678"/>
                <a:gd name="connsiteX100" fmla="*/ 3288092 w 5933139"/>
                <a:gd name="connsiteY100" fmla="*/ 313006 h 6335678"/>
                <a:gd name="connsiteX101" fmla="*/ 3548172 w 5933139"/>
                <a:gd name="connsiteY101" fmla="*/ 407069 h 6335678"/>
                <a:gd name="connsiteX102" fmla="*/ 3611505 w 5933139"/>
                <a:gd name="connsiteY102" fmla="*/ 435176 h 6335678"/>
                <a:gd name="connsiteX103" fmla="*/ 3674089 w 5933139"/>
                <a:gd name="connsiteY103" fmla="*/ 464968 h 6335678"/>
                <a:gd name="connsiteX104" fmla="*/ 3735736 w 5933139"/>
                <a:gd name="connsiteY104" fmla="*/ 496823 h 6335678"/>
                <a:gd name="connsiteX105" fmla="*/ 3796634 w 5933139"/>
                <a:gd name="connsiteY105" fmla="*/ 530176 h 6335678"/>
                <a:gd name="connsiteX106" fmla="*/ 4251585 w 5933139"/>
                <a:gd name="connsiteY106" fmla="*/ 847405 h 6335678"/>
                <a:gd name="connsiteX107" fmla="*/ 4644515 w 5933139"/>
                <a:gd name="connsiteY107" fmla="*/ 1236775 h 6335678"/>
                <a:gd name="connsiteX108" fmla="*/ 4816527 w 5933139"/>
                <a:gd name="connsiteY108" fmla="*/ 1451883 h 6335678"/>
                <a:gd name="connsiteX109" fmla="*/ 4970738 w 5933139"/>
                <a:gd name="connsiteY109" fmla="*/ 1678610 h 6335678"/>
                <a:gd name="connsiteX110" fmla="*/ 5223885 w 5933139"/>
                <a:gd name="connsiteY110" fmla="*/ 2159232 h 6335678"/>
                <a:gd name="connsiteX111" fmla="*/ 5395709 w 5933139"/>
                <a:gd name="connsiteY111" fmla="*/ 2666087 h 6335678"/>
                <a:gd name="connsiteX112" fmla="*/ 5458855 w 5933139"/>
                <a:gd name="connsiteY112" fmla="*/ 2924292 h 6335678"/>
                <a:gd name="connsiteX113" fmla="*/ 5499142 w 5933139"/>
                <a:gd name="connsiteY113" fmla="*/ 3186995 h 6335678"/>
                <a:gd name="connsiteX114" fmla="*/ 5516755 w 5933139"/>
                <a:gd name="connsiteY114" fmla="*/ 3454007 h 6335678"/>
                <a:gd name="connsiteX115" fmla="*/ 5507386 w 5933139"/>
                <a:gd name="connsiteY115" fmla="*/ 3724580 h 633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933139" h="6335678">
                  <a:moveTo>
                    <a:pt x="5852909" y="2469528"/>
                  </a:moveTo>
                  <a:lnTo>
                    <a:pt x="5830799" y="2394015"/>
                  </a:lnTo>
                  <a:lnTo>
                    <a:pt x="5805878" y="2319439"/>
                  </a:lnTo>
                  <a:cubicBezTo>
                    <a:pt x="5797446" y="2294705"/>
                    <a:pt x="5787890" y="2270346"/>
                    <a:pt x="5778708" y="2245800"/>
                  </a:cubicBezTo>
                  <a:cubicBezTo>
                    <a:pt x="5740858" y="2148364"/>
                    <a:pt x="5699073" y="2052614"/>
                    <a:pt x="5652978" y="1959675"/>
                  </a:cubicBezTo>
                  <a:cubicBezTo>
                    <a:pt x="5559664" y="1773985"/>
                    <a:pt x="5450986" y="1597663"/>
                    <a:pt x="5327691" y="1432958"/>
                  </a:cubicBezTo>
                  <a:cubicBezTo>
                    <a:pt x="5204960" y="1268067"/>
                    <a:pt x="5068362" y="1114980"/>
                    <a:pt x="4921458" y="973322"/>
                  </a:cubicBezTo>
                  <a:cubicBezTo>
                    <a:pt x="4774742" y="831665"/>
                    <a:pt x="4616408" y="703125"/>
                    <a:pt x="4450018" y="586764"/>
                  </a:cubicBezTo>
                  <a:cubicBezTo>
                    <a:pt x="4366822" y="528489"/>
                    <a:pt x="4281003" y="474337"/>
                    <a:pt x="4193311" y="423558"/>
                  </a:cubicBezTo>
                  <a:cubicBezTo>
                    <a:pt x="4105806" y="372404"/>
                    <a:pt x="4015865" y="325560"/>
                    <a:pt x="3924237" y="281901"/>
                  </a:cubicBezTo>
                  <a:cubicBezTo>
                    <a:pt x="3740983" y="195333"/>
                    <a:pt x="3549483" y="125067"/>
                    <a:pt x="3352175" y="75786"/>
                  </a:cubicBezTo>
                  <a:cubicBezTo>
                    <a:pt x="3253428" y="51240"/>
                    <a:pt x="3153368" y="31565"/>
                    <a:pt x="3051997" y="19011"/>
                  </a:cubicBezTo>
                  <a:cubicBezTo>
                    <a:pt x="2950814" y="5895"/>
                    <a:pt x="2848506" y="-851"/>
                    <a:pt x="2745823" y="86"/>
                  </a:cubicBezTo>
                  <a:cubicBezTo>
                    <a:pt x="2543643" y="1585"/>
                    <a:pt x="2341838" y="20135"/>
                    <a:pt x="2141720" y="55550"/>
                  </a:cubicBezTo>
                  <a:cubicBezTo>
                    <a:pt x="1941976" y="91339"/>
                    <a:pt x="1743356" y="143055"/>
                    <a:pt x="1551295" y="216319"/>
                  </a:cubicBezTo>
                  <a:cubicBezTo>
                    <a:pt x="1359233" y="289396"/>
                    <a:pt x="1173917" y="383459"/>
                    <a:pt x="1001718" y="498134"/>
                  </a:cubicBezTo>
                  <a:cubicBezTo>
                    <a:pt x="915712" y="555659"/>
                    <a:pt x="832141" y="617119"/>
                    <a:pt x="754755" y="685886"/>
                  </a:cubicBezTo>
                  <a:cubicBezTo>
                    <a:pt x="677555" y="754841"/>
                    <a:pt x="604666" y="828293"/>
                    <a:pt x="533462" y="903056"/>
                  </a:cubicBezTo>
                  <a:cubicBezTo>
                    <a:pt x="323413" y="1125660"/>
                    <a:pt x="143906" y="1376370"/>
                    <a:pt x="0" y="1646568"/>
                  </a:cubicBezTo>
                  <a:lnTo>
                    <a:pt x="0" y="4709059"/>
                  </a:lnTo>
                  <a:cubicBezTo>
                    <a:pt x="37850" y="4776702"/>
                    <a:pt x="78136" y="4843033"/>
                    <a:pt x="120671" y="4907491"/>
                  </a:cubicBezTo>
                  <a:cubicBezTo>
                    <a:pt x="234034" y="5078941"/>
                    <a:pt x="365198" y="5239336"/>
                    <a:pt x="507979" y="5384178"/>
                  </a:cubicBezTo>
                  <a:cubicBezTo>
                    <a:pt x="650948" y="5529395"/>
                    <a:pt x="805909" y="5662059"/>
                    <a:pt x="972112" y="5778607"/>
                  </a:cubicBezTo>
                  <a:cubicBezTo>
                    <a:pt x="1055308" y="5836881"/>
                    <a:pt x="1141314" y="5890846"/>
                    <a:pt x="1229943" y="5939939"/>
                  </a:cubicBezTo>
                  <a:cubicBezTo>
                    <a:pt x="1318385" y="5989406"/>
                    <a:pt x="1409450" y="6033815"/>
                    <a:pt x="1502389" y="6073913"/>
                  </a:cubicBezTo>
                  <a:cubicBezTo>
                    <a:pt x="1874145" y="6233559"/>
                    <a:pt x="2272884" y="6320689"/>
                    <a:pt x="2673870" y="6333993"/>
                  </a:cubicBezTo>
                  <a:lnTo>
                    <a:pt x="2749196" y="6335679"/>
                  </a:lnTo>
                  <a:lnTo>
                    <a:pt x="2787983" y="6335492"/>
                  </a:lnTo>
                  <a:lnTo>
                    <a:pt x="2826770" y="6334368"/>
                  </a:lnTo>
                  <a:cubicBezTo>
                    <a:pt x="2878486" y="6332494"/>
                    <a:pt x="2930390" y="6327247"/>
                    <a:pt x="2981918" y="6319939"/>
                  </a:cubicBezTo>
                  <a:cubicBezTo>
                    <a:pt x="3085163" y="6304949"/>
                    <a:pt x="3187096" y="6278529"/>
                    <a:pt x="3285282" y="6241803"/>
                  </a:cubicBezTo>
                  <a:cubicBezTo>
                    <a:pt x="3383467" y="6205265"/>
                    <a:pt x="3477530" y="6158608"/>
                    <a:pt x="3566347" y="6104831"/>
                  </a:cubicBezTo>
                  <a:cubicBezTo>
                    <a:pt x="3655164" y="6051053"/>
                    <a:pt x="3739109" y="5990905"/>
                    <a:pt x="3818369" y="5926823"/>
                  </a:cubicBezTo>
                  <a:cubicBezTo>
                    <a:pt x="3897630" y="5862739"/>
                    <a:pt x="3973143" y="5795471"/>
                    <a:pt x="4044908" y="5726329"/>
                  </a:cubicBezTo>
                  <a:cubicBezTo>
                    <a:pt x="4080884" y="5691852"/>
                    <a:pt x="4116299" y="5656999"/>
                    <a:pt x="4151151" y="5622147"/>
                  </a:cubicBezTo>
                  <a:cubicBezTo>
                    <a:pt x="4185816" y="5586920"/>
                    <a:pt x="4220106" y="5552068"/>
                    <a:pt x="4253834" y="5516841"/>
                  </a:cubicBezTo>
                  <a:cubicBezTo>
                    <a:pt x="4321289" y="5446388"/>
                    <a:pt x="4387808" y="5376871"/>
                    <a:pt x="4452453" y="5306979"/>
                  </a:cubicBezTo>
                  <a:lnTo>
                    <a:pt x="4548578" y="5202797"/>
                  </a:lnTo>
                  <a:lnTo>
                    <a:pt x="4596546" y="5151456"/>
                  </a:lnTo>
                  <a:cubicBezTo>
                    <a:pt x="4612661" y="5134592"/>
                    <a:pt x="4627276" y="5119040"/>
                    <a:pt x="4643016" y="5103300"/>
                  </a:cubicBezTo>
                  <a:cubicBezTo>
                    <a:pt x="4674308" y="5072196"/>
                    <a:pt x="4706162" y="5041841"/>
                    <a:pt x="4739515" y="5013172"/>
                  </a:cubicBezTo>
                  <a:cubicBezTo>
                    <a:pt x="4772493" y="4984128"/>
                    <a:pt x="4806596" y="4956397"/>
                    <a:pt x="4842198" y="4930164"/>
                  </a:cubicBezTo>
                  <a:cubicBezTo>
                    <a:pt x="4913026" y="4876949"/>
                    <a:pt x="4988914" y="4828980"/>
                    <a:pt x="5071360" y="4780449"/>
                  </a:cubicBezTo>
                  <a:cubicBezTo>
                    <a:pt x="5153243" y="4731544"/>
                    <a:pt x="5243372" y="4682076"/>
                    <a:pt x="5332001" y="4615932"/>
                  </a:cubicBezTo>
                  <a:cubicBezTo>
                    <a:pt x="5354111" y="4599443"/>
                    <a:pt x="5376035" y="4582205"/>
                    <a:pt x="5397396" y="4563655"/>
                  </a:cubicBezTo>
                  <a:cubicBezTo>
                    <a:pt x="5418757" y="4545104"/>
                    <a:pt x="5439368" y="4525617"/>
                    <a:pt x="5459417" y="4505380"/>
                  </a:cubicBezTo>
                  <a:cubicBezTo>
                    <a:pt x="5499329" y="4464719"/>
                    <a:pt x="5535493" y="4420311"/>
                    <a:pt x="5567159" y="4374029"/>
                  </a:cubicBezTo>
                  <a:cubicBezTo>
                    <a:pt x="5599388" y="4328121"/>
                    <a:pt x="5626558" y="4279965"/>
                    <a:pt x="5651292" y="4231810"/>
                  </a:cubicBezTo>
                  <a:cubicBezTo>
                    <a:pt x="5675651" y="4183466"/>
                    <a:pt x="5697012" y="4134561"/>
                    <a:pt x="5716686" y="4085655"/>
                  </a:cubicBezTo>
                  <a:cubicBezTo>
                    <a:pt x="5756223" y="3987845"/>
                    <a:pt x="5789576" y="3891158"/>
                    <a:pt x="5820681" y="3791848"/>
                  </a:cubicBezTo>
                  <a:cubicBezTo>
                    <a:pt x="5851972" y="3692726"/>
                    <a:pt x="5878955" y="3591167"/>
                    <a:pt x="5898629" y="3487922"/>
                  </a:cubicBezTo>
                  <a:cubicBezTo>
                    <a:pt x="5918116" y="3384490"/>
                    <a:pt x="5929172" y="3279372"/>
                    <a:pt x="5932170" y="3174066"/>
                  </a:cubicBezTo>
                  <a:cubicBezTo>
                    <a:pt x="5937604" y="2963454"/>
                    <a:pt x="5920552" y="2750968"/>
                    <a:pt x="5872209" y="2545978"/>
                  </a:cubicBezTo>
                  <a:cubicBezTo>
                    <a:pt x="5865838" y="2520307"/>
                    <a:pt x="5860029" y="2494637"/>
                    <a:pt x="5852909" y="2469528"/>
                  </a:cubicBezTo>
                  <a:close/>
                  <a:moveTo>
                    <a:pt x="5507386" y="3724580"/>
                  </a:moveTo>
                  <a:cubicBezTo>
                    <a:pt x="5497830" y="3814521"/>
                    <a:pt x="5480591" y="3905586"/>
                    <a:pt x="5453609" y="3989906"/>
                  </a:cubicBezTo>
                  <a:cubicBezTo>
                    <a:pt x="5426439" y="4074413"/>
                    <a:pt x="5390088" y="4152924"/>
                    <a:pt x="5344181" y="4220380"/>
                  </a:cubicBezTo>
                  <a:cubicBezTo>
                    <a:pt x="5297898" y="4287835"/>
                    <a:pt x="5241311" y="4342549"/>
                    <a:pt x="5171419" y="4388644"/>
                  </a:cubicBezTo>
                  <a:cubicBezTo>
                    <a:pt x="5136755" y="4411879"/>
                    <a:pt x="5098342" y="4433052"/>
                    <a:pt x="5057868" y="4453851"/>
                  </a:cubicBezTo>
                  <a:cubicBezTo>
                    <a:pt x="5017395" y="4474837"/>
                    <a:pt x="4974298" y="4495449"/>
                    <a:pt x="4930265" y="4516810"/>
                  </a:cubicBezTo>
                  <a:cubicBezTo>
                    <a:pt x="4841823" y="4559719"/>
                    <a:pt x="4748696" y="4607126"/>
                    <a:pt x="4660067" y="4664276"/>
                  </a:cubicBezTo>
                  <a:cubicBezTo>
                    <a:pt x="4571251" y="4721238"/>
                    <a:pt x="4486181" y="4786071"/>
                    <a:pt x="4408794" y="4857836"/>
                  </a:cubicBezTo>
                  <a:cubicBezTo>
                    <a:pt x="4389682" y="4875637"/>
                    <a:pt x="4370008" y="4894375"/>
                    <a:pt x="4352207" y="4911988"/>
                  </a:cubicBezTo>
                  <a:lnTo>
                    <a:pt x="4299366" y="4965390"/>
                  </a:lnTo>
                  <a:cubicBezTo>
                    <a:pt x="4264514" y="5001179"/>
                    <a:pt x="4230599" y="5037531"/>
                    <a:pt x="4197621" y="5074257"/>
                  </a:cubicBezTo>
                  <a:cubicBezTo>
                    <a:pt x="4131664" y="5147896"/>
                    <a:pt x="4070204" y="5223784"/>
                    <a:pt x="4008744" y="5297985"/>
                  </a:cubicBezTo>
                  <a:lnTo>
                    <a:pt x="3917304" y="5409100"/>
                  </a:lnTo>
                  <a:cubicBezTo>
                    <a:pt x="3886949" y="5446013"/>
                    <a:pt x="3856782" y="5482364"/>
                    <a:pt x="3826052" y="5518153"/>
                  </a:cubicBezTo>
                  <a:cubicBezTo>
                    <a:pt x="3764592" y="5589544"/>
                    <a:pt x="3702758" y="5659435"/>
                    <a:pt x="3637925" y="5725017"/>
                  </a:cubicBezTo>
                  <a:cubicBezTo>
                    <a:pt x="3573093" y="5790412"/>
                    <a:pt x="3505637" y="5852059"/>
                    <a:pt x="3433497" y="5906586"/>
                  </a:cubicBezTo>
                  <a:cubicBezTo>
                    <a:pt x="3361544" y="5961112"/>
                    <a:pt x="3285469" y="6009268"/>
                    <a:pt x="3204522" y="6046744"/>
                  </a:cubicBezTo>
                  <a:cubicBezTo>
                    <a:pt x="3123763" y="6084594"/>
                    <a:pt x="3038506" y="6112513"/>
                    <a:pt x="2950439" y="6129190"/>
                  </a:cubicBezTo>
                  <a:cubicBezTo>
                    <a:pt x="2906405" y="6137809"/>
                    <a:pt x="2861810" y="6143055"/>
                    <a:pt x="2816839" y="6146428"/>
                  </a:cubicBezTo>
                  <a:cubicBezTo>
                    <a:pt x="2794354" y="6147927"/>
                    <a:pt x="2771681" y="6148677"/>
                    <a:pt x="2749009" y="6149051"/>
                  </a:cubicBezTo>
                  <a:lnTo>
                    <a:pt x="2678930" y="6148677"/>
                  </a:lnTo>
                  <a:cubicBezTo>
                    <a:pt x="2491927" y="6144367"/>
                    <a:pt x="2305675" y="6116260"/>
                    <a:pt x="2125793" y="6065481"/>
                  </a:cubicBezTo>
                  <a:cubicBezTo>
                    <a:pt x="1945911" y="6014515"/>
                    <a:pt x="1773524" y="5940501"/>
                    <a:pt x="1610506" y="5851310"/>
                  </a:cubicBezTo>
                  <a:cubicBezTo>
                    <a:pt x="1528997" y="5806714"/>
                    <a:pt x="1449924" y="5757808"/>
                    <a:pt x="1373099" y="5706279"/>
                  </a:cubicBezTo>
                  <a:lnTo>
                    <a:pt x="1315949" y="5666743"/>
                  </a:lnTo>
                  <a:lnTo>
                    <a:pt x="1259923" y="5625894"/>
                  </a:lnTo>
                  <a:lnTo>
                    <a:pt x="1204647" y="5583922"/>
                  </a:lnTo>
                  <a:cubicBezTo>
                    <a:pt x="1186284" y="5569869"/>
                    <a:pt x="1168483" y="5555066"/>
                    <a:pt x="1150308" y="5540826"/>
                  </a:cubicBezTo>
                  <a:cubicBezTo>
                    <a:pt x="1006402" y="5424839"/>
                    <a:pt x="872615" y="5296860"/>
                    <a:pt x="751569" y="5158015"/>
                  </a:cubicBezTo>
                  <a:cubicBezTo>
                    <a:pt x="721214" y="5123350"/>
                    <a:pt x="691983" y="5087935"/>
                    <a:pt x="663315" y="5052146"/>
                  </a:cubicBezTo>
                  <a:cubicBezTo>
                    <a:pt x="635021" y="5016170"/>
                    <a:pt x="607289" y="4980006"/>
                    <a:pt x="580869" y="4942718"/>
                  </a:cubicBezTo>
                  <a:cubicBezTo>
                    <a:pt x="527654" y="4868517"/>
                    <a:pt x="478186" y="4791880"/>
                    <a:pt x="432279" y="4713369"/>
                  </a:cubicBezTo>
                  <a:cubicBezTo>
                    <a:pt x="340651" y="4556159"/>
                    <a:pt x="264764" y="4390330"/>
                    <a:pt x="205553" y="4219443"/>
                  </a:cubicBezTo>
                  <a:cubicBezTo>
                    <a:pt x="146154" y="4048555"/>
                    <a:pt x="104369" y="3872045"/>
                    <a:pt x="79448" y="3693850"/>
                  </a:cubicBezTo>
                  <a:cubicBezTo>
                    <a:pt x="67268" y="3604659"/>
                    <a:pt x="58087" y="3515092"/>
                    <a:pt x="53590" y="3425339"/>
                  </a:cubicBezTo>
                  <a:cubicBezTo>
                    <a:pt x="47969" y="3335585"/>
                    <a:pt x="47406" y="3245644"/>
                    <a:pt x="49655" y="3155890"/>
                  </a:cubicBezTo>
                  <a:cubicBezTo>
                    <a:pt x="52278" y="3066137"/>
                    <a:pt x="58274" y="2976383"/>
                    <a:pt x="67830" y="2886817"/>
                  </a:cubicBezTo>
                  <a:cubicBezTo>
                    <a:pt x="77761" y="2797438"/>
                    <a:pt x="91253" y="2708246"/>
                    <a:pt x="108679" y="2619992"/>
                  </a:cubicBezTo>
                  <a:cubicBezTo>
                    <a:pt x="143906" y="2443108"/>
                    <a:pt x="195809" y="2269409"/>
                    <a:pt x="263077" y="2101520"/>
                  </a:cubicBezTo>
                  <a:cubicBezTo>
                    <a:pt x="397614" y="1765740"/>
                    <a:pt x="593048" y="1453382"/>
                    <a:pt x="837575" y="1186370"/>
                  </a:cubicBezTo>
                  <a:cubicBezTo>
                    <a:pt x="898473" y="1119289"/>
                    <a:pt x="964242" y="1056893"/>
                    <a:pt x="1031698" y="996932"/>
                  </a:cubicBezTo>
                  <a:cubicBezTo>
                    <a:pt x="1099154" y="936784"/>
                    <a:pt x="1166235" y="876261"/>
                    <a:pt x="1236688" y="819298"/>
                  </a:cubicBezTo>
                  <a:cubicBezTo>
                    <a:pt x="1377221" y="704999"/>
                    <a:pt x="1526935" y="600442"/>
                    <a:pt x="1687143" y="511438"/>
                  </a:cubicBezTo>
                  <a:cubicBezTo>
                    <a:pt x="1847163" y="422621"/>
                    <a:pt x="2017676" y="348795"/>
                    <a:pt x="2196246" y="300639"/>
                  </a:cubicBezTo>
                  <a:cubicBezTo>
                    <a:pt x="2374629" y="251921"/>
                    <a:pt x="2560320" y="227749"/>
                    <a:pt x="2745823" y="229248"/>
                  </a:cubicBezTo>
                  <a:cubicBezTo>
                    <a:pt x="2837076" y="230372"/>
                    <a:pt x="2928516" y="238055"/>
                    <a:pt x="3019206" y="252108"/>
                  </a:cubicBezTo>
                  <a:cubicBezTo>
                    <a:pt x="3109710" y="266724"/>
                    <a:pt x="3199650" y="286773"/>
                    <a:pt x="3288092" y="313006"/>
                  </a:cubicBezTo>
                  <a:cubicBezTo>
                    <a:pt x="3376347" y="339426"/>
                    <a:pt x="3463477" y="370343"/>
                    <a:pt x="3548172" y="407069"/>
                  </a:cubicBezTo>
                  <a:cubicBezTo>
                    <a:pt x="3569345" y="416438"/>
                    <a:pt x="3590519" y="425432"/>
                    <a:pt x="3611505" y="435176"/>
                  </a:cubicBezTo>
                  <a:lnTo>
                    <a:pt x="3674089" y="464968"/>
                  </a:lnTo>
                  <a:lnTo>
                    <a:pt x="3735736" y="496823"/>
                  </a:lnTo>
                  <a:cubicBezTo>
                    <a:pt x="3756160" y="507690"/>
                    <a:pt x="3776397" y="519120"/>
                    <a:pt x="3796634" y="530176"/>
                  </a:cubicBezTo>
                  <a:cubicBezTo>
                    <a:pt x="3957965" y="621054"/>
                    <a:pt x="4110303" y="728046"/>
                    <a:pt x="4251585" y="847405"/>
                  </a:cubicBezTo>
                  <a:cubicBezTo>
                    <a:pt x="4393242" y="966390"/>
                    <a:pt x="4524781" y="1096991"/>
                    <a:pt x="4644515" y="1236775"/>
                  </a:cubicBezTo>
                  <a:cubicBezTo>
                    <a:pt x="4704663" y="1306479"/>
                    <a:pt x="4762375" y="1378057"/>
                    <a:pt x="4816527" y="1451883"/>
                  </a:cubicBezTo>
                  <a:cubicBezTo>
                    <a:pt x="4870679" y="1525897"/>
                    <a:pt x="4922020" y="1601598"/>
                    <a:pt x="4970738" y="1678610"/>
                  </a:cubicBezTo>
                  <a:cubicBezTo>
                    <a:pt x="5067799" y="1833008"/>
                    <a:pt x="5152494" y="1993965"/>
                    <a:pt x="5223885" y="2159232"/>
                  </a:cubicBezTo>
                  <a:cubicBezTo>
                    <a:pt x="5295275" y="2324686"/>
                    <a:pt x="5349615" y="2495199"/>
                    <a:pt x="5395709" y="2666087"/>
                  </a:cubicBezTo>
                  <a:cubicBezTo>
                    <a:pt x="5418757" y="2751718"/>
                    <a:pt x="5440680" y="2837537"/>
                    <a:pt x="5458855" y="2924292"/>
                  </a:cubicBezTo>
                  <a:cubicBezTo>
                    <a:pt x="5477406" y="3011048"/>
                    <a:pt x="5490522" y="3098740"/>
                    <a:pt x="5499142" y="3186995"/>
                  </a:cubicBezTo>
                  <a:cubicBezTo>
                    <a:pt x="5507761" y="3275250"/>
                    <a:pt x="5513944" y="3364254"/>
                    <a:pt x="5516755" y="3454007"/>
                  </a:cubicBezTo>
                  <a:cubicBezTo>
                    <a:pt x="5518629" y="3543761"/>
                    <a:pt x="5516755" y="3634264"/>
                    <a:pt x="5507386" y="3724580"/>
                  </a:cubicBezTo>
                  <a:close/>
                </a:path>
              </a:pathLst>
            </a:custGeom>
            <a:solidFill>
              <a:schemeClr val="bg1">
                <a:alpha val="30000"/>
              </a:schemeClr>
            </a:solidFill>
            <a:ln w="1873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7E50BFD-51AC-4ACE-820C-A285E6672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41478"/>
              <a:ext cx="5953893" cy="6434152"/>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317011 w 5953893"/>
                <a:gd name="connsiteY8" fmla="*/ 3797009 h 6434152"/>
                <a:gd name="connsiteX9" fmla="*/ 5176478 w 5953893"/>
                <a:gd name="connsiteY9" fmla="*/ 4100747 h 6434152"/>
                <a:gd name="connsiteX10" fmla="*/ 4942257 w 5953893"/>
                <a:gd name="connsiteY10" fmla="*/ 4250274 h 6434152"/>
                <a:gd name="connsiteX11" fmla="*/ 4216171 w 5953893"/>
                <a:gd name="connsiteY11" fmla="*/ 4773243 h 6434152"/>
                <a:gd name="connsiteX12" fmla="*/ 3905125 w 5953893"/>
                <a:gd name="connsiteY12" fmla="*/ 5105837 h 6434152"/>
                <a:gd name="connsiteX13" fmla="*/ 3308329 w 5953893"/>
                <a:gd name="connsiteY13" fmla="*/ 5682022 h 6434152"/>
                <a:gd name="connsiteX14" fmla="*/ 2739452 w 5953893"/>
                <a:gd name="connsiteY14" fmla="*/ 5870898 h 6434152"/>
                <a:gd name="connsiteX15" fmla="*/ 1647419 w 5953893"/>
                <a:gd name="connsiteY15" fmla="*/ 5625809 h 6434152"/>
                <a:gd name="connsiteX16" fmla="*/ 781175 w 5953893"/>
                <a:gd name="connsiteY16" fmla="*/ 4960620 h 6434152"/>
                <a:gd name="connsiteX17" fmla="*/ 312545 w 5953893"/>
                <a:gd name="connsiteY17" fmla="*/ 4165205 h 6434152"/>
                <a:gd name="connsiteX18" fmla="*/ 142032 w 5953893"/>
                <a:gd name="connsiteY18" fmla="*/ 3217451 h 6434152"/>
                <a:gd name="connsiteX19" fmla="*/ 347210 w 5953893"/>
                <a:gd name="connsiteY19" fmla="*/ 2181444 h 6434152"/>
                <a:gd name="connsiteX20" fmla="*/ 906155 w 5953893"/>
                <a:gd name="connsiteY20" fmla="*/ 1337497 h 6434152"/>
                <a:gd name="connsiteX21" fmla="*/ 2739265 w 5953893"/>
                <a:gd name="connsiteY21" fmla="*/ 563818 h 6434152"/>
                <a:gd name="connsiteX22" fmla="*/ 3849849 w 5953893"/>
                <a:gd name="connsiteY22" fmla="*/ 881796 h 6434152"/>
                <a:gd name="connsiteX23" fmla="*/ 4834515 w 5953893"/>
                <a:gd name="connsiteY23" fmla="*/ 1742419 h 6434152"/>
                <a:gd name="connsiteX24" fmla="*/ 5325256 w 5953893"/>
                <a:gd name="connsiteY24" fmla="*/ 2742076 h 6434152"/>
                <a:gd name="connsiteX25" fmla="*/ 5317011 w 5953893"/>
                <a:gd name="connsiteY25" fmla="*/ 3797009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317011" y="3797009"/>
                  </a:moveTo>
                  <a:cubicBezTo>
                    <a:pt x="5275976" y="3943538"/>
                    <a:pt x="5228756" y="4045658"/>
                    <a:pt x="5176478" y="4100747"/>
                  </a:cubicBezTo>
                  <a:cubicBezTo>
                    <a:pt x="5131883" y="4147591"/>
                    <a:pt x="5061991" y="4186004"/>
                    <a:pt x="4942257" y="4250274"/>
                  </a:cubicBezTo>
                  <a:cubicBezTo>
                    <a:pt x="4753381" y="4351458"/>
                    <a:pt x="4494613" y="4489929"/>
                    <a:pt x="4216171" y="4773243"/>
                  </a:cubicBezTo>
                  <a:cubicBezTo>
                    <a:pt x="4106555" y="4884733"/>
                    <a:pt x="4004247" y="4997159"/>
                    <a:pt x="3905125" y="5105837"/>
                  </a:cubicBezTo>
                  <a:cubicBezTo>
                    <a:pt x="3701071" y="5329753"/>
                    <a:pt x="3508260" y="5541302"/>
                    <a:pt x="3308329" y="5682022"/>
                  </a:cubicBezTo>
                  <a:cubicBezTo>
                    <a:pt x="3122826" y="5812624"/>
                    <a:pt x="2947441" y="5870898"/>
                    <a:pt x="2739452" y="5870898"/>
                  </a:cubicBezTo>
                  <a:cubicBezTo>
                    <a:pt x="2357765" y="5870898"/>
                    <a:pt x="1990319" y="5788452"/>
                    <a:pt x="1647419" y="5625809"/>
                  </a:cubicBezTo>
                  <a:cubicBezTo>
                    <a:pt x="1319509" y="5470286"/>
                    <a:pt x="1019893" y="5240187"/>
                    <a:pt x="781175" y="4960620"/>
                  </a:cubicBezTo>
                  <a:cubicBezTo>
                    <a:pt x="579370" y="4724151"/>
                    <a:pt x="421598" y="4456576"/>
                    <a:pt x="312545" y="4165205"/>
                  </a:cubicBezTo>
                  <a:cubicBezTo>
                    <a:pt x="199369" y="3863153"/>
                    <a:pt x="142032" y="3544237"/>
                    <a:pt x="142032" y="3217451"/>
                  </a:cubicBezTo>
                  <a:cubicBezTo>
                    <a:pt x="142032" y="2857688"/>
                    <a:pt x="211174" y="2509166"/>
                    <a:pt x="347210" y="2181444"/>
                  </a:cubicBezTo>
                  <a:cubicBezTo>
                    <a:pt x="478561" y="1865339"/>
                    <a:pt x="666688" y="1581275"/>
                    <a:pt x="906155" y="1337497"/>
                  </a:cubicBezTo>
                  <a:cubicBezTo>
                    <a:pt x="1396334" y="838512"/>
                    <a:pt x="2047469" y="563818"/>
                    <a:pt x="2739265" y="563818"/>
                  </a:cubicBezTo>
                  <a:cubicBezTo>
                    <a:pt x="3094157" y="563818"/>
                    <a:pt x="3478280" y="673808"/>
                    <a:pt x="3849849" y="881796"/>
                  </a:cubicBezTo>
                  <a:cubicBezTo>
                    <a:pt x="4226851" y="1092783"/>
                    <a:pt x="4567316" y="1390338"/>
                    <a:pt x="4834515" y="1742419"/>
                  </a:cubicBezTo>
                  <a:cubicBezTo>
                    <a:pt x="5070798" y="2053653"/>
                    <a:pt x="5240374" y="2399363"/>
                    <a:pt x="5325256" y="2742076"/>
                  </a:cubicBezTo>
                  <a:cubicBezTo>
                    <a:pt x="5414634" y="3102964"/>
                    <a:pt x="5411824" y="3458044"/>
                    <a:pt x="5317011" y="3797009"/>
                  </a:cubicBezTo>
                  <a:close/>
                </a:path>
              </a:pathLst>
            </a:custGeom>
            <a:solidFill>
              <a:schemeClr val="bg1">
                <a:alpha val="30000"/>
              </a:schemeClr>
            </a:solidFill>
            <a:ln w="1873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0394888-C50F-41C1-92D4-0E2B4315A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1462"/>
              <a:ext cx="5953893" cy="6444167"/>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208520 w 5953893"/>
                <a:gd name="connsiteY8" fmla="*/ 3766654 h 6434152"/>
                <a:gd name="connsiteX9" fmla="*/ 5094782 w 5953893"/>
                <a:gd name="connsiteY9" fmla="*/ 4022985 h 6434152"/>
                <a:gd name="connsiteX10" fmla="*/ 4888855 w 5953893"/>
                <a:gd name="connsiteY10" fmla="*/ 4150777 h 6434152"/>
                <a:gd name="connsiteX11" fmla="*/ 4135411 w 5953893"/>
                <a:gd name="connsiteY11" fmla="*/ 4694170 h 6434152"/>
                <a:gd name="connsiteX12" fmla="*/ 3821555 w 5953893"/>
                <a:gd name="connsiteY12" fmla="*/ 5029762 h 6434152"/>
                <a:gd name="connsiteX13" fmla="*/ 2739265 w 5953893"/>
                <a:gd name="connsiteY13" fmla="*/ 5758097 h 6434152"/>
                <a:gd name="connsiteX14" fmla="*/ 1695575 w 5953893"/>
                <a:gd name="connsiteY14" fmla="*/ 5523876 h 6434152"/>
                <a:gd name="connsiteX15" fmla="*/ 866619 w 5953893"/>
                <a:gd name="connsiteY15" fmla="*/ 4887356 h 6434152"/>
                <a:gd name="connsiteX16" fmla="*/ 417851 w 5953893"/>
                <a:gd name="connsiteY16" fmla="*/ 4125481 h 6434152"/>
                <a:gd name="connsiteX17" fmla="*/ 254645 w 5953893"/>
                <a:gd name="connsiteY17" fmla="*/ 3217264 h 6434152"/>
                <a:gd name="connsiteX18" fmla="*/ 451204 w 5953893"/>
                <a:gd name="connsiteY18" fmla="*/ 2224540 h 6434152"/>
                <a:gd name="connsiteX19" fmla="*/ 986540 w 5953893"/>
                <a:gd name="connsiteY19" fmla="*/ 1416383 h 6434152"/>
                <a:gd name="connsiteX20" fmla="*/ 2739452 w 5953893"/>
                <a:gd name="connsiteY20" fmla="*/ 676244 h 6434152"/>
                <a:gd name="connsiteX21" fmla="*/ 3794947 w 5953893"/>
                <a:gd name="connsiteY21" fmla="*/ 979795 h 6434152"/>
                <a:gd name="connsiteX22" fmla="*/ 4744762 w 5953893"/>
                <a:gd name="connsiteY22" fmla="*/ 1810250 h 6434152"/>
                <a:gd name="connsiteX23" fmla="*/ 5215827 w 5953893"/>
                <a:gd name="connsiteY23" fmla="*/ 2768871 h 6434152"/>
                <a:gd name="connsiteX24" fmla="*/ 5208520 w 5953893"/>
                <a:gd name="connsiteY24" fmla="*/ 3766654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208520" y="3766654"/>
                  </a:moveTo>
                  <a:cubicBezTo>
                    <a:pt x="5173667" y="3891634"/>
                    <a:pt x="5133194" y="3982699"/>
                    <a:pt x="5094782" y="4022985"/>
                  </a:cubicBezTo>
                  <a:cubicBezTo>
                    <a:pt x="5060492" y="4058962"/>
                    <a:pt x="4984792" y="4099435"/>
                    <a:pt x="4888855" y="4150777"/>
                  </a:cubicBezTo>
                  <a:cubicBezTo>
                    <a:pt x="4693420" y="4255333"/>
                    <a:pt x="4426033" y="4398489"/>
                    <a:pt x="4135411" y="4694170"/>
                  </a:cubicBezTo>
                  <a:cubicBezTo>
                    <a:pt x="4024297" y="4807158"/>
                    <a:pt x="3921239" y="4920334"/>
                    <a:pt x="3821555" y="5029762"/>
                  </a:cubicBezTo>
                  <a:cubicBezTo>
                    <a:pt x="3385341" y="5508324"/>
                    <a:pt x="3138940" y="5758097"/>
                    <a:pt x="2739265" y="5758097"/>
                  </a:cubicBezTo>
                  <a:cubicBezTo>
                    <a:pt x="2374442" y="5758097"/>
                    <a:pt x="2023297" y="5679211"/>
                    <a:pt x="1695575" y="5523876"/>
                  </a:cubicBezTo>
                  <a:cubicBezTo>
                    <a:pt x="1381906" y="5375098"/>
                    <a:pt x="1095219" y="5154930"/>
                    <a:pt x="866619" y="4887356"/>
                  </a:cubicBezTo>
                  <a:cubicBezTo>
                    <a:pt x="673246" y="4661005"/>
                    <a:pt x="522220" y="4404673"/>
                    <a:pt x="417851" y="4125481"/>
                  </a:cubicBezTo>
                  <a:cubicBezTo>
                    <a:pt x="309547" y="3836171"/>
                    <a:pt x="254645" y="3530558"/>
                    <a:pt x="254645" y="3217264"/>
                  </a:cubicBezTo>
                  <a:cubicBezTo>
                    <a:pt x="254645" y="2872490"/>
                    <a:pt x="320790" y="2538585"/>
                    <a:pt x="451204" y="2224540"/>
                  </a:cubicBezTo>
                  <a:cubicBezTo>
                    <a:pt x="577121" y="1921739"/>
                    <a:pt x="757191" y="1649855"/>
                    <a:pt x="986540" y="1416383"/>
                  </a:cubicBezTo>
                  <a:cubicBezTo>
                    <a:pt x="1455357" y="939134"/>
                    <a:pt x="2078011" y="676244"/>
                    <a:pt x="2739452" y="676244"/>
                  </a:cubicBezTo>
                  <a:cubicBezTo>
                    <a:pt x="3075232" y="676244"/>
                    <a:pt x="3440243" y="781175"/>
                    <a:pt x="3794947" y="979795"/>
                  </a:cubicBezTo>
                  <a:cubicBezTo>
                    <a:pt x="4158459" y="1183286"/>
                    <a:pt x="4486931" y="1470348"/>
                    <a:pt x="4744762" y="1810250"/>
                  </a:cubicBezTo>
                  <a:cubicBezTo>
                    <a:pt x="4971862" y="2109491"/>
                    <a:pt x="5134693" y="2440961"/>
                    <a:pt x="5215827" y="2768871"/>
                  </a:cubicBezTo>
                  <a:cubicBezTo>
                    <a:pt x="5300334" y="3110834"/>
                    <a:pt x="5297898" y="3446614"/>
                    <a:pt x="5208520" y="3766654"/>
                  </a:cubicBezTo>
                  <a:close/>
                </a:path>
              </a:pathLst>
            </a:custGeom>
            <a:solidFill>
              <a:schemeClr val="bg1">
                <a:alpha val="30000"/>
              </a:schemeClr>
            </a:solidFill>
            <a:ln w="18736" cap="flat">
              <a:noFill/>
              <a:prstDash val="solid"/>
              <a:miter/>
            </a:ln>
          </p:spPr>
          <p:txBody>
            <a:bodyPr rtlCol="0" anchor="ctr"/>
            <a:lstStyle/>
            <a:p>
              <a:endParaRPr lang="en-US" dirty="0"/>
            </a:p>
          </p:txBody>
        </p:sp>
        <p:sp useBgFill="1">
          <p:nvSpPr>
            <p:cNvPr id="15" name="Freeform: Shape 14">
              <a:extLst>
                <a:ext uri="{FF2B5EF4-FFF2-40B4-BE49-F238E27FC236}">
                  <a16:creationId xmlns:a16="http://schemas.microsoft.com/office/drawing/2014/main" id="{F22C906F-48B7-4ABF-B36E-0C0A056A5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3725"/>
              <a:ext cx="5855313" cy="6880645"/>
            </a:xfrm>
            <a:custGeom>
              <a:avLst/>
              <a:gdLst>
                <a:gd name="connsiteX0" fmla="*/ 5855313 w 5855313"/>
                <a:gd name="connsiteY0" fmla="*/ 4717843 h 6880645"/>
                <a:gd name="connsiteX1" fmla="*/ 5855313 w 5855313"/>
                <a:gd name="connsiteY1" fmla="*/ 6880645 h 6880645"/>
                <a:gd name="connsiteX2" fmla="*/ 0 w 5855313"/>
                <a:gd name="connsiteY2" fmla="*/ 6880645 h 6880645"/>
                <a:gd name="connsiteX3" fmla="*/ 0 w 5855313"/>
                <a:gd name="connsiteY3" fmla="*/ 5268859 h 6880645"/>
                <a:gd name="connsiteX4" fmla="*/ 36130 w 5855313"/>
                <a:gd name="connsiteY4" fmla="*/ 5327430 h 6880645"/>
                <a:gd name="connsiteX5" fmla="*/ 2782721 w 5855313"/>
                <a:gd name="connsiteY5" fmla="*/ 6765687 h 6880645"/>
                <a:gd name="connsiteX6" fmla="*/ 5834702 w 5855313"/>
                <a:gd name="connsiteY6" fmla="*/ 4773305 h 6880645"/>
                <a:gd name="connsiteX7" fmla="*/ 9148 w 5855313"/>
                <a:gd name="connsiteY7" fmla="*/ 0 h 6880645"/>
                <a:gd name="connsiteX8" fmla="*/ 5855312 w 5855313"/>
                <a:gd name="connsiteY8" fmla="*/ 0 h 6880645"/>
                <a:gd name="connsiteX9" fmla="*/ 5855312 w 5855313"/>
                <a:gd name="connsiteY9" fmla="*/ 96759 h 6880645"/>
                <a:gd name="connsiteX10" fmla="*/ 5855313 w 5855313"/>
                <a:gd name="connsiteY10" fmla="*/ 96759 h 6880645"/>
                <a:gd name="connsiteX11" fmla="*/ 5855313 w 5855313"/>
                <a:gd name="connsiteY11" fmla="*/ 2289203 h 6880645"/>
                <a:gd name="connsiteX12" fmla="*/ 5834702 w 5855313"/>
                <a:gd name="connsiteY12" fmla="*/ 2233742 h 6880645"/>
                <a:gd name="connsiteX13" fmla="*/ 2782721 w 5855313"/>
                <a:gd name="connsiteY13" fmla="*/ 241359 h 6880645"/>
                <a:gd name="connsiteX14" fmla="*/ 36130 w 5855313"/>
                <a:gd name="connsiteY14" fmla="*/ 1679616 h 6880645"/>
                <a:gd name="connsiteX15" fmla="*/ 0 w 5855313"/>
                <a:gd name="connsiteY15" fmla="*/ 1738187 h 6880645"/>
                <a:gd name="connsiteX16" fmla="*/ 0 w 5855313"/>
                <a:gd name="connsiteY16" fmla="*/ 96759 h 6880645"/>
                <a:gd name="connsiteX17" fmla="*/ 9148 w 5855313"/>
                <a:gd name="connsiteY17" fmla="*/ 96759 h 688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55313" h="6880645">
                  <a:moveTo>
                    <a:pt x="5855313" y="4717843"/>
                  </a:moveTo>
                  <a:lnTo>
                    <a:pt x="5855313" y="6880645"/>
                  </a:lnTo>
                  <a:lnTo>
                    <a:pt x="0" y="6880645"/>
                  </a:lnTo>
                  <a:lnTo>
                    <a:pt x="0" y="5268859"/>
                  </a:lnTo>
                  <a:lnTo>
                    <a:pt x="36130" y="5327430"/>
                  </a:lnTo>
                  <a:cubicBezTo>
                    <a:pt x="631370" y="6195172"/>
                    <a:pt x="1639396" y="6765687"/>
                    <a:pt x="2782721" y="6765687"/>
                  </a:cubicBezTo>
                  <a:cubicBezTo>
                    <a:pt x="4154711" y="6765687"/>
                    <a:pt x="5331871" y="5944145"/>
                    <a:pt x="5834702" y="4773305"/>
                  </a:cubicBezTo>
                  <a:close/>
                  <a:moveTo>
                    <a:pt x="9148" y="0"/>
                  </a:moveTo>
                  <a:lnTo>
                    <a:pt x="5855312" y="0"/>
                  </a:lnTo>
                  <a:lnTo>
                    <a:pt x="5855312" y="96759"/>
                  </a:lnTo>
                  <a:lnTo>
                    <a:pt x="5855313" y="96759"/>
                  </a:lnTo>
                  <a:lnTo>
                    <a:pt x="5855313" y="2289203"/>
                  </a:lnTo>
                  <a:lnTo>
                    <a:pt x="5834702" y="2233742"/>
                  </a:lnTo>
                  <a:cubicBezTo>
                    <a:pt x="5331871" y="1062902"/>
                    <a:pt x="4154711" y="241359"/>
                    <a:pt x="2782721" y="241359"/>
                  </a:cubicBezTo>
                  <a:cubicBezTo>
                    <a:pt x="1639396" y="241359"/>
                    <a:pt x="631370" y="811875"/>
                    <a:pt x="36130" y="1679616"/>
                  </a:cubicBezTo>
                  <a:lnTo>
                    <a:pt x="0" y="1738187"/>
                  </a:lnTo>
                  <a:lnTo>
                    <a:pt x="0" y="96759"/>
                  </a:lnTo>
                  <a:lnTo>
                    <a:pt x="9148" y="9675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B4ABE2AA-A788-450F-94A8-AED4B698F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6370"/>
              <a:ext cx="6254832" cy="6864558"/>
            </a:xfrm>
            <a:custGeom>
              <a:avLst/>
              <a:gdLst>
                <a:gd name="connsiteX0" fmla="*/ 2766060 w 6254832"/>
                <a:gd name="connsiteY0" fmla="*/ 0 h 6864558"/>
                <a:gd name="connsiteX1" fmla="*/ 0 w 6254832"/>
                <a:gd name="connsiteY1" fmla="*/ 1340683 h 6864558"/>
                <a:gd name="connsiteX2" fmla="*/ 0 w 6254832"/>
                <a:gd name="connsiteY2" fmla="*/ 2201306 h 6864558"/>
                <a:gd name="connsiteX3" fmla="*/ 1312 w 6254832"/>
                <a:gd name="connsiteY3" fmla="*/ 2197746 h 6864558"/>
                <a:gd name="connsiteX4" fmla="*/ 612723 w 6254832"/>
                <a:gd name="connsiteY4" fmla="*/ 1201649 h 6864558"/>
                <a:gd name="connsiteX5" fmla="*/ 1571344 w 6254832"/>
                <a:gd name="connsiteY5" fmla="*/ 483245 h 6864558"/>
                <a:gd name="connsiteX6" fmla="*/ 1641235 w 6254832"/>
                <a:gd name="connsiteY6" fmla="*/ 452328 h 6864558"/>
                <a:gd name="connsiteX7" fmla="*/ 1711502 w 6254832"/>
                <a:gd name="connsiteY7" fmla="*/ 422348 h 6864558"/>
                <a:gd name="connsiteX8" fmla="*/ 1783080 w 6254832"/>
                <a:gd name="connsiteY8" fmla="*/ 395178 h 6864558"/>
                <a:gd name="connsiteX9" fmla="*/ 1855220 w 6254832"/>
                <a:gd name="connsiteY9" fmla="*/ 369133 h 6864558"/>
                <a:gd name="connsiteX10" fmla="*/ 1928297 w 6254832"/>
                <a:gd name="connsiteY10" fmla="*/ 345711 h 6864558"/>
                <a:gd name="connsiteX11" fmla="*/ 2001749 w 6254832"/>
                <a:gd name="connsiteY11" fmla="*/ 323600 h 6864558"/>
                <a:gd name="connsiteX12" fmla="*/ 2076138 w 6254832"/>
                <a:gd name="connsiteY12" fmla="*/ 304300 h 6864558"/>
                <a:gd name="connsiteX13" fmla="*/ 2113426 w 6254832"/>
                <a:gd name="connsiteY13" fmla="*/ 294744 h 6864558"/>
                <a:gd name="connsiteX14" fmla="*/ 2132163 w 6254832"/>
                <a:gd name="connsiteY14" fmla="*/ 290060 h 6864558"/>
                <a:gd name="connsiteX15" fmla="*/ 2151089 w 6254832"/>
                <a:gd name="connsiteY15" fmla="*/ 286312 h 6864558"/>
                <a:gd name="connsiteX16" fmla="*/ 2763249 w 6254832"/>
                <a:gd name="connsiteY16" fmla="*/ 218482 h 6864558"/>
                <a:gd name="connsiteX17" fmla="*/ 3372225 w 6254832"/>
                <a:gd name="connsiteY17" fmla="*/ 301302 h 6864558"/>
                <a:gd name="connsiteX18" fmla="*/ 3663596 w 6254832"/>
                <a:gd name="connsiteY18" fmla="*/ 398364 h 6864558"/>
                <a:gd name="connsiteX19" fmla="*/ 3941663 w 6254832"/>
                <a:gd name="connsiteY19" fmla="*/ 526717 h 6864558"/>
                <a:gd name="connsiteX20" fmla="*/ 4204366 w 6254832"/>
                <a:gd name="connsiteY20" fmla="*/ 681678 h 6864558"/>
                <a:gd name="connsiteX21" fmla="*/ 4450018 w 6254832"/>
                <a:gd name="connsiteY21" fmla="*/ 860061 h 6864558"/>
                <a:gd name="connsiteX22" fmla="*/ 4678992 w 6254832"/>
                <a:gd name="connsiteY22" fmla="*/ 1057181 h 6864558"/>
                <a:gd name="connsiteX23" fmla="*/ 4889791 w 6254832"/>
                <a:gd name="connsiteY23" fmla="*/ 1271166 h 6864558"/>
                <a:gd name="connsiteX24" fmla="*/ 5083164 w 6254832"/>
                <a:gd name="connsiteY24" fmla="*/ 1498642 h 6864558"/>
                <a:gd name="connsiteX25" fmla="*/ 5257987 w 6254832"/>
                <a:gd name="connsiteY25" fmla="*/ 1738484 h 6864558"/>
                <a:gd name="connsiteX26" fmla="*/ 5413510 w 6254832"/>
                <a:gd name="connsiteY26" fmla="*/ 1989195 h 6864558"/>
                <a:gd name="connsiteX27" fmla="*/ 5548609 w 6254832"/>
                <a:gd name="connsiteY27" fmla="*/ 2249462 h 6864558"/>
                <a:gd name="connsiteX28" fmla="*/ 5747791 w 6254832"/>
                <a:gd name="connsiteY28" fmla="*/ 2795666 h 6864558"/>
                <a:gd name="connsiteX29" fmla="*/ 5806814 w 6254832"/>
                <a:gd name="connsiteY29" fmla="*/ 3078980 h 6864558"/>
                <a:gd name="connsiteX30" fmla="*/ 5816933 w 6254832"/>
                <a:gd name="connsiteY30" fmla="*/ 3150558 h 6864558"/>
                <a:gd name="connsiteX31" fmla="*/ 5825178 w 6254832"/>
                <a:gd name="connsiteY31" fmla="*/ 3222323 h 6864558"/>
                <a:gd name="connsiteX32" fmla="*/ 5831923 w 6254832"/>
                <a:gd name="connsiteY32" fmla="*/ 3294276 h 6864558"/>
                <a:gd name="connsiteX33" fmla="*/ 5836233 w 6254832"/>
                <a:gd name="connsiteY33" fmla="*/ 3366416 h 6864558"/>
                <a:gd name="connsiteX34" fmla="*/ 5833047 w 6254832"/>
                <a:gd name="connsiteY34" fmla="*/ 3655726 h 6864558"/>
                <a:gd name="connsiteX35" fmla="*/ 5827426 w 6254832"/>
                <a:gd name="connsiteY35" fmla="*/ 3728054 h 6864558"/>
                <a:gd name="connsiteX36" fmla="*/ 5819556 w 6254832"/>
                <a:gd name="connsiteY36" fmla="*/ 3800194 h 6864558"/>
                <a:gd name="connsiteX37" fmla="*/ 5809063 w 6254832"/>
                <a:gd name="connsiteY37" fmla="*/ 3872147 h 6864558"/>
                <a:gd name="connsiteX38" fmla="*/ 5796696 w 6254832"/>
                <a:gd name="connsiteY38" fmla="*/ 3943912 h 6864558"/>
                <a:gd name="connsiteX39" fmla="*/ 5725305 w 6254832"/>
                <a:gd name="connsiteY39" fmla="*/ 4225165 h 6864558"/>
                <a:gd name="connsiteX40" fmla="*/ 5605384 w 6254832"/>
                <a:gd name="connsiteY40" fmla="*/ 4478312 h 6864558"/>
                <a:gd name="connsiteX41" fmla="*/ 5412573 w 6254832"/>
                <a:gd name="connsiteY41" fmla="*/ 4677306 h 6864558"/>
                <a:gd name="connsiteX42" fmla="*/ 5155867 w 6254832"/>
                <a:gd name="connsiteY42" fmla="*/ 4834703 h 6864558"/>
                <a:gd name="connsiteX43" fmla="*/ 4645452 w 6254832"/>
                <a:gd name="connsiteY43" fmla="*/ 5207396 h 6864558"/>
                <a:gd name="connsiteX44" fmla="*/ 4536211 w 6254832"/>
                <a:gd name="connsiteY44" fmla="*/ 5319072 h 6864558"/>
                <a:gd name="connsiteX45" fmla="*/ 4430343 w 6254832"/>
                <a:gd name="connsiteY45" fmla="*/ 5432061 h 6864558"/>
                <a:gd name="connsiteX46" fmla="*/ 4220668 w 6254832"/>
                <a:gd name="connsiteY46" fmla="*/ 5657663 h 6864558"/>
                <a:gd name="connsiteX47" fmla="*/ 4115174 w 6254832"/>
                <a:gd name="connsiteY47" fmla="*/ 5768777 h 6864558"/>
                <a:gd name="connsiteX48" fmla="*/ 4007245 w 6254832"/>
                <a:gd name="connsiteY48" fmla="*/ 5876707 h 6864558"/>
                <a:gd name="connsiteX49" fmla="*/ 3781081 w 6254832"/>
                <a:gd name="connsiteY49" fmla="*/ 6078887 h 6864558"/>
                <a:gd name="connsiteX50" fmla="*/ 3534493 w 6254832"/>
                <a:gd name="connsiteY50" fmla="*/ 6249775 h 6864558"/>
                <a:gd name="connsiteX51" fmla="*/ 3265232 w 6254832"/>
                <a:gd name="connsiteY51" fmla="*/ 6373068 h 6864558"/>
                <a:gd name="connsiteX52" fmla="*/ 3194779 w 6254832"/>
                <a:gd name="connsiteY52" fmla="*/ 6394804 h 6864558"/>
                <a:gd name="connsiteX53" fmla="*/ 3123575 w 6254832"/>
                <a:gd name="connsiteY53" fmla="*/ 6412792 h 6864558"/>
                <a:gd name="connsiteX54" fmla="*/ 3051435 w 6254832"/>
                <a:gd name="connsiteY54" fmla="*/ 6426471 h 6864558"/>
                <a:gd name="connsiteX55" fmla="*/ 2978733 w 6254832"/>
                <a:gd name="connsiteY55" fmla="*/ 6436214 h 6864558"/>
                <a:gd name="connsiteX56" fmla="*/ 2905656 w 6254832"/>
                <a:gd name="connsiteY56" fmla="*/ 6442211 h 6864558"/>
                <a:gd name="connsiteX57" fmla="*/ 2832204 w 6254832"/>
                <a:gd name="connsiteY57" fmla="*/ 6444459 h 6864558"/>
                <a:gd name="connsiteX58" fmla="*/ 2758565 w 6254832"/>
                <a:gd name="connsiteY58" fmla="*/ 6443335 h 6864558"/>
                <a:gd name="connsiteX59" fmla="*/ 2683239 w 6254832"/>
                <a:gd name="connsiteY59" fmla="*/ 6438463 h 6864558"/>
                <a:gd name="connsiteX60" fmla="*/ 2091503 w 6254832"/>
                <a:gd name="connsiteY60" fmla="*/ 6343275 h 6864558"/>
                <a:gd name="connsiteX61" fmla="*/ 1948347 w 6254832"/>
                <a:gd name="connsiteY61" fmla="*/ 6301490 h 6864558"/>
                <a:gd name="connsiteX62" fmla="*/ 1807626 w 6254832"/>
                <a:gd name="connsiteY62" fmla="*/ 6252585 h 6864558"/>
                <a:gd name="connsiteX63" fmla="*/ 1738297 w 6254832"/>
                <a:gd name="connsiteY63" fmla="*/ 6225790 h 6864558"/>
                <a:gd name="connsiteX64" fmla="*/ 1669529 w 6254832"/>
                <a:gd name="connsiteY64" fmla="*/ 6197684 h 6864558"/>
                <a:gd name="connsiteX65" fmla="*/ 1635239 w 6254832"/>
                <a:gd name="connsiteY65" fmla="*/ 6183630 h 6864558"/>
                <a:gd name="connsiteX66" fmla="*/ 1601699 w 6254832"/>
                <a:gd name="connsiteY66" fmla="*/ 6167891 h 6864558"/>
                <a:gd name="connsiteX67" fmla="*/ 1534618 w 6254832"/>
                <a:gd name="connsiteY67" fmla="*/ 6136411 h 6864558"/>
                <a:gd name="connsiteX68" fmla="*/ 592299 w 6254832"/>
                <a:gd name="connsiteY68" fmla="*/ 5443116 h 6864558"/>
                <a:gd name="connsiteX69" fmla="*/ 0 w 6254832"/>
                <a:gd name="connsiteY69" fmla="*/ 4496675 h 6864558"/>
                <a:gd name="connsiteX70" fmla="*/ 0 w 6254832"/>
                <a:gd name="connsiteY70" fmla="*/ 5523875 h 6864558"/>
                <a:gd name="connsiteX71" fmla="*/ 2766060 w 6254832"/>
                <a:gd name="connsiteY71" fmla="*/ 6864559 h 6864558"/>
                <a:gd name="connsiteX72" fmla="*/ 6254833 w 6254832"/>
                <a:gd name="connsiteY72" fmla="*/ 3432373 h 6864558"/>
                <a:gd name="connsiteX73" fmla="*/ 2766060 w 6254832"/>
                <a:gd name="connsiteY73" fmla="*/ 0 h 686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254832" h="6864558">
                  <a:moveTo>
                    <a:pt x="2766060" y="0"/>
                  </a:moveTo>
                  <a:cubicBezTo>
                    <a:pt x="1639549" y="0"/>
                    <a:pt x="637831" y="525405"/>
                    <a:pt x="0" y="1340683"/>
                  </a:cubicBezTo>
                  <a:lnTo>
                    <a:pt x="0" y="2201306"/>
                  </a:lnTo>
                  <a:cubicBezTo>
                    <a:pt x="375" y="2200181"/>
                    <a:pt x="937" y="2198870"/>
                    <a:pt x="1312" y="2197746"/>
                  </a:cubicBezTo>
                  <a:cubicBezTo>
                    <a:pt x="142969" y="1837045"/>
                    <a:pt x="347959" y="1497143"/>
                    <a:pt x="612723" y="1201649"/>
                  </a:cubicBezTo>
                  <a:cubicBezTo>
                    <a:pt x="876550" y="906155"/>
                    <a:pt x="1201836" y="655258"/>
                    <a:pt x="1571344" y="483245"/>
                  </a:cubicBezTo>
                  <a:lnTo>
                    <a:pt x="1641235" y="452328"/>
                  </a:lnTo>
                  <a:cubicBezTo>
                    <a:pt x="1664658" y="442210"/>
                    <a:pt x="1687518" y="430967"/>
                    <a:pt x="1711502" y="422348"/>
                  </a:cubicBezTo>
                  <a:lnTo>
                    <a:pt x="1783080" y="395178"/>
                  </a:lnTo>
                  <a:cubicBezTo>
                    <a:pt x="1807064" y="386372"/>
                    <a:pt x="1830674" y="376441"/>
                    <a:pt x="1855220" y="369133"/>
                  </a:cubicBezTo>
                  <a:lnTo>
                    <a:pt x="1928297" y="345711"/>
                  </a:lnTo>
                  <a:cubicBezTo>
                    <a:pt x="1952656" y="338028"/>
                    <a:pt x="1976828" y="329409"/>
                    <a:pt x="2001749" y="323600"/>
                  </a:cubicBezTo>
                  <a:lnTo>
                    <a:pt x="2076138" y="304300"/>
                  </a:lnTo>
                  <a:lnTo>
                    <a:pt x="2113426" y="294744"/>
                  </a:lnTo>
                  <a:lnTo>
                    <a:pt x="2132163" y="290060"/>
                  </a:lnTo>
                  <a:lnTo>
                    <a:pt x="2151089" y="286312"/>
                  </a:lnTo>
                  <a:cubicBezTo>
                    <a:pt x="2351395" y="241716"/>
                    <a:pt x="2557322" y="219044"/>
                    <a:pt x="2763249" y="218482"/>
                  </a:cubicBezTo>
                  <a:cubicBezTo>
                    <a:pt x="2968802" y="218294"/>
                    <a:pt x="3174167" y="247900"/>
                    <a:pt x="3372225" y="301302"/>
                  </a:cubicBezTo>
                  <a:cubicBezTo>
                    <a:pt x="3471347" y="327910"/>
                    <a:pt x="3568596" y="360513"/>
                    <a:pt x="3663596" y="398364"/>
                  </a:cubicBezTo>
                  <a:cubicBezTo>
                    <a:pt x="3758784" y="435652"/>
                    <a:pt x="3851348" y="479311"/>
                    <a:pt x="3941663" y="526717"/>
                  </a:cubicBezTo>
                  <a:cubicBezTo>
                    <a:pt x="4031979" y="573936"/>
                    <a:pt x="4119297" y="626402"/>
                    <a:pt x="4204366" y="681678"/>
                  </a:cubicBezTo>
                  <a:cubicBezTo>
                    <a:pt x="4289060" y="737516"/>
                    <a:pt x="4370944" y="797289"/>
                    <a:pt x="4450018" y="860061"/>
                  </a:cubicBezTo>
                  <a:cubicBezTo>
                    <a:pt x="4529091" y="922832"/>
                    <a:pt x="4605540" y="988601"/>
                    <a:pt x="4678992" y="1057181"/>
                  </a:cubicBezTo>
                  <a:cubicBezTo>
                    <a:pt x="4752444" y="1125574"/>
                    <a:pt x="4822335" y="1197527"/>
                    <a:pt x="4889791" y="1271166"/>
                  </a:cubicBezTo>
                  <a:cubicBezTo>
                    <a:pt x="4957247" y="1344805"/>
                    <a:pt x="5021705" y="1420693"/>
                    <a:pt x="5083164" y="1498642"/>
                  </a:cubicBezTo>
                  <a:cubicBezTo>
                    <a:pt x="5144062" y="1576965"/>
                    <a:pt x="5202899" y="1656601"/>
                    <a:pt x="5257987" y="1738484"/>
                  </a:cubicBezTo>
                  <a:cubicBezTo>
                    <a:pt x="5313076" y="1820368"/>
                    <a:pt x="5365354" y="1903751"/>
                    <a:pt x="5413510" y="1989195"/>
                  </a:cubicBezTo>
                  <a:cubicBezTo>
                    <a:pt x="5462041" y="2074451"/>
                    <a:pt x="5507011" y="2161207"/>
                    <a:pt x="5548609" y="2249462"/>
                  </a:cubicBezTo>
                  <a:cubicBezTo>
                    <a:pt x="5631430" y="2426158"/>
                    <a:pt x="5698323" y="2608851"/>
                    <a:pt x="5747791" y="2795666"/>
                  </a:cubicBezTo>
                  <a:cubicBezTo>
                    <a:pt x="5771963" y="2889167"/>
                    <a:pt x="5791825" y="2983792"/>
                    <a:pt x="5806814" y="3078980"/>
                  </a:cubicBezTo>
                  <a:cubicBezTo>
                    <a:pt x="5810562" y="3102777"/>
                    <a:pt x="5814497" y="3126574"/>
                    <a:pt x="5816933" y="3150558"/>
                  </a:cubicBezTo>
                  <a:cubicBezTo>
                    <a:pt x="5819556" y="3174542"/>
                    <a:pt x="5823304" y="3198339"/>
                    <a:pt x="5825178" y="3222323"/>
                  </a:cubicBezTo>
                  <a:cubicBezTo>
                    <a:pt x="5827426" y="3246308"/>
                    <a:pt x="5830050" y="3270292"/>
                    <a:pt x="5831923" y="3294276"/>
                  </a:cubicBezTo>
                  <a:lnTo>
                    <a:pt x="5836233" y="3366416"/>
                  </a:lnTo>
                  <a:cubicBezTo>
                    <a:pt x="5839981" y="3462728"/>
                    <a:pt x="5839981" y="3559227"/>
                    <a:pt x="5833047" y="3655726"/>
                  </a:cubicBezTo>
                  <a:cubicBezTo>
                    <a:pt x="5830986" y="3679711"/>
                    <a:pt x="5830237" y="3704069"/>
                    <a:pt x="5827426" y="3728054"/>
                  </a:cubicBezTo>
                  <a:lnTo>
                    <a:pt x="5819556" y="3800194"/>
                  </a:lnTo>
                  <a:lnTo>
                    <a:pt x="5809063" y="3872147"/>
                  </a:lnTo>
                  <a:cubicBezTo>
                    <a:pt x="5805690" y="3896131"/>
                    <a:pt x="5800818" y="3919928"/>
                    <a:pt x="5796696" y="3943912"/>
                  </a:cubicBezTo>
                  <a:cubicBezTo>
                    <a:pt x="5778708" y="4039287"/>
                    <a:pt x="5755848" y="4134662"/>
                    <a:pt x="5725305" y="4225165"/>
                  </a:cubicBezTo>
                  <a:cubicBezTo>
                    <a:pt x="5694763" y="4315669"/>
                    <a:pt x="5656726" y="4402237"/>
                    <a:pt x="5605384" y="4478312"/>
                  </a:cubicBezTo>
                  <a:cubicBezTo>
                    <a:pt x="5554980" y="4555324"/>
                    <a:pt x="5489960" y="4620718"/>
                    <a:pt x="5412573" y="4677306"/>
                  </a:cubicBezTo>
                  <a:cubicBezTo>
                    <a:pt x="5335374" y="4734269"/>
                    <a:pt x="5245995" y="4782987"/>
                    <a:pt x="5155867" y="4834703"/>
                  </a:cubicBezTo>
                  <a:cubicBezTo>
                    <a:pt x="4973924" y="4936261"/>
                    <a:pt x="4794791" y="5058806"/>
                    <a:pt x="4645452" y="5207396"/>
                  </a:cubicBezTo>
                  <a:cubicBezTo>
                    <a:pt x="4607414" y="5244497"/>
                    <a:pt x="4571813" y="5281597"/>
                    <a:pt x="4536211" y="5319072"/>
                  </a:cubicBezTo>
                  <a:lnTo>
                    <a:pt x="4430343" y="5432061"/>
                  </a:lnTo>
                  <a:cubicBezTo>
                    <a:pt x="4360264" y="5507574"/>
                    <a:pt x="4290934" y="5583087"/>
                    <a:pt x="4220668" y="5657663"/>
                  </a:cubicBezTo>
                  <a:cubicBezTo>
                    <a:pt x="4185628" y="5694951"/>
                    <a:pt x="4150589" y="5732052"/>
                    <a:pt x="4115174" y="5768777"/>
                  </a:cubicBezTo>
                  <a:cubicBezTo>
                    <a:pt x="4079573" y="5805316"/>
                    <a:pt x="4043597" y="5841292"/>
                    <a:pt x="4007245" y="5876707"/>
                  </a:cubicBezTo>
                  <a:cubicBezTo>
                    <a:pt x="3934543" y="5947723"/>
                    <a:pt x="3859405" y="6015740"/>
                    <a:pt x="3781081" y="6078887"/>
                  </a:cubicBezTo>
                  <a:cubicBezTo>
                    <a:pt x="3702945" y="6142220"/>
                    <a:pt x="3620312" y="6199557"/>
                    <a:pt x="3534493" y="6249775"/>
                  </a:cubicBezTo>
                  <a:cubicBezTo>
                    <a:pt x="3448300" y="6299429"/>
                    <a:pt x="3358359" y="6341589"/>
                    <a:pt x="3265232" y="6373068"/>
                  </a:cubicBezTo>
                  <a:cubicBezTo>
                    <a:pt x="3241998" y="6381313"/>
                    <a:pt x="3218201" y="6387497"/>
                    <a:pt x="3194779" y="6394804"/>
                  </a:cubicBezTo>
                  <a:cubicBezTo>
                    <a:pt x="3171169" y="6401175"/>
                    <a:pt x="3147185" y="6406797"/>
                    <a:pt x="3123575" y="6412792"/>
                  </a:cubicBezTo>
                  <a:cubicBezTo>
                    <a:pt x="3099404" y="6417477"/>
                    <a:pt x="3075420" y="6422161"/>
                    <a:pt x="3051435" y="6426471"/>
                  </a:cubicBezTo>
                  <a:cubicBezTo>
                    <a:pt x="3027076" y="6429657"/>
                    <a:pt x="3002904" y="6433591"/>
                    <a:pt x="2978733" y="6436214"/>
                  </a:cubicBezTo>
                  <a:cubicBezTo>
                    <a:pt x="2954374" y="6438088"/>
                    <a:pt x="2930015" y="6440899"/>
                    <a:pt x="2905656" y="6442211"/>
                  </a:cubicBezTo>
                  <a:cubicBezTo>
                    <a:pt x="2881109" y="6442960"/>
                    <a:pt x="2856751" y="6444272"/>
                    <a:pt x="2832204" y="6444459"/>
                  </a:cubicBezTo>
                  <a:cubicBezTo>
                    <a:pt x="2807658" y="6444084"/>
                    <a:pt x="2783298" y="6444084"/>
                    <a:pt x="2758565" y="6443335"/>
                  </a:cubicBezTo>
                  <a:lnTo>
                    <a:pt x="2683239" y="6438463"/>
                  </a:lnTo>
                  <a:cubicBezTo>
                    <a:pt x="2482559" y="6425909"/>
                    <a:pt x="2284126" y="6393492"/>
                    <a:pt x="2091503" y="6343275"/>
                  </a:cubicBezTo>
                  <a:lnTo>
                    <a:pt x="1948347" y="6301490"/>
                  </a:lnTo>
                  <a:cubicBezTo>
                    <a:pt x="1901127" y="6286126"/>
                    <a:pt x="1854658" y="6268699"/>
                    <a:pt x="1807626" y="6252585"/>
                  </a:cubicBezTo>
                  <a:cubicBezTo>
                    <a:pt x="1784017" y="6245090"/>
                    <a:pt x="1761344" y="6234972"/>
                    <a:pt x="1738297" y="6225790"/>
                  </a:cubicBezTo>
                  <a:lnTo>
                    <a:pt x="1669529" y="6197684"/>
                  </a:lnTo>
                  <a:lnTo>
                    <a:pt x="1635239" y="6183630"/>
                  </a:lnTo>
                  <a:lnTo>
                    <a:pt x="1601699" y="6167891"/>
                  </a:lnTo>
                  <a:lnTo>
                    <a:pt x="1534618" y="6136411"/>
                  </a:lnTo>
                  <a:cubicBezTo>
                    <a:pt x="1179164" y="5964961"/>
                    <a:pt x="857250" y="5729616"/>
                    <a:pt x="592299" y="5443116"/>
                  </a:cubicBezTo>
                  <a:cubicBezTo>
                    <a:pt x="336904" y="5166173"/>
                    <a:pt x="137160" y="4842573"/>
                    <a:pt x="0" y="4496675"/>
                  </a:cubicBezTo>
                  <a:lnTo>
                    <a:pt x="0" y="5523875"/>
                  </a:lnTo>
                  <a:cubicBezTo>
                    <a:pt x="637831" y="6338966"/>
                    <a:pt x="1639549" y="6864559"/>
                    <a:pt x="2766060" y="6864559"/>
                  </a:cubicBezTo>
                  <a:cubicBezTo>
                    <a:pt x="4692858" y="6864559"/>
                    <a:pt x="6254833" y="5327879"/>
                    <a:pt x="6254833" y="3432373"/>
                  </a:cubicBezTo>
                  <a:cubicBezTo>
                    <a:pt x="6254833" y="1536679"/>
                    <a:pt x="4692858" y="0"/>
                    <a:pt x="2766060" y="0"/>
                  </a:cubicBezTo>
                  <a:close/>
                </a:path>
              </a:pathLst>
            </a:custGeom>
            <a:ln w="18736"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42530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ornVTI">
  <a:themeElements>
    <a:clrScheme name="Office">
      <a:dk1>
        <a:srgbClr val="000000"/>
      </a:dk1>
      <a:lt1>
        <a:srgbClr val="FFFFFF"/>
      </a:lt1>
      <a:dk2>
        <a:srgbClr val="1D242E"/>
      </a:dk2>
      <a:lt2>
        <a:srgbClr val="F2F1F1"/>
      </a:lt2>
      <a:accent1>
        <a:srgbClr val="4472C4"/>
      </a:accent1>
      <a:accent2>
        <a:srgbClr val="ED7D31"/>
      </a:accent2>
      <a:accent3>
        <a:srgbClr val="A3A3A3"/>
      </a:accent3>
      <a:accent4>
        <a:srgbClr val="CF9B00"/>
      </a:accent4>
      <a:accent5>
        <a:srgbClr val="5B9BD5"/>
      </a:accent5>
      <a:accent6>
        <a:srgbClr val="70AD47"/>
      </a:accent6>
      <a:hlink>
        <a:srgbClr val="D26012"/>
      </a:hlink>
      <a:folHlink>
        <a:srgbClr val="9A5879"/>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566</TotalTime>
  <Words>1594</Words>
  <Application>Microsoft Office PowerPoint</Application>
  <PresentationFormat>Widescreen</PresentationFormat>
  <Paragraphs>188</Paragraphs>
  <Slides>31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Arial</vt:lpstr>
      <vt:lpstr>Bembo</vt:lpstr>
      <vt:lpstr>Calibri</vt:lpstr>
      <vt:lpstr>Calibri Light</vt:lpstr>
      <vt:lpstr>Century Schoolbook</vt:lpstr>
      <vt:lpstr>Wingdings</vt:lpstr>
      <vt:lpstr>Office Theme</vt:lpstr>
      <vt:lpstr>AdornVTI</vt:lpstr>
      <vt:lpstr>Résumé &amp;  Cover Letter</vt:lpstr>
      <vt:lpstr>LEARNING OBJECTIVES</vt:lpstr>
      <vt:lpstr>Chapter outline</vt:lpstr>
      <vt:lpstr>  The most important tool you have on a résumé is language.   Jay Samit, digital media innovator   </vt:lpstr>
      <vt:lpstr>1. Résumé</vt:lpstr>
      <vt:lpstr>What is a résumé </vt:lpstr>
      <vt:lpstr>Your Résumé:  Purpose and Contents</vt:lpstr>
      <vt:lpstr>Elements of Your Successful Résumé</vt:lpstr>
      <vt:lpstr>Elements of Your Successful Résumé </vt:lpstr>
      <vt:lpstr>Elements of Your Successful Résumé </vt:lpstr>
      <vt:lpstr>Avoid</vt:lpstr>
      <vt:lpstr>Refining Your Résumé</vt:lpstr>
      <vt:lpstr>Résumé Contents and Structure </vt:lpstr>
      <vt:lpstr>Top Ten Tips for a Successful Résumé</vt:lpstr>
      <vt:lpstr>Caution</vt:lpstr>
      <vt:lpstr>Your Résumé: It’s Like Online Dating</vt:lpstr>
      <vt:lpstr>2. Cover Letter</vt:lpstr>
      <vt:lpstr>Cover letters matter. When you have to go through a pile of them, they are probably more important than the résumé itself.  woodleywonderworks </vt:lpstr>
      <vt:lpstr>A cover letter is... </vt:lpstr>
      <vt:lpstr>Characteristics of an Effective Cover Letter</vt:lpstr>
      <vt:lpstr>Characteristics of an Effective Cover Letter (Cont.)</vt:lpstr>
      <vt:lpstr>Example of student cover letter</vt:lpstr>
      <vt:lpstr>College Graduate Cover Letter Example</vt:lpstr>
      <vt:lpstr>LinkedIn Cover Letter</vt:lpstr>
      <vt:lpstr>An Application Letter Achieves: </vt:lpstr>
      <vt:lpstr>An Application Letter Achieves:</vt:lpstr>
      <vt:lpstr>An Application Letter Achieves:</vt:lpstr>
      <vt:lpstr>Anatomy of a Cover Letter</vt:lpstr>
      <vt:lpstr>Anatomy of a Cover Letter</vt:lpstr>
      <vt:lpstr>Activity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Groups and meetings 22. Persuasive Presentations</dc:title>
  <dc:creator>Admin</dc:creator>
  <cp:lastModifiedBy>Acs Toàn</cp:lastModifiedBy>
  <cp:revision>628</cp:revision>
  <dcterms:created xsi:type="dcterms:W3CDTF">2021-08-31T13:06:13Z</dcterms:created>
  <dcterms:modified xsi:type="dcterms:W3CDTF">2024-06-25T10:17:50Z</dcterms:modified>
</cp:coreProperties>
</file>